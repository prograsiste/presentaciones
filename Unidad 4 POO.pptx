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chivo Narrow" panose="020B0604020202020204" charset="0"/>
      <p:regular r:id="rId16"/>
    </p:embeddedFont>
    <p:embeddedFont>
      <p:font typeface="Archivo Narrow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111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10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53" b="-935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7434748" y="1724995"/>
            <a:ext cx="3945933" cy="3945933"/>
          </a:xfrm>
          <a:custGeom>
            <a:avLst/>
            <a:gdLst/>
            <a:ahLst/>
            <a:cxnLst/>
            <a:rect l="l" t="t" r="r" b="b"/>
            <a:pathLst>
              <a:path w="3945933" h="3945933">
                <a:moveTo>
                  <a:pt x="0" y="0"/>
                </a:moveTo>
                <a:lnTo>
                  <a:pt x="3945932" y="0"/>
                </a:lnTo>
                <a:lnTo>
                  <a:pt x="3945932" y="3945933"/>
                </a:lnTo>
                <a:lnTo>
                  <a:pt x="0" y="394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4" name="Group 4"/>
          <p:cNvGrpSpPr/>
          <p:nvPr/>
        </p:nvGrpSpPr>
        <p:grpSpPr>
          <a:xfrm>
            <a:off x="13758112" y="-4102512"/>
            <a:ext cx="10689723" cy="10262424"/>
            <a:chOff x="0" y="0"/>
            <a:chExt cx="752667" cy="722581"/>
          </a:xfrm>
        </p:grpSpPr>
        <p:sp>
          <p:nvSpPr>
            <p:cNvPr id="5" name="Freeform 5"/>
            <p:cNvSpPr/>
            <p:nvPr/>
          </p:nvSpPr>
          <p:spPr>
            <a:xfrm>
              <a:off x="-575" y="-575"/>
              <a:ext cx="753818" cy="723731"/>
            </a:xfrm>
            <a:custGeom>
              <a:avLst/>
              <a:gdLst/>
              <a:ahLst/>
              <a:cxnLst/>
              <a:rect l="l" t="t" r="r" b="b"/>
              <a:pathLst>
                <a:path w="753818" h="723731">
                  <a:moveTo>
                    <a:pt x="413303" y="2268"/>
                  </a:moveTo>
                  <a:lnTo>
                    <a:pt x="425291" y="58308"/>
                  </a:lnTo>
                  <a:cubicBezTo>
                    <a:pt x="448494" y="61714"/>
                    <a:pt x="471236" y="67554"/>
                    <a:pt x="493103" y="75748"/>
                  </a:cubicBezTo>
                  <a:lnTo>
                    <a:pt x="532670" y="32976"/>
                  </a:lnTo>
                  <a:cubicBezTo>
                    <a:pt x="554811" y="42633"/>
                    <a:pt x="575924" y="54341"/>
                    <a:pt x="595713" y="67910"/>
                  </a:cubicBezTo>
                  <a:lnTo>
                    <a:pt x="576912" y="122200"/>
                  </a:lnTo>
                  <a:cubicBezTo>
                    <a:pt x="595230" y="136288"/>
                    <a:pt x="611877" y="152265"/>
                    <a:pt x="626554" y="169856"/>
                  </a:cubicBezTo>
                  <a:lnTo>
                    <a:pt x="683095" y="151800"/>
                  </a:lnTo>
                  <a:cubicBezTo>
                    <a:pt x="697237" y="170799"/>
                    <a:pt x="709426" y="191071"/>
                    <a:pt x="719494" y="212326"/>
                  </a:cubicBezTo>
                  <a:lnTo>
                    <a:pt x="674940" y="250311"/>
                  </a:lnTo>
                  <a:cubicBezTo>
                    <a:pt x="683467" y="271307"/>
                    <a:pt x="689560" y="293138"/>
                    <a:pt x="693110" y="315407"/>
                  </a:cubicBezTo>
                  <a:lnTo>
                    <a:pt x="751477" y="326924"/>
                  </a:lnTo>
                  <a:cubicBezTo>
                    <a:pt x="753817" y="350163"/>
                    <a:pt x="753817" y="373567"/>
                    <a:pt x="751477" y="396807"/>
                  </a:cubicBezTo>
                  <a:lnTo>
                    <a:pt x="693110" y="408310"/>
                  </a:lnTo>
                  <a:cubicBezTo>
                    <a:pt x="689560" y="430593"/>
                    <a:pt x="683467" y="452423"/>
                    <a:pt x="674940" y="473419"/>
                  </a:cubicBezTo>
                  <a:lnTo>
                    <a:pt x="719494" y="511405"/>
                  </a:lnTo>
                  <a:cubicBezTo>
                    <a:pt x="709426" y="532660"/>
                    <a:pt x="697237" y="552918"/>
                    <a:pt x="683095" y="571917"/>
                  </a:cubicBezTo>
                  <a:lnTo>
                    <a:pt x="626554" y="553875"/>
                  </a:lnTo>
                  <a:cubicBezTo>
                    <a:pt x="611877" y="571452"/>
                    <a:pt x="595230" y="587443"/>
                    <a:pt x="576912" y="601532"/>
                  </a:cubicBezTo>
                  <a:lnTo>
                    <a:pt x="595713" y="655808"/>
                  </a:lnTo>
                  <a:cubicBezTo>
                    <a:pt x="575924" y="669390"/>
                    <a:pt x="554811" y="681084"/>
                    <a:pt x="532670" y="690755"/>
                  </a:cubicBezTo>
                  <a:lnTo>
                    <a:pt x="493103" y="647982"/>
                  </a:lnTo>
                  <a:cubicBezTo>
                    <a:pt x="471236" y="656163"/>
                    <a:pt x="448494" y="662017"/>
                    <a:pt x="425291" y="665423"/>
                  </a:cubicBezTo>
                  <a:lnTo>
                    <a:pt x="413303" y="721463"/>
                  </a:lnTo>
                  <a:cubicBezTo>
                    <a:pt x="389095" y="723731"/>
                    <a:pt x="364717" y="723731"/>
                    <a:pt x="340508" y="721463"/>
                  </a:cubicBezTo>
                  <a:lnTo>
                    <a:pt x="328520" y="665423"/>
                  </a:lnTo>
                  <a:cubicBezTo>
                    <a:pt x="305316" y="662017"/>
                    <a:pt x="282576" y="656163"/>
                    <a:pt x="260707" y="647982"/>
                  </a:cubicBezTo>
                  <a:lnTo>
                    <a:pt x="221132" y="690755"/>
                  </a:lnTo>
                  <a:cubicBezTo>
                    <a:pt x="199005" y="681084"/>
                    <a:pt x="177889" y="669390"/>
                    <a:pt x="158099" y="655808"/>
                  </a:cubicBezTo>
                  <a:lnTo>
                    <a:pt x="176907" y="601532"/>
                  </a:lnTo>
                  <a:cubicBezTo>
                    <a:pt x="158583" y="587443"/>
                    <a:pt x="141927" y="571452"/>
                    <a:pt x="127252" y="553875"/>
                  </a:cubicBezTo>
                  <a:lnTo>
                    <a:pt x="70715" y="571917"/>
                  </a:lnTo>
                  <a:cubicBezTo>
                    <a:pt x="56581" y="552918"/>
                    <a:pt x="44384" y="532660"/>
                    <a:pt x="34311" y="511405"/>
                  </a:cubicBezTo>
                  <a:lnTo>
                    <a:pt x="78865" y="473419"/>
                  </a:lnTo>
                  <a:cubicBezTo>
                    <a:pt x="70345" y="452423"/>
                    <a:pt x="64246" y="430593"/>
                    <a:pt x="60698" y="408310"/>
                  </a:cubicBezTo>
                  <a:lnTo>
                    <a:pt x="2338" y="396807"/>
                  </a:lnTo>
                  <a:cubicBezTo>
                    <a:pt x="0" y="373567"/>
                    <a:pt x="0" y="350163"/>
                    <a:pt x="2338" y="326924"/>
                  </a:cubicBezTo>
                  <a:lnTo>
                    <a:pt x="60698" y="315407"/>
                  </a:lnTo>
                  <a:cubicBezTo>
                    <a:pt x="64246" y="293138"/>
                    <a:pt x="70345" y="271307"/>
                    <a:pt x="78865" y="250311"/>
                  </a:cubicBezTo>
                  <a:lnTo>
                    <a:pt x="34311" y="212326"/>
                  </a:lnTo>
                  <a:cubicBezTo>
                    <a:pt x="44384" y="191071"/>
                    <a:pt x="56581" y="170799"/>
                    <a:pt x="70715" y="151800"/>
                  </a:cubicBezTo>
                  <a:lnTo>
                    <a:pt x="127252" y="169856"/>
                  </a:lnTo>
                  <a:cubicBezTo>
                    <a:pt x="141927" y="152265"/>
                    <a:pt x="158583" y="136288"/>
                    <a:pt x="176907" y="122200"/>
                  </a:cubicBezTo>
                  <a:lnTo>
                    <a:pt x="158099" y="67910"/>
                  </a:lnTo>
                  <a:cubicBezTo>
                    <a:pt x="177889" y="54341"/>
                    <a:pt x="199005" y="42633"/>
                    <a:pt x="221132" y="32976"/>
                  </a:cubicBezTo>
                  <a:lnTo>
                    <a:pt x="260707" y="75748"/>
                  </a:lnTo>
                  <a:cubicBezTo>
                    <a:pt x="282576" y="67554"/>
                    <a:pt x="305316" y="61714"/>
                    <a:pt x="328520" y="58308"/>
                  </a:cubicBezTo>
                  <a:lnTo>
                    <a:pt x="340508" y="2268"/>
                  </a:lnTo>
                  <a:cubicBezTo>
                    <a:pt x="364717" y="0"/>
                    <a:pt x="389095" y="0"/>
                    <a:pt x="413303" y="2268"/>
                  </a:cubicBezTo>
                  <a:close/>
                  <a:moveTo>
                    <a:pt x="376906" y="136070"/>
                  </a:moveTo>
                  <a:cubicBezTo>
                    <a:pt x="247093" y="136070"/>
                    <a:pt x="141713" y="237249"/>
                    <a:pt x="141713" y="361859"/>
                  </a:cubicBezTo>
                  <a:cubicBezTo>
                    <a:pt x="141713" y="486482"/>
                    <a:pt x="247093" y="587661"/>
                    <a:pt x="376906" y="587661"/>
                  </a:cubicBezTo>
                  <a:cubicBezTo>
                    <a:pt x="506714" y="587661"/>
                    <a:pt x="612101" y="486482"/>
                    <a:pt x="612101" y="361859"/>
                  </a:cubicBezTo>
                  <a:cubicBezTo>
                    <a:pt x="612101" y="237249"/>
                    <a:pt x="506714" y="136070"/>
                    <a:pt x="376906" y="136070"/>
                  </a:cubicBezTo>
                  <a:close/>
                </a:path>
              </a:pathLst>
            </a:custGeom>
            <a:solidFill>
              <a:srgbClr val="1800AD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9236" y="95645"/>
              <a:ext cx="454196" cy="483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5400000">
            <a:off x="-132820" y="1701236"/>
            <a:ext cx="5131212" cy="2808172"/>
          </a:xfrm>
          <a:custGeom>
            <a:avLst/>
            <a:gdLst/>
            <a:ahLst/>
            <a:cxnLst/>
            <a:rect l="l" t="t" r="r" b="b"/>
            <a:pathLst>
              <a:path w="5131212" h="2808172">
                <a:moveTo>
                  <a:pt x="0" y="0"/>
                </a:moveTo>
                <a:lnTo>
                  <a:pt x="5131212" y="0"/>
                </a:lnTo>
                <a:lnTo>
                  <a:pt x="5131212" y="2808172"/>
                </a:lnTo>
                <a:lnTo>
                  <a:pt x="0" y="2808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8"/>
          <p:cNvGrpSpPr/>
          <p:nvPr/>
        </p:nvGrpSpPr>
        <p:grpSpPr>
          <a:xfrm rot="5400000">
            <a:off x="15719854" y="8005434"/>
            <a:ext cx="1482905" cy="1297542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36872" y="7554930"/>
            <a:ext cx="9628460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1800AD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Tema 4:  Polimorfismo</a:t>
            </a:r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14422312" y="8005434"/>
            <a:ext cx="1482905" cy="1297542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5400000">
            <a:off x="13124770" y="8005434"/>
            <a:ext cx="1482905" cy="1297542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836872" y="6552899"/>
            <a:ext cx="11975663" cy="107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299">
                <a:solidFill>
                  <a:srgbClr val="1800AD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Instituto Tecnologico de Orizaba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B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405" b="-1340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4737519" y="260409"/>
            <a:ext cx="8812963" cy="2037998"/>
          </a:xfrm>
          <a:custGeom>
            <a:avLst/>
            <a:gdLst/>
            <a:ahLst/>
            <a:cxnLst/>
            <a:rect l="l" t="t" r="r" b="b"/>
            <a:pathLst>
              <a:path w="8812963" h="2037998">
                <a:moveTo>
                  <a:pt x="0" y="0"/>
                </a:moveTo>
                <a:lnTo>
                  <a:pt x="8812962" y="0"/>
                </a:lnTo>
                <a:lnTo>
                  <a:pt x="8812962" y="2037998"/>
                </a:lnTo>
                <a:lnTo>
                  <a:pt x="0" y="2037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3067527" y="4570807"/>
            <a:ext cx="12152946" cy="1021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8"/>
              </a:lnSpc>
            </a:pPr>
            <a:r>
              <a:rPr lang="en-US" sz="5906" b="1">
                <a:solidFill>
                  <a:srgbClr val="1800AD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4.1 Definición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B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3521" y="-21431"/>
            <a:ext cx="18658137" cy="10308431"/>
          </a:xfrm>
          <a:custGeom>
            <a:avLst/>
            <a:gdLst/>
            <a:ahLst/>
            <a:cxnLst/>
            <a:rect l="l" t="t" r="r" b="b"/>
            <a:pathLst>
              <a:path w="18658137" h="10308431">
                <a:moveTo>
                  <a:pt x="0" y="0"/>
                </a:moveTo>
                <a:lnTo>
                  <a:pt x="18658137" y="0"/>
                </a:lnTo>
                <a:lnTo>
                  <a:pt x="18658137" y="10308431"/>
                </a:lnTo>
                <a:lnTo>
                  <a:pt x="0" y="10308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5" b="-90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2136499" y="3713321"/>
            <a:ext cx="5715946" cy="3602043"/>
          </a:xfrm>
          <a:custGeom>
            <a:avLst/>
            <a:gdLst/>
            <a:ahLst/>
            <a:cxnLst/>
            <a:rect l="l" t="t" r="r" b="b"/>
            <a:pathLst>
              <a:path w="5715946" h="3602043">
                <a:moveTo>
                  <a:pt x="0" y="0"/>
                </a:moveTo>
                <a:lnTo>
                  <a:pt x="5715946" y="0"/>
                </a:lnTo>
                <a:lnTo>
                  <a:pt x="5715946" y="3602043"/>
                </a:lnTo>
                <a:lnTo>
                  <a:pt x="0" y="3602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868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8069341" y="2980376"/>
            <a:ext cx="8122991" cy="555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El polimorfismo es uno de los pilares fundamentales de la Programación Orientada a Objetos (POO), junto con la herencia, el encapsulamiento y la abstracción. El término proviene del griego y significa “muchas formas”. En programación, el polimorfismo permite que una misma referencia pueda comportarse de distintas maneras según el tipo real del objeto que representa.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25328" y="1906073"/>
            <a:ext cx="3611017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Polimorfismo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B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405" b="-1340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4737519" y="260409"/>
            <a:ext cx="8812963" cy="2037998"/>
          </a:xfrm>
          <a:custGeom>
            <a:avLst/>
            <a:gdLst/>
            <a:ahLst/>
            <a:cxnLst/>
            <a:rect l="l" t="t" r="r" b="b"/>
            <a:pathLst>
              <a:path w="8812963" h="2037998">
                <a:moveTo>
                  <a:pt x="0" y="0"/>
                </a:moveTo>
                <a:lnTo>
                  <a:pt x="8812962" y="0"/>
                </a:lnTo>
                <a:lnTo>
                  <a:pt x="8812962" y="2037998"/>
                </a:lnTo>
                <a:lnTo>
                  <a:pt x="0" y="2037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3067527" y="4046932"/>
            <a:ext cx="12152946" cy="2069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8"/>
              </a:lnSpc>
            </a:pPr>
            <a:r>
              <a:rPr lang="en-US" sz="5906" b="1">
                <a:solidFill>
                  <a:srgbClr val="1800AD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4.2 Clases abstractas: definición, métodos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B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3521" y="-21431"/>
            <a:ext cx="18658137" cy="10308431"/>
          </a:xfrm>
          <a:custGeom>
            <a:avLst/>
            <a:gdLst/>
            <a:ahLst/>
            <a:cxnLst/>
            <a:rect l="l" t="t" r="r" b="b"/>
            <a:pathLst>
              <a:path w="18658137" h="10308431">
                <a:moveTo>
                  <a:pt x="0" y="0"/>
                </a:moveTo>
                <a:lnTo>
                  <a:pt x="18658137" y="0"/>
                </a:lnTo>
                <a:lnTo>
                  <a:pt x="18658137" y="10308431"/>
                </a:lnTo>
                <a:lnTo>
                  <a:pt x="0" y="10308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5" b="-90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2368078" y="2980376"/>
            <a:ext cx="13824254" cy="308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Una clase abstracta es una clase que no puede instanciarse directamente, sino que sirve como modelo o plantilla para otras clases.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Estas clases pueden contener métodos abstractos (sin cuerpo) que las clases hijas deben implementar, y también métodos concretos (con cuerpo) que pueden reutilizarse.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42410" y="1257300"/>
            <a:ext cx="4003179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Clase abstracta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B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CBD41ED-9EEE-D589-6B81-5E33A828E6B7}"/>
              </a:ext>
            </a:extLst>
          </p:cNvPr>
          <p:cNvSpPr/>
          <p:nvPr/>
        </p:nvSpPr>
        <p:spPr>
          <a:xfrm>
            <a:off x="-163521" y="-21431"/>
            <a:ext cx="18658137" cy="10308431"/>
          </a:xfrm>
          <a:custGeom>
            <a:avLst/>
            <a:gdLst/>
            <a:ahLst/>
            <a:cxnLst/>
            <a:rect l="l" t="t" r="r" b="b"/>
            <a:pathLst>
              <a:path w="18658137" h="10308431">
                <a:moveTo>
                  <a:pt x="0" y="0"/>
                </a:moveTo>
                <a:lnTo>
                  <a:pt x="18658137" y="0"/>
                </a:lnTo>
                <a:lnTo>
                  <a:pt x="18658137" y="10308431"/>
                </a:lnTo>
                <a:lnTo>
                  <a:pt x="0" y="10308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5" b="-90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77AD86-A06D-8E5C-AB8D-6B852DF22ADD}"/>
              </a:ext>
            </a:extLst>
          </p:cNvPr>
          <p:cNvSpPr txBox="1"/>
          <p:nvPr/>
        </p:nvSpPr>
        <p:spPr>
          <a:xfrm>
            <a:off x="3429000" y="419100"/>
            <a:ext cx="5181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>
                <a:latin typeface="Archivo Narrow" panose="020B0604020202020204" charset="0"/>
              </a:rPr>
              <a:t>Clases abstractas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6806526-53F4-B130-F70F-F5ED2EA0E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536" y="2213997"/>
            <a:ext cx="7280127" cy="5859006"/>
          </a:xfrm>
          <a:prstGeom prst="rect">
            <a:avLst/>
          </a:prstGeom>
        </p:spPr>
      </p:pic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F86DF633-4CD9-AE49-FBBD-875D535A61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77" t="16327" r="30874" b="16452"/>
          <a:stretch>
            <a:fillRect/>
          </a:stretch>
        </p:blipFill>
        <p:spPr>
          <a:xfrm>
            <a:off x="12278540" y="6700372"/>
            <a:ext cx="990049" cy="966096"/>
          </a:xfrm>
          <a:prstGeom prst="ellipse">
            <a:avLst/>
          </a:prstGeom>
        </p:spPr>
      </p:pic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6555CB48-754B-05E9-780F-62B1479AFC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77" t="16327" r="30874" b="16452"/>
          <a:stretch>
            <a:fillRect/>
          </a:stretch>
        </p:blipFill>
        <p:spPr>
          <a:xfrm>
            <a:off x="12278541" y="4660452"/>
            <a:ext cx="990049" cy="966096"/>
          </a:xfrm>
          <a:prstGeom prst="ellipse">
            <a:avLst/>
          </a:prstGeom>
        </p:spPr>
      </p:pic>
      <p:pic>
        <p:nvPicPr>
          <p:cNvPr id="9" name="Imagen 8" descr="Icono&#10;&#10;El contenido generado por IA puede ser incorrecto.">
            <a:extLst>
              <a:ext uri="{FF2B5EF4-FFF2-40B4-BE49-F238E27FC236}">
                <a16:creationId xmlns:a16="http://schemas.microsoft.com/office/drawing/2014/main" id="{6D82488D-F17F-6637-BDFA-80031D3F68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77" t="16327" r="30874" b="16452"/>
          <a:stretch>
            <a:fillRect/>
          </a:stretch>
        </p:blipFill>
        <p:spPr>
          <a:xfrm>
            <a:off x="12250663" y="2620532"/>
            <a:ext cx="990049" cy="966096"/>
          </a:xfrm>
          <a:prstGeom prst="ellipse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FF1A349-50D8-0E13-70F8-4528C5A1A1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220" y="3096248"/>
            <a:ext cx="8839209" cy="2721871"/>
          </a:xfrm>
          <a:prstGeom prst="rect">
            <a:avLst/>
          </a:prstGeom>
        </p:spPr>
      </p:pic>
      <p:pic>
        <p:nvPicPr>
          <p:cNvPr id="10" name="Picture 6" descr="X png cruzar png transparente antecedentes 38341441 PNG">
            <a:extLst>
              <a:ext uri="{FF2B5EF4-FFF2-40B4-BE49-F238E27FC236}">
                <a16:creationId xmlns:a16="http://schemas.microsoft.com/office/drawing/2014/main" id="{3355273D-E59D-20CB-5319-ECA000FA1F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2" t="12307" r="12449" b="12307"/>
          <a:stretch>
            <a:fillRect/>
          </a:stretch>
        </p:blipFill>
        <p:spPr bwMode="auto">
          <a:xfrm>
            <a:off x="13247055" y="2710059"/>
            <a:ext cx="980417" cy="97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42B7BAE-29C4-2620-ABD1-45DA1EE731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8542" y="1915021"/>
            <a:ext cx="10798438" cy="5859006"/>
          </a:xfrm>
          <a:prstGeom prst="rect">
            <a:avLst/>
          </a:prstGeom>
        </p:spPr>
      </p:pic>
      <p:pic>
        <p:nvPicPr>
          <p:cNvPr id="13" name="Picture 6" descr="X png cruzar png transparente antecedentes 38341441 PNG">
            <a:extLst>
              <a:ext uri="{FF2B5EF4-FFF2-40B4-BE49-F238E27FC236}">
                <a16:creationId xmlns:a16="http://schemas.microsoft.com/office/drawing/2014/main" id="{A2EE372F-91D6-1B01-AA13-A045BFCF9C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2" t="12307" r="12449" b="12307"/>
          <a:stretch>
            <a:fillRect/>
          </a:stretch>
        </p:blipFill>
        <p:spPr bwMode="auto">
          <a:xfrm>
            <a:off x="13788042" y="1534667"/>
            <a:ext cx="980417" cy="97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560805C-7DCE-39CC-DF19-2602C53964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4161" y="899358"/>
            <a:ext cx="12676799" cy="7522188"/>
          </a:xfrm>
          <a:prstGeom prst="rect">
            <a:avLst/>
          </a:prstGeom>
        </p:spPr>
      </p:pic>
      <p:pic>
        <p:nvPicPr>
          <p:cNvPr id="14" name="Picture 6" descr="X png cruzar png transparente antecedentes 38341441 PNG">
            <a:extLst>
              <a:ext uri="{FF2B5EF4-FFF2-40B4-BE49-F238E27FC236}">
                <a16:creationId xmlns:a16="http://schemas.microsoft.com/office/drawing/2014/main" id="{D2D9FEBD-2610-0FE3-659A-C48F6ADF00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2" t="12307" r="12449" b="12307"/>
          <a:stretch>
            <a:fillRect/>
          </a:stretch>
        </p:blipFill>
        <p:spPr bwMode="auto">
          <a:xfrm>
            <a:off x="14814481" y="647042"/>
            <a:ext cx="980417" cy="97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B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405" b="-1340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4737519" y="260409"/>
            <a:ext cx="8812963" cy="2037998"/>
          </a:xfrm>
          <a:custGeom>
            <a:avLst/>
            <a:gdLst/>
            <a:ahLst/>
            <a:cxnLst/>
            <a:rect l="l" t="t" r="r" b="b"/>
            <a:pathLst>
              <a:path w="8812963" h="2037998">
                <a:moveTo>
                  <a:pt x="0" y="0"/>
                </a:moveTo>
                <a:lnTo>
                  <a:pt x="8812962" y="0"/>
                </a:lnTo>
                <a:lnTo>
                  <a:pt x="8812962" y="2037998"/>
                </a:lnTo>
                <a:lnTo>
                  <a:pt x="0" y="2037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2850631" y="3835124"/>
            <a:ext cx="12152946" cy="3117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8"/>
              </a:lnSpc>
            </a:pPr>
            <a:r>
              <a:rPr lang="en-US" sz="5906" b="1">
                <a:solidFill>
                  <a:srgbClr val="1800AD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4.3 Interfaces: definición, implementación de interfaces, herencia de interfaces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B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3521" y="-21431"/>
            <a:ext cx="18658137" cy="10308431"/>
          </a:xfrm>
          <a:custGeom>
            <a:avLst/>
            <a:gdLst/>
            <a:ahLst/>
            <a:cxnLst/>
            <a:rect l="l" t="t" r="r" b="b"/>
            <a:pathLst>
              <a:path w="18658137" h="10308431">
                <a:moveTo>
                  <a:pt x="0" y="0"/>
                </a:moveTo>
                <a:lnTo>
                  <a:pt x="18658137" y="0"/>
                </a:lnTo>
                <a:lnTo>
                  <a:pt x="18658137" y="10308431"/>
                </a:lnTo>
                <a:lnTo>
                  <a:pt x="0" y="10308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5" b="-90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5189246" y="5444176"/>
            <a:ext cx="7909509" cy="4114159"/>
          </a:xfrm>
          <a:custGeom>
            <a:avLst/>
            <a:gdLst/>
            <a:ahLst/>
            <a:cxnLst/>
            <a:rect l="l" t="t" r="r" b="b"/>
            <a:pathLst>
              <a:path w="7909509" h="4114159">
                <a:moveTo>
                  <a:pt x="0" y="0"/>
                </a:moveTo>
                <a:lnTo>
                  <a:pt x="7909508" y="0"/>
                </a:lnTo>
                <a:lnTo>
                  <a:pt x="7909508" y="4114159"/>
                </a:lnTo>
                <a:lnTo>
                  <a:pt x="0" y="4114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2138762" y="2980376"/>
            <a:ext cx="14053570" cy="246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Una interfaz es una estructura que define un conjunto de métodos abstractos (y a partir de Java 8, también métodos por defecto o estáticos).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Las interfaces no contienen estado, solo comportamientos que las clases que las implementan deben cumplir.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2400" y="1625002"/>
            <a:ext cx="2650777" cy="906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Interfaces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B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C63058E-3B97-FCE9-B3C0-9F377FFF8709}"/>
              </a:ext>
            </a:extLst>
          </p:cNvPr>
          <p:cNvSpPr/>
          <p:nvPr/>
        </p:nvSpPr>
        <p:spPr>
          <a:xfrm>
            <a:off x="-163521" y="-21431"/>
            <a:ext cx="18658137" cy="10308431"/>
          </a:xfrm>
          <a:custGeom>
            <a:avLst/>
            <a:gdLst/>
            <a:ahLst/>
            <a:cxnLst/>
            <a:rect l="l" t="t" r="r" b="b"/>
            <a:pathLst>
              <a:path w="18658137" h="10308431">
                <a:moveTo>
                  <a:pt x="0" y="0"/>
                </a:moveTo>
                <a:lnTo>
                  <a:pt x="18658137" y="0"/>
                </a:lnTo>
                <a:lnTo>
                  <a:pt x="18658137" y="10308431"/>
                </a:lnTo>
                <a:lnTo>
                  <a:pt x="0" y="10308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5" b="-905"/>
            </a:stretch>
          </a:blipFill>
        </p:spPr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272E5F-ECD5-1379-4100-DE60AC623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381" y="2512521"/>
            <a:ext cx="7861238" cy="5261958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FEE20E35-0992-787D-7DBD-D73E78F8EC29}"/>
              </a:ext>
            </a:extLst>
          </p:cNvPr>
          <p:cNvSpPr txBox="1"/>
          <p:nvPr/>
        </p:nvSpPr>
        <p:spPr>
          <a:xfrm>
            <a:off x="6570537" y="1230489"/>
            <a:ext cx="5146923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Interfaces</a:t>
            </a:r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36668E73-B935-E52D-6C71-B9202BFABC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77" t="16327" r="30874" b="16452"/>
          <a:stretch>
            <a:fillRect/>
          </a:stretch>
        </p:blipFill>
        <p:spPr>
          <a:xfrm>
            <a:off x="12084570" y="3390900"/>
            <a:ext cx="990049" cy="966096"/>
          </a:xfrm>
          <a:prstGeom prst="ellipse">
            <a:avLst/>
          </a:prstGeom>
        </p:spPr>
      </p:pic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330C5E8B-8FC7-511F-174B-546646FC9B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77" t="16327" r="30874" b="16452"/>
          <a:stretch>
            <a:fillRect/>
          </a:stretch>
        </p:blipFill>
        <p:spPr>
          <a:xfrm>
            <a:off x="12084570" y="6134100"/>
            <a:ext cx="990049" cy="966096"/>
          </a:xfrm>
          <a:prstGeom prst="ellipse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7C19643-DAD8-CF44-77A5-A81E79B1E8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6411" y="2173222"/>
            <a:ext cx="10878071" cy="6454855"/>
          </a:xfrm>
          <a:prstGeom prst="rect">
            <a:avLst/>
          </a:prstGeom>
        </p:spPr>
      </p:pic>
      <p:pic>
        <p:nvPicPr>
          <p:cNvPr id="9" name="Picture 6" descr="X png cruzar png transparente antecedentes 38341441 PNG">
            <a:extLst>
              <a:ext uri="{FF2B5EF4-FFF2-40B4-BE49-F238E27FC236}">
                <a16:creationId xmlns:a16="http://schemas.microsoft.com/office/drawing/2014/main" id="{34593FBA-2135-1594-F7C2-4993614A31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2" t="12307" r="12449" b="12307"/>
          <a:stretch>
            <a:fillRect/>
          </a:stretch>
        </p:blipFill>
        <p:spPr bwMode="auto">
          <a:xfrm>
            <a:off x="13540750" y="2136634"/>
            <a:ext cx="980417" cy="97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EAD6ECF-223B-4891-28EA-CD69E9232A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9010" y="2181226"/>
            <a:ext cx="10825472" cy="6423643"/>
          </a:xfrm>
          <a:prstGeom prst="rect">
            <a:avLst/>
          </a:prstGeom>
        </p:spPr>
      </p:pic>
      <p:pic>
        <p:nvPicPr>
          <p:cNvPr id="10" name="Picture 6" descr="X png cruzar png transparente antecedentes 38341441 PNG">
            <a:extLst>
              <a:ext uri="{FF2B5EF4-FFF2-40B4-BE49-F238E27FC236}">
                <a16:creationId xmlns:a16="http://schemas.microsoft.com/office/drawing/2014/main" id="{85CA7582-7008-884C-8A73-9CDAC38BE1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2" t="12307" r="12449" b="12307"/>
          <a:stretch>
            <a:fillRect/>
          </a:stretch>
        </p:blipFill>
        <p:spPr bwMode="auto">
          <a:xfrm>
            <a:off x="13540750" y="2116214"/>
            <a:ext cx="980417" cy="97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B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405" b="-1340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4737519" y="260409"/>
            <a:ext cx="8812963" cy="2037998"/>
          </a:xfrm>
          <a:custGeom>
            <a:avLst/>
            <a:gdLst/>
            <a:ahLst/>
            <a:cxnLst/>
            <a:rect l="l" t="t" r="r" b="b"/>
            <a:pathLst>
              <a:path w="8812963" h="2037998">
                <a:moveTo>
                  <a:pt x="0" y="0"/>
                </a:moveTo>
                <a:lnTo>
                  <a:pt x="8812962" y="0"/>
                </a:lnTo>
                <a:lnTo>
                  <a:pt x="8812962" y="2037998"/>
                </a:lnTo>
                <a:lnTo>
                  <a:pt x="0" y="2037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3067527" y="4046932"/>
            <a:ext cx="12152946" cy="2069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8"/>
              </a:lnSpc>
            </a:pPr>
            <a:r>
              <a:rPr lang="en-US" sz="5906" b="1">
                <a:solidFill>
                  <a:srgbClr val="1800AD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4.4 Variables polimórficas (plantillas): definición, uso y aplicaciones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B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3521" y="-21431"/>
            <a:ext cx="18658137" cy="10308431"/>
          </a:xfrm>
          <a:custGeom>
            <a:avLst/>
            <a:gdLst/>
            <a:ahLst/>
            <a:cxnLst/>
            <a:rect l="l" t="t" r="r" b="b"/>
            <a:pathLst>
              <a:path w="18658137" h="10308431">
                <a:moveTo>
                  <a:pt x="0" y="0"/>
                </a:moveTo>
                <a:lnTo>
                  <a:pt x="18658137" y="0"/>
                </a:lnTo>
                <a:lnTo>
                  <a:pt x="18658137" y="10308431"/>
                </a:lnTo>
                <a:lnTo>
                  <a:pt x="0" y="10308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5" b="-90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5379325" y="5574006"/>
            <a:ext cx="7529349" cy="4235259"/>
          </a:xfrm>
          <a:custGeom>
            <a:avLst/>
            <a:gdLst/>
            <a:ahLst/>
            <a:cxnLst/>
            <a:rect l="l" t="t" r="r" b="b"/>
            <a:pathLst>
              <a:path w="7529349" h="4235259">
                <a:moveTo>
                  <a:pt x="0" y="0"/>
                </a:moveTo>
                <a:lnTo>
                  <a:pt x="7529350" y="0"/>
                </a:lnTo>
                <a:lnTo>
                  <a:pt x="7529350" y="4235259"/>
                </a:lnTo>
                <a:lnTo>
                  <a:pt x="0" y="42352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2138762" y="2980376"/>
            <a:ext cx="14053570" cy="308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Una variable polimórfica es aquella que puede referirse a objetos de diferentes clases que comparten una misma jerarquía. Esto permite escribir código genérico y reutilizable. En Java, este comportamiento se extiende con el uso de genéricos (plantillas), que permiten definir clases o métodos independientes del tipo de dato.</a:t>
            </a:r>
          </a:p>
          <a:p>
            <a:pPr algn="just">
              <a:lnSpc>
                <a:spcPts val="4899"/>
              </a:lnSpc>
            </a:pPr>
            <a:endParaRPr lang="en-US" sz="3499">
              <a:solidFill>
                <a:srgbClr val="000000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570537" y="1230489"/>
            <a:ext cx="5146923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Variable </a:t>
            </a:r>
            <a:r>
              <a:rPr lang="en-US" sz="5199" b="1" dirty="0" err="1">
                <a:solidFill>
                  <a:srgbClr val="00000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polimórfica</a:t>
            </a:r>
            <a:endParaRPr lang="en-US" sz="5199" b="1" dirty="0">
              <a:solidFill>
                <a:srgbClr val="000000"/>
              </a:solidFill>
              <a:latin typeface="Archivo Narrow Bold"/>
              <a:ea typeface="Archivo Narrow Bold"/>
              <a:cs typeface="Archivo Narrow Bold"/>
              <a:sym typeface="Archivo Narrow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B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405" b="-1340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4737519" y="260409"/>
            <a:ext cx="8812963" cy="2037998"/>
          </a:xfrm>
          <a:custGeom>
            <a:avLst/>
            <a:gdLst/>
            <a:ahLst/>
            <a:cxnLst/>
            <a:rect l="l" t="t" r="r" b="b"/>
            <a:pathLst>
              <a:path w="8812963" h="2037998">
                <a:moveTo>
                  <a:pt x="0" y="0"/>
                </a:moveTo>
                <a:lnTo>
                  <a:pt x="8812962" y="0"/>
                </a:lnTo>
                <a:lnTo>
                  <a:pt x="8812962" y="2037998"/>
                </a:lnTo>
                <a:lnTo>
                  <a:pt x="0" y="2037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3067527" y="4121939"/>
            <a:ext cx="12152946" cy="1021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8"/>
              </a:lnSpc>
            </a:pPr>
            <a:r>
              <a:rPr lang="en-US" sz="5906" b="1">
                <a:solidFill>
                  <a:srgbClr val="1800AD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4.5 Reutilización de código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B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3521" y="-21431"/>
            <a:ext cx="18658137" cy="10308431"/>
          </a:xfrm>
          <a:custGeom>
            <a:avLst/>
            <a:gdLst/>
            <a:ahLst/>
            <a:cxnLst/>
            <a:rect l="l" t="t" r="r" b="b"/>
            <a:pathLst>
              <a:path w="18658137" h="10308431">
                <a:moveTo>
                  <a:pt x="0" y="0"/>
                </a:moveTo>
                <a:lnTo>
                  <a:pt x="18658137" y="0"/>
                </a:lnTo>
                <a:lnTo>
                  <a:pt x="18658137" y="10308431"/>
                </a:lnTo>
                <a:lnTo>
                  <a:pt x="0" y="10308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5" b="-90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2138762" y="2980376"/>
            <a:ext cx="14053570" cy="184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La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reutilización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de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código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es un principio fundamental del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desarrollo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de software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orientado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a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objetos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que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busca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aprovechar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componentes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ya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existentes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(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clases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,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métodos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, interfaces,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librerías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) para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evitar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escribir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código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repetido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y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reducir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errores</a:t>
            </a:r>
            <a:r>
              <a:rPr lang="en-US" sz="3499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70538" y="1181100"/>
            <a:ext cx="5146923" cy="183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400" dirty="0" err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Reutilizacion</a:t>
            </a:r>
            <a:r>
              <a:rPr lang="en-US" sz="5400" dirty="0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de Código</a:t>
            </a:r>
            <a:endParaRPr lang="en-US" sz="5199" b="1" dirty="0">
              <a:solidFill>
                <a:srgbClr val="000000"/>
              </a:solidFill>
              <a:latin typeface="Archivo Narrow Bold"/>
              <a:ea typeface="Archivo Narrow Bold"/>
              <a:cs typeface="Archivo Narrow Bold"/>
              <a:sym typeface="Archivo Narrow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B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405" b="-1340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4737519" y="260409"/>
            <a:ext cx="8812963" cy="2037998"/>
          </a:xfrm>
          <a:custGeom>
            <a:avLst/>
            <a:gdLst/>
            <a:ahLst/>
            <a:cxnLst/>
            <a:rect l="l" t="t" r="r" b="b"/>
            <a:pathLst>
              <a:path w="8812963" h="2037998">
                <a:moveTo>
                  <a:pt x="0" y="0"/>
                </a:moveTo>
                <a:lnTo>
                  <a:pt x="8812962" y="0"/>
                </a:lnTo>
                <a:lnTo>
                  <a:pt x="8812962" y="2037998"/>
                </a:lnTo>
                <a:lnTo>
                  <a:pt x="0" y="2037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6805806" y="4678647"/>
            <a:ext cx="3994713" cy="3442831"/>
          </a:xfrm>
          <a:custGeom>
            <a:avLst/>
            <a:gdLst/>
            <a:ahLst/>
            <a:cxnLst/>
            <a:rect l="l" t="t" r="r" b="b"/>
            <a:pathLst>
              <a:path w="3994713" h="3442831">
                <a:moveTo>
                  <a:pt x="0" y="0"/>
                </a:moveTo>
                <a:lnTo>
                  <a:pt x="3994713" y="0"/>
                </a:lnTo>
                <a:lnTo>
                  <a:pt x="3994713" y="3442831"/>
                </a:lnTo>
                <a:lnTo>
                  <a:pt x="0" y="34428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029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3820026" y="2146007"/>
            <a:ext cx="9966275" cy="121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>
                <a:solidFill>
                  <a:srgbClr val="1800AD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Planteamiento de Problemas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312</Words>
  <Application>Microsoft Office PowerPoint</Application>
  <PresentationFormat>Personalizado</PresentationFormat>
  <Paragraphs>22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Calibri</vt:lpstr>
      <vt:lpstr>Arial</vt:lpstr>
      <vt:lpstr>Archivo Narrow</vt:lpstr>
      <vt:lpstr>Archivo Narrow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4 POO</dc:title>
  <cp:lastModifiedBy>a16576</cp:lastModifiedBy>
  <cp:revision>2</cp:revision>
  <dcterms:created xsi:type="dcterms:W3CDTF">2006-08-16T00:00:00Z</dcterms:created>
  <dcterms:modified xsi:type="dcterms:W3CDTF">2025-11-13T18:07:38Z</dcterms:modified>
  <dc:identifier>DAG3yr8Xkfw</dc:identifier>
</cp:coreProperties>
</file>