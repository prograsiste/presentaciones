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9" r:id="rId8"/>
    <p:sldId id="262" r:id="rId9"/>
    <p:sldId id="263" r:id="rId10"/>
    <p:sldId id="264" r:id="rId11"/>
    <p:sldId id="265" r:id="rId12"/>
    <p:sldId id="266" r:id="rId13"/>
    <p:sldId id="267" r:id="rId14"/>
    <p:sldId id="268" r:id="rId15"/>
  </p:sldIdLst>
  <p:sldSz cx="18288000" cy="10287000"/>
  <p:notesSz cx="6858000" cy="9144000"/>
  <p:embeddedFontLst>
    <p:embeddedFont>
      <p:font typeface="Archivo Narrow" panose="020B0604020202020204" charset="0"/>
      <p:regular r:id="rId16"/>
    </p:embeddedFont>
    <p:embeddedFont>
      <p:font typeface="Archivo Narrow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3969" autoAdjust="0"/>
  </p:normalViewPr>
  <p:slideViewPr>
    <p:cSldViewPr>
      <p:cViewPr>
        <p:scale>
          <a:sx n="50" d="100"/>
          <a:sy n="50" d="100"/>
        </p:scale>
        <p:origin x="51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gif"/><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0.gif"/><Relationship Id="rId7" Type="http://schemas.openxmlformats.org/officeDocument/2006/relationships/image" Target="../media/image20.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0.gif"/><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53" b="-9353"/>
            </a:stretch>
          </a:blipFill>
        </p:spPr>
        <p:txBody>
          <a:bodyPr/>
          <a:lstStyle/>
          <a:p>
            <a:endParaRPr lang="es-MX"/>
          </a:p>
        </p:txBody>
      </p:sp>
      <p:sp>
        <p:nvSpPr>
          <p:cNvPr id="3" name="Freeform 3"/>
          <p:cNvSpPr/>
          <p:nvPr/>
        </p:nvSpPr>
        <p:spPr>
          <a:xfrm>
            <a:off x="7434748" y="1724995"/>
            <a:ext cx="3945933" cy="3945933"/>
          </a:xfrm>
          <a:custGeom>
            <a:avLst/>
            <a:gdLst/>
            <a:ahLst/>
            <a:cxnLst/>
            <a:rect l="l" t="t" r="r" b="b"/>
            <a:pathLst>
              <a:path w="3945933" h="3945933">
                <a:moveTo>
                  <a:pt x="0" y="0"/>
                </a:moveTo>
                <a:lnTo>
                  <a:pt x="3945932" y="0"/>
                </a:lnTo>
                <a:lnTo>
                  <a:pt x="3945932" y="3945933"/>
                </a:lnTo>
                <a:lnTo>
                  <a:pt x="0" y="3945933"/>
                </a:lnTo>
                <a:lnTo>
                  <a:pt x="0" y="0"/>
                </a:lnTo>
                <a:close/>
              </a:path>
            </a:pathLst>
          </a:custGeom>
          <a:blipFill>
            <a:blip r:embed="rId3"/>
            <a:stretch>
              <a:fillRect/>
            </a:stretch>
          </a:blipFill>
        </p:spPr>
        <p:txBody>
          <a:bodyPr/>
          <a:lstStyle/>
          <a:p>
            <a:endParaRPr lang="es-MX"/>
          </a:p>
        </p:txBody>
      </p:sp>
      <p:grpSp>
        <p:nvGrpSpPr>
          <p:cNvPr id="4" name="Group 4"/>
          <p:cNvGrpSpPr/>
          <p:nvPr/>
        </p:nvGrpSpPr>
        <p:grpSpPr>
          <a:xfrm>
            <a:off x="13758112" y="-4102512"/>
            <a:ext cx="10689723" cy="10262424"/>
            <a:chOff x="0" y="0"/>
            <a:chExt cx="752667" cy="722581"/>
          </a:xfrm>
        </p:grpSpPr>
        <p:sp>
          <p:nvSpPr>
            <p:cNvPr id="5" name="Freeform 5"/>
            <p:cNvSpPr/>
            <p:nvPr/>
          </p:nvSpPr>
          <p:spPr>
            <a:xfrm>
              <a:off x="-575" y="-575"/>
              <a:ext cx="753818" cy="723731"/>
            </a:xfrm>
            <a:custGeom>
              <a:avLst/>
              <a:gdLst/>
              <a:ahLst/>
              <a:cxnLst/>
              <a:rect l="l" t="t" r="r" b="b"/>
              <a:pathLst>
                <a:path w="753818" h="723731">
                  <a:moveTo>
                    <a:pt x="413303" y="2268"/>
                  </a:moveTo>
                  <a:lnTo>
                    <a:pt x="425291" y="58308"/>
                  </a:lnTo>
                  <a:cubicBezTo>
                    <a:pt x="448494" y="61714"/>
                    <a:pt x="471236" y="67554"/>
                    <a:pt x="493103" y="75748"/>
                  </a:cubicBezTo>
                  <a:lnTo>
                    <a:pt x="532670" y="32976"/>
                  </a:lnTo>
                  <a:cubicBezTo>
                    <a:pt x="554811" y="42633"/>
                    <a:pt x="575924" y="54341"/>
                    <a:pt x="595713" y="67910"/>
                  </a:cubicBezTo>
                  <a:lnTo>
                    <a:pt x="576912" y="122200"/>
                  </a:lnTo>
                  <a:cubicBezTo>
                    <a:pt x="595230" y="136288"/>
                    <a:pt x="611877" y="152265"/>
                    <a:pt x="626554" y="169856"/>
                  </a:cubicBezTo>
                  <a:lnTo>
                    <a:pt x="683095" y="151800"/>
                  </a:lnTo>
                  <a:cubicBezTo>
                    <a:pt x="697237" y="170799"/>
                    <a:pt x="709426" y="191071"/>
                    <a:pt x="719494" y="212326"/>
                  </a:cubicBezTo>
                  <a:lnTo>
                    <a:pt x="674940" y="250311"/>
                  </a:lnTo>
                  <a:cubicBezTo>
                    <a:pt x="683467" y="271307"/>
                    <a:pt x="689560" y="293138"/>
                    <a:pt x="693110" y="315407"/>
                  </a:cubicBezTo>
                  <a:lnTo>
                    <a:pt x="751477" y="326924"/>
                  </a:lnTo>
                  <a:cubicBezTo>
                    <a:pt x="753817" y="350163"/>
                    <a:pt x="753817" y="373567"/>
                    <a:pt x="751477" y="396807"/>
                  </a:cubicBezTo>
                  <a:lnTo>
                    <a:pt x="693110" y="408310"/>
                  </a:lnTo>
                  <a:cubicBezTo>
                    <a:pt x="689560" y="430593"/>
                    <a:pt x="683467" y="452423"/>
                    <a:pt x="674940" y="473419"/>
                  </a:cubicBezTo>
                  <a:lnTo>
                    <a:pt x="719494" y="511405"/>
                  </a:lnTo>
                  <a:cubicBezTo>
                    <a:pt x="709426" y="532660"/>
                    <a:pt x="697237" y="552918"/>
                    <a:pt x="683095" y="571917"/>
                  </a:cubicBezTo>
                  <a:lnTo>
                    <a:pt x="626554" y="553875"/>
                  </a:lnTo>
                  <a:cubicBezTo>
                    <a:pt x="611877" y="571452"/>
                    <a:pt x="595230" y="587443"/>
                    <a:pt x="576912" y="601532"/>
                  </a:cubicBezTo>
                  <a:lnTo>
                    <a:pt x="595713" y="655808"/>
                  </a:lnTo>
                  <a:cubicBezTo>
                    <a:pt x="575924" y="669390"/>
                    <a:pt x="554811" y="681084"/>
                    <a:pt x="532670" y="690755"/>
                  </a:cubicBezTo>
                  <a:lnTo>
                    <a:pt x="493103" y="647982"/>
                  </a:lnTo>
                  <a:cubicBezTo>
                    <a:pt x="471236" y="656163"/>
                    <a:pt x="448494" y="662017"/>
                    <a:pt x="425291" y="665423"/>
                  </a:cubicBezTo>
                  <a:lnTo>
                    <a:pt x="413303" y="721463"/>
                  </a:lnTo>
                  <a:cubicBezTo>
                    <a:pt x="389095" y="723731"/>
                    <a:pt x="364717" y="723731"/>
                    <a:pt x="340508" y="721463"/>
                  </a:cubicBezTo>
                  <a:lnTo>
                    <a:pt x="328520" y="665423"/>
                  </a:lnTo>
                  <a:cubicBezTo>
                    <a:pt x="305316" y="662017"/>
                    <a:pt x="282576" y="656163"/>
                    <a:pt x="260707" y="647982"/>
                  </a:cubicBezTo>
                  <a:lnTo>
                    <a:pt x="221132" y="690755"/>
                  </a:lnTo>
                  <a:cubicBezTo>
                    <a:pt x="199005" y="681084"/>
                    <a:pt x="177889" y="669390"/>
                    <a:pt x="158099" y="655808"/>
                  </a:cubicBezTo>
                  <a:lnTo>
                    <a:pt x="176907" y="601532"/>
                  </a:lnTo>
                  <a:cubicBezTo>
                    <a:pt x="158583" y="587443"/>
                    <a:pt x="141927" y="571452"/>
                    <a:pt x="127252" y="553875"/>
                  </a:cubicBezTo>
                  <a:lnTo>
                    <a:pt x="70715" y="571917"/>
                  </a:lnTo>
                  <a:cubicBezTo>
                    <a:pt x="56581" y="552918"/>
                    <a:pt x="44384" y="532660"/>
                    <a:pt x="34311" y="511405"/>
                  </a:cubicBezTo>
                  <a:lnTo>
                    <a:pt x="78865" y="473419"/>
                  </a:lnTo>
                  <a:cubicBezTo>
                    <a:pt x="70345" y="452423"/>
                    <a:pt x="64246" y="430593"/>
                    <a:pt x="60698" y="408310"/>
                  </a:cubicBezTo>
                  <a:lnTo>
                    <a:pt x="2338" y="396807"/>
                  </a:lnTo>
                  <a:cubicBezTo>
                    <a:pt x="0" y="373567"/>
                    <a:pt x="0" y="350163"/>
                    <a:pt x="2338" y="326924"/>
                  </a:cubicBezTo>
                  <a:lnTo>
                    <a:pt x="60698" y="315407"/>
                  </a:lnTo>
                  <a:cubicBezTo>
                    <a:pt x="64246" y="293138"/>
                    <a:pt x="70345" y="271307"/>
                    <a:pt x="78865" y="250311"/>
                  </a:cubicBezTo>
                  <a:lnTo>
                    <a:pt x="34311" y="212326"/>
                  </a:lnTo>
                  <a:cubicBezTo>
                    <a:pt x="44384" y="191071"/>
                    <a:pt x="56581" y="170799"/>
                    <a:pt x="70715" y="151800"/>
                  </a:cubicBezTo>
                  <a:lnTo>
                    <a:pt x="127252" y="169856"/>
                  </a:lnTo>
                  <a:cubicBezTo>
                    <a:pt x="141927" y="152265"/>
                    <a:pt x="158583" y="136288"/>
                    <a:pt x="176907" y="122200"/>
                  </a:cubicBezTo>
                  <a:lnTo>
                    <a:pt x="158099" y="67910"/>
                  </a:lnTo>
                  <a:cubicBezTo>
                    <a:pt x="177889" y="54341"/>
                    <a:pt x="199005" y="42633"/>
                    <a:pt x="221132" y="32976"/>
                  </a:cubicBezTo>
                  <a:lnTo>
                    <a:pt x="260707" y="75748"/>
                  </a:lnTo>
                  <a:cubicBezTo>
                    <a:pt x="282576" y="67554"/>
                    <a:pt x="305316" y="61714"/>
                    <a:pt x="328520" y="58308"/>
                  </a:cubicBezTo>
                  <a:lnTo>
                    <a:pt x="340508" y="2268"/>
                  </a:lnTo>
                  <a:cubicBezTo>
                    <a:pt x="364717" y="0"/>
                    <a:pt x="389095" y="0"/>
                    <a:pt x="413303" y="2268"/>
                  </a:cubicBezTo>
                  <a:close/>
                  <a:moveTo>
                    <a:pt x="376906" y="136070"/>
                  </a:moveTo>
                  <a:cubicBezTo>
                    <a:pt x="247093" y="136070"/>
                    <a:pt x="141713" y="237249"/>
                    <a:pt x="141713" y="361859"/>
                  </a:cubicBezTo>
                  <a:cubicBezTo>
                    <a:pt x="141713" y="486482"/>
                    <a:pt x="247093" y="587661"/>
                    <a:pt x="376906" y="587661"/>
                  </a:cubicBezTo>
                  <a:cubicBezTo>
                    <a:pt x="506714" y="587661"/>
                    <a:pt x="612101" y="486482"/>
                    <a:pt x="612101" y="361859"/>
                  </a:cubicBezTo>
                  <a:cubicBezTo>
                    <a:pt x="612101" y="237249"/>
                    <a:pt x="506714" y="136070"/>
                    <a:pt x="376906" y="136070"/>
                  </a:cubicBezTo>
                  <a:close/>
                </a:path>
              </a:pathLst>
            </a:custGeom>
            <a:solidFill>
              <a:srgbClr val="1800AD"/>
            </a:solidFill>
          </p:spPr>
          <p:txBody>
            <a:bodyPr/>
            <a:lstStyle/>
            <a:p>
              <a:endParaRPr lang="es-MX"/>
            </a:p>
          </p:txBody>
        </p:sp>
        <p:sp>
          <p:nvSpPr>
            <p:cNvPr id="6" name="TextBox 6"/>
            <p:cNvSpPr txBox="1"/>
            <p:nvPr/>
          </p:nvSpPr>
          <p:spPr>
            <a:xfrm>
              <a:off x="149236" y="95645"/>
              <a:ext cx="454196" cy="48366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rot="5400000">
            <a:off x="-132820" y="1701236"/>
            <a:ext cx="5131212" cy="2808172"/>
          </a:xfrm>
          <a:custGeom>
            <a:avLst/>
            <a:gdLst/>
            <a:ahLst/>
            <a:cxnLst/>
            <a:rect l="l" t="t" r="r" b="b"/>
            <a:pathLst>
              <a:path w="5131212" h="2808172">
                <a:moveTo>
                  <a:pt x="0" y="0"/>
                </a:moveTo>
                <a:lnTo>
                  <a:pt x="5131212" y="0"/>
                </a:lnTo>
                <a:lnTo>
                  <a:pt x="5131212" y="2808172"/>
                </a:lnTo>
                <a:lnTo>
                  <a:pt x="0" y="28081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a:p>
        </p:txBody>
      </p:sp>
      <p:grpSp>
        <p:nvGrpSpPr>
          <p:cNvPr id="8" name="Group 8"/>
          <p:cNvGrpSpPr/>
          <p:nvPr/>
        </p:nvGrpSpPr>
        <p:grpSpPr>
          <a:xfrm rot="5400000">
            <a:off x="15719854" y="8005434"/>
            <a:ext cx="1482905" cy="1297542"/>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800AD"/>
            </a:solidFill>
          </p:spPr>
          <p:txBody>
            <a:bodyPr/>
            <a:lstStyle/>
            <a:p>
              <a:endParaRPr lang="es-MX"/>
            </a:p>
          </p:txBody>
        </p:sp>
        <p:sp>
          <p:nvSpPr>
            <p:cNvPr id="10" name="TextBox 10"/>
            <p:cNvSpPr txBox="1"/>
            <p:nvPr/>
          </p:nvSpPr>
          <p:spPr>
            <a:xfrm>
              <a:off x="127000" y="282575"/>
              <a:ext cx="558800" cy="3778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3836872" y="7554930"/>
            <a:ext cx="9628460" cy="639445"/>
          </a:xfrm>
          <a:prstGeom prst="rect">
            <a:avLst/>
          </a:prstGeom>
        </p:spPr>
        <p:txBody>
          <a:bodyPr lIns="0" tIns="0" rIns="0" bIns="0" rtlCol="0" anchor="t">
            <a:spAutoFit/>
          </a:bodyPr>
          <a:lstStyle/>
          <a:p>
            <a:pPr algn="l">
              <a:lnSpc>
                <a:spcPts val="5179"/>
              </a:lnSpc>
            </a:pPr>
            <a:r>
              <a:rPr lang="en-US" sz="3699">
                <a:solidFill>
                  <a:srgbClr val="1800AD"/>
                </a:solidFill>
                <a:latin typeface="Archivo Narrow"/>
                <a:ea typeface="Archivo Narrow"/>
                <a:cs typeface="Archivo Narrow"/>
                <a:sym typeface="Archivo Narrow"/>
              </a:rPr>
              <a:t>Tema 5:  Excepciones</a:t>
            </a:r>
          </a:p>
        </p:txBody>
      </p:sp>
      <p:grpSp>
        <p:nvGrpSpPr>
          <p:cNvPr id="12" name="Group 12"/>
          <p:cNvGrpSpPr/>
          <p:nvPr/>
        </p:nvGrpSpPr>
        <p:grpSpPr>
          <a:xfrm rot="5400000">
            <a:off x="14422312" y="8005434"/>
            <a:ext cx="1482905" cy="1297542"/>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800AD"/>
            </a:solidFill>
          </p:spPr>
          <p:txBody>
            <a:bodyPr/>
            <a:lstStyle/>
            <a:p>
              <a:endParaRPr lang="es-MX"/>
            </a:p>
          </p:txBody>
        </p:sp>
        <p:sp>
          <p:nvSpPr>
            <p:cNvPr id="14" name="TextBox 14"/>
            <p:cNvSpPr txBox="1"/>
            <p:nvPr/>
          </p:nvSpPr>
          <p:spPr>
            <a:xfrm>
              <a:off x="127000" y="282575"/>
              <a:ext cx="558800" cy="3778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5400000">
            <a:off x="13124770" y="8005434"/>
            <a:ext cx="1482905" cy="1297542"/>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800AD"/>
            </a:solidFill>
          </p:spPr>
          <p:txBody>
            <a:bodyPr/>
            <a:lstStyle/>
            <a:p>
              <a:endParaRPr lang="es-MX"/>
            </a:p>
          </p:txBody>
        </p:sp>
        <p:sp>
          <p:nvSpPr>
            <p:cNvPr id="17" name="TextBox 17"/>
            <p:cNvSpPr txBox="1"/>
            <p:nvPr/>
          </p:nvSpPr>
          <p:spPr>
            <a:xfrm>
              <a:off x="127000" y="282575"/>
              <a:ext cx="558800" cy="377825"/>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3836872" y="6552899"/>
            <a:ext cx="11975663" cy="1078231"/>
          </a:xfrm>
          <a:prstGeom prst="rect">
            <a:avLst/>
          </a:prstGeom>
        </p:spPr>
        <p:txBody>
          <a:bodyPr lIns="0" tIns="0" rIns="0" bIns="0" rtlCol="0" anchor="t">
            <a:spAutoFit/>
          </a:bodyPr>
          <a:lstStyle/>
          <a:p>
            <a:pPr algn="l">
              <a:lnSpc>
                <a:spcPts val="8819"/>
              </a:lnSpc>
            </a:pPr>
            <a:r>
              <a:rPr lang="en-US" sz="6299">
                <a:solidFill>
                  <a:srgbClr val="1800AD"/>
                </a:solidFill>
                <a:latin typeface="Archivo Narrow"/>
                <a:ea typeface="Archivo Narrow"/>
                <a:cs typeface="Archivo Narrow"/>
                <a:sym typeface="Archivo Narrow"/>
              </a:rPr>
              <a:t>Instituto Tecnologico de Orizaba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67527" y="4570807"/>
            <a:ext cx="12152946" cy="1021561"/>
          </a:xfrm>
          <a:prstGeom prst="rect">
            <a:avLst/>
          </a:prstGeom>
        </p:spPr>
        <p:txBody>
          <a:bodyPr lIns="0" tIns="0" rIns="0" bIns="0" rtlCol="0" anchor="t">
            <a:spAutoFit/>
          </a:bodyPr>
          <a:lstStyle/>
          <a:p>
            <a:pPr algn="ctr">
              <a:lnSpc>
                <a:spcPts val="8268"/>
              </a:lnSpc>
            </a:pPr>
            <a:r>
              <a:rPr lang="en-US" sz="5906" b="1">
                <a:solidFill>
                  <a:srgbClr val="1800AD"/>
                </a:solidFill>
                <a:latin typeface="Archivo Narrow Bold"/>
                <a:ea typeface="Archivo Narrow Bold"/>
                <a:cs typeface="Archivo Narrow Bold"/>
                <a:sym typeface="Archivo Narrow Bold"/>
              </a:rPr>
              <a:t>5.1 Definición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Freeform 3"/>
          <p:cNvSpPr/>
          <p:nvPr/>
        </p:nvSpPr>
        <p:spPr>
          <a:xfrm>
            <a:off x="1959485" y="3565382"/>
            <a:ext cx="5335228" cy="3334517"/>
          </a:xfrm>
          <a:custGeom>
            <a:avLst/>
            <a:gdLst/>
            <a:ahLst/>
            <a:cxnLst/>
            <a:rect l="l" t="t" r="r" b="b"/>
            <a:pathLst>
              <a:path w="5335228" h="3334517">
                <a:moveTo>
                  <a:pt x="0" y="0"/>
                </a:moveTo>
                <a:lnTo>
                  <a:pt x="5335228" y="0"/>
                </a:lnTo>
                <a:lnTo>
                  <a:pt x="5335228" y="3334517"/>
                </a:lnTo>
                <a:lnTo>
                  <a:pt x="0" y="3334517"/>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7945400" y="4171179"/>
            <a:ext cx="8122991" cy="3082925"/>
          </a:xfrm>
          <a:prstGeom prst="rect">
            <a:avLst/>
          </a:prstGeom>
        </p:spPr>
        <p:txBody>
          <a:bodyPr lIns="0" tIns="0" rIns="0" bIns="0" rtlCol="0" anchor="t">
            <a:spAutoFit/>
          </a:bodyPr>
          <a:lstStyle/>
          <a:p>
            <a:pPr algn="just">
              <a:lnSpc>
                <a:spcPts val="4899"/>
              </a:lnSpc>
            </a:pPr>
            <a:r>
              <a:rPr lang="en-US" sz="3499">
                <a:solidFill>
                  <a:srgbClr val="000000"/>
                </a:solidFill>
                <a:latin typeface="Archivo Narrow"/>
                <a:ea typeface="Archivo Narrow"/>
                <a:cs typeface="Archivo Narrow"/>
                <a:sym typeface="Archivo Narrow"/>
              </a:rPr>
              <a:t>Una excepción es un evento que interrumpe el flujo normal de ejecución de un programa cuando ocurre una situación anómala o inesperada.</a:t>
            </a:r>
          </a:p>
          <a:p>
            <a:pPr algn="just">
              <a:lnSpc>
                <a:spcPts val="4899"/>
              </a:lnSpc>
            </a:pPr>
            <a:r>
              <a:rPr lang="en-US" sz="3499">
                <a:solidFill>
                  <a:srgbClr val="000000"/>
                </a:solidFill>
                <a:latin typeface="Archivo Narrow"/>
                <a:ea typeface="Archivo Narrow"/>
                <a:cs typeface="Archivo Narrow"/>
                <a:sym typeface="Archivo Narrow"/>
              </a:rPr>
              <a:t> En Java, las excepciones son objetos que heredan de la clase base Throwable.</a:t>
            </a:r>
          </a:p>
        </p:txBody>
      </p:sp>
      <p:sp>
        <p:nvSpPr>
          <p:cNvPr id="5" name="TextBox 5"/>
          <p:cNvSpPr txBox="1"/>
          <p:nvPr/>
        </p:nvSpPr>
        <p:spPr>
          <a:xfrm>
            <a:off x="10577104" y="3096876"/>
            <a:ext cx="2859584" cy="906145"/>
          </a:xfrm>
          <a:prstGeom prst="rect">
            <a:avLst/>
          </a:prstGeom>
        </p:spPr>
        <p:txBody>
          <a:bodyPr lIns="0" tIns="0" rIns="0" bIns="0" rtlCol="0" anchor="t">
            <a:spAutoFit/>
          </a:bodyPr>
          <a:lstStyle/>
          <a:p>
            <a:pPr algn="ctr">
              <a:lnSpc>
                <a:spcPts val="7279"/>
              </a:lnSpc>
            </a:pPr>
            <a:r>
              <a:rPr lang="en-US" sz="5199" b="1">
                <a:solidFill>
                  <a:srgbClr val="000000"/>
                </a:solidFill>
                <a:latin typeface="Archivo Narrow Bold"/>
                <a:ea typeface="Archivo Narrow Bold"/>
                <a:cs typeface="Archivo Narrow Bold"/>
                <a:sym typeface="Archivo Narrow Bold"/>
              </a:rPr>
              <a:t>Excepción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67527" y="4356783"/>
            <a:ext cx="12152946" cy="1021561"/>
          </a:xfrm>
          <a:prstGeom prst="rect">
            <a:avLst/>
          </a:prstGeom>
        </p:spPr>
        <p:txBody>
          <a:bodyPr lIns="0" tIns="0" rIns="0" bIns="0" rtlCol="0" anchor="t">
            <a:spAutoFit/>
          </a:bodyPr>
          <a:lstStyle/>
          <a:p>
            <a:pPr algn="ctr">
              <a:lnSpc>
                <a:spcPts val="8268"/>
              </a:lnSpc>
            </a:pPr>
            <a:r>
              <a:rPr lang="en-US" sz="5906" b="1">
                <a:solidFill>
                  <a:srgbClr val="1800AD"/>
                </a:solidFill>
                <a:latin typeface="Archivo Narrow Bold"/>
                <a:ea typeface="Archivo Narrow Bold"/>
                <a:cs typeface="Archivo Narrow Bold"/>
                <a:sym typeface="Archivo Narrow Bold"/>
              </a:rPr>
              <a:t>5.2 Tipos de excepciones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TextBox 3"/>
          <p:cNvSpPr txBox="1"/>
          <p:nvPr/>
        </p:nvSpPr>
        <p:spPr>
          <a:xfrm>
            <a:off x="2368078" y="2980376"/>
            <a:ext cx="13824254" cy="3082925"/>
          </a:xfrm>
          <a:prstGeom prst="rect">
            <a:avLst/>
          </a:prstGeom>
        </p:spPr>
        <p:txBody>
          <a:bodyPr lIns="0" tIns="0" rIns="0" bIns="0" rtlCol="0" anchor="t">
            <a:spAutoFit/>
          </a:bodyPr>
          <a:lstStyle/>
          <a:p>
            <a:pPr algn="just">
              <a:lnSpc>
                <a:spcPts val="4899"/>
              </a:lnSpc>
            </a:pPr>
            <a:r>
              <a:rPr lang="en-US" sz="3499" dirty="0">
                <a:solidFill>
                  <a:srgbClr val="000000"/>
                </a:solidFill>
                <a:latin typeface="Archivo Narrow"/>
                <a:ea typeface="Archivo Narrow"/>
                <a:cs typeface="Archivo Narrow"/>
                <a:sym typeface="Archivo Narrow"/>
              </a:rPr>
              <a:t>Los </a:t>
            </a:r>
            <a:r>
              <a:rPr lang="en-US" sz="3499" dirty="0" err="1">
                <a:solidFill>
                  <a:srgbClr val="000000"/>
                </a:solidFill>
                <a:latin typeface="Archivo Narrow"/>
                <a:ea typeface="Archivo Narrow"/>
                <a:cs typeface="Archivo Narrow"/>
                <a:sym typeface="Archivo Narrow"/>
              </a:rPr>
              <a:t>errores</a:t>
            </a:r>
            <a:r>
              <a:rPr lang="en-US" sz="3499" dirty="0">
                <a:solidFill>
                  <a:srgbClr val="000000"/>
                </a:solidFill>
                <a:latin typeface="Archivo Narrow"/>
                <a:ea typeface="Archivo Narrow"/>
                <a:cs typeface="Archivo Narrow"/>
                <a:sym typeface="Archivo Narrow"/>
              </a:rPr>
              <a:t> del </a:t>
            </a:r>
            <a:r>
              <a:rPr lang="en-US" sz="3499" dirty="0" err="1">
                <a:solidFill>
                  <a:srgbClr val="000000"/>
                </a:solidFill>
                <a:latin typeface="Archivo Narrow"/>
                <a:ea typeface="Archivo Narrow"/>
                <a:cs typeface="Archivo Narrow"/>
                <a:sym typeface="Archivo Narrow"/>
              </a:rPr>
              <a:t>sistema</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en</a:t>
            </a:r>
            <a:r>
              <a:rPr lang="en-US" sz="3499" dirty="0">
                <a:solidFill>
                  <a:srgbClr val="000000"/>
                </a:solidFill>
                <a:latin typeface="Archivo Narrow"/>
                <a:ea typeface="Archivo Narrow"/>
                <a:cs typeface="Archivo Narrow"/>
                <a:sym typeface="Archivo Narrow"/>
              </a:rPr>
              <a:t> Java son </a:t>
            </a:r>
            <a:r>
              <a:rPr lang="en-US" sz="3499" dirty="0" err="1">
                <a:solidFill>
                  <a:srgbClr val="000000"/>
                </a:solidFill>
                <a:latin typeface="Archivo Narrow"/>
                <a:ea typeface="Archivo Narrow"/>
                <a:cs typeface="Archivo Narrow"/>
                <a:sym typeface="Archivo Narrow"/>
              </a:rPr>
              <a:t>condiciones</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inesperadas</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que</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provocan</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que</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el</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programa</a:t>
            </a:r>
            <a:r>
              <a:rPr lang="en-US" sz="3499" dirty="0">
                <a:solidFill>
                  <a:srgbClr val="000000"/>
                </a:solidFill>
                <a:latin typeface="Archivo Narrow"/>
                <a:ea typeface="Archivo Narrow"/>
                <a:cs typeface="Archivo Narrow"/>
                <a:sym typeface="Archivo Narrow"/>
              </a:rPr>
              <a:t> se </a:t>
            </a:r>
            <a:r>
              <a:rPr lang="en-US" sz="3499" dirty="0" err="1">
                <a:solidFill>
                  <a:srgbClr val="000000"/>
                </a:solidFill>
                <a:latin typeface="Archivo Narrow"/>
                <a:ea typeface="Archivo Narrow"/>
                <a:cs typeface="Archivo Narrow"/>
                <a:sym typeface="Archivo Narrow"/>
              </a:rPr>
              <a:t>cierre</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Generalmente</a:t>
            </a:r>
            <a:r>
              <a:rPr lang="en-US" sz="3499" dirty="0">
                <a:solidFill>
                  <a:srgbClr val="000000"/>
                </a:solidFill>
                <a:latin typeface="Archivo Narrow"/>
                <a:ea typeface="Archivo Narrow"/>
                <a:cs typeface="Archivo Narrow"/>
                <a:sym typeface="Archivo Narrow"/>
              </a:rPr>
              <a:t>, se </a:t>
            </a:r>
            <a:r>
              <a:rPr lang="en-US" sz="3499" dirty="0" err="1">
                <a:solidFill>
                  <a:srgbClr val="000000"/>
                </a:solidFill>
                <a:latin typeface="Archivo Narrow"/>
                <a:ea typeface="Archivo Narrow"/>
                <a:cs typeface="Archivo Narrow"/>
                <a:sym typeface="Archivo Narrow"/>
              </a:rPr>
              <a:t>dividen</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en</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errores</a:t>
            </a:r>
            <a:r>
              <a:rPr lang="en-US" sz="3499" dirty="0">
                <a:solidFill>
                  <a:srgbClr val="000000"/>
                </a:solidFill>
                <a:latin typeface="Archivo Narrow"/>
                <a:ea typeface="Archivo Narrow"/>
                <a:cs typeface="Archivo Narrow"/>
                <a:sym typeface="Archivo Narrow"/>
              </a:rPr>
              <a:t> de </a:t>
            </a:r>
            <a:r>
              <a:rPr lang="en-US" sz="3499" dirty="0" err="1">
                <a:solidFill>
                  <a:srgbClr val="000000"/>
                </a:solidFill>
                <a:latin typeface="Archivo Narrow"/>
                <a:ea typeface="Archivo Narrow"/>
                <a:cs typeface="Archivo Narrow"/>
                <a:sym typeface="Archivo Narrow"/>
              </a:rPr>
              <a:t>sintaxis</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que</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impiden</a:t>
            </a:r>
            <a:r>
              <a:rPr lang="en-US" sz="3499" dirty="0">
                <a:solidFill>
                  <a:srgbClr val="000000"/>
                </a:solidFill>
                <a:latin typeface="Archivo Narrow"/>
                <a:ea typeface="Archivo Narrow"/>
                <a:cs typeface="Archivo Narrow"/>
                <a:sym typeface="Archivo Narrow"/>
              </a:rPr>
              <a:t> la </a:t>
            </a:r>
            <a:r>
              <a:rPr lang="en-US" sz="3499" dirty="0" err="1">
                <a:solidFill>
                  <a:srgbClr val="000000"/>
                </a:solidFill>
                <a:latin typeface="Archivo Narrow"/>
                <a:ea typeface="Archivo Narrow"/>
                <a:cs typeface="Archivo Narrow"/>
                <a:sym typeface="Archivo Narrow"/>
              </a:rPr>
              <a:t>compilación</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ej</a:t>
            </a:r>
            <a:r>
              <a:rPr lang="en-US" sz="3499" dirty="0">
                <a:solidFill>
                  <a:srgbClr val="000000"/>
                </a:solidFill>
                <a:latin typeface="Archivo Narrow"/>
                <a:ea typeface="Archivo Narrow"/>
                <a:cs typeface="Archivo Narrow"/>
                <a:sym typeface="Archivo Narrow"/>
              </a:rPr>
              <a:t>. punto y coma </a:t>
            </a:r>
            <a:r>
              <a:rPr lang="en-US" sz="3499" dirty="0" err="1">
                <a:solidFill>
                  <a:srgbClr val="000000"/>
                </a:solidFill>
                <a:latin typeface="Archivo Narrow"/>
                <a:ea typeface="Archivo Narrow"/>
                <a:cs typeface="Archivo Narrow"/>
                <a:sym typeface="Archivo Narrow"/>
              </a:rPr>
              <a:t>faltante</a:t>
            </a:r>
            <a:r>
              <a:rPr lang="en-US" sz="3499" dirty="0">
                <a:solidFill>
                  <a:srgbClr val="000000"/>
                </a:solidFill>
                <a:latin typeface="Archivo Narrow"/>
                <a:ea typeface="Archivo Narrow"/>
                <a:cs typeface="Archivo Narrow"/>
                <a:sym typeface="Archivo Narrow"/>
              </a:rPr>
              <a:t>), y </a:t>
            </a:r>
            <a:r>
              <a:rPr lang="en-US" sz="3499" dirty="0" err="1">
                <a:solidFill>
                  <a:srgbClr val="000000"/>
                </a:solidFill>
                <a:latin typeface="Archivo Narrow"/>
                <a:ea typeface="Archivo Narrow"/>
                <a:cs typeface="Archivo Narrow"/>
                <a:sym typeface="Archivo Narrow"/>
              </a:rPr>
              <a:t>errores</a:t>
            </a:r>
            <a:r>
              <a:rPr lang="en-US" sz="3499" dirty="0">
                <a:solidFill>
                  <a:srgbClr val="000000"/>
                </a:solidFill>
                <a:latin typeface="Archivo Narrow"/>
                <a:ea typeface="Archivo Narrow"/>
                <a:cs typeface="Archivo Narrow"/>
                <a:sym typeface="Archivo Narrow"/>
              </a:rPr>
              <a:t> de </a:t>
            </a:r>
            <a:r>
              <a:rPr lang="en-US" sz="3499" dirty="0" err="1">
                <a:solidFill>
                  <a:srgbClr val="000000"/>
                </a:solidFill>
                <a:latin typeface="Archivo Narrow"/>
                <a:ea typeface="Archivo Narrow"/>
                <a:cs typeface="Archivo Narrow"/>
                <a:sym typeface="Archivo Narrow"/>
              </a:rPr>
              <a:t>ejecución</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que</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ocurren</a:t>
            </a:r>
            <a:r>
              <a:rPr lang="en-US" sz="3499" dirty="0">
                <a:solidFill>
                  <a:srgbClr val="000000"/>
                </a:solidFill>
                <a:latin typeface="Archivo Narrow"/>
                <a:ea typeface="Archivo Narrow"/>
                <a:cs typeface="Archivo Narrow"/>
                <a:sym typeface="Archivo Narrow"/>
              </a:rPr>
              <a:t> al </a:t>
            </a:r>
            <a:r>
              <a:rPr lang="en-US" sz="3499" dirty="0" err="1">
                <a:solidFill>
                  <a:srgbClr val="000000"/>
                </a:solidFill>
                <a:latin typeface="Archivo Narrow"/>
                <a:ea typeface="Archivo Narrow"/>
                <a:cs typeface="Archivo Narrow"/>
                <a:sym typeface="Archivo Narrow"/>
              </a:rPr>
              <a:t>correr</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el</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programa</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ej</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división</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por</a:t>
            </a:r>
            <a:r>
              <a:rPr lang="en-US" sz="3499" dirty="0">
                <a:solidFill>
                  <a:srgbClr val="000000"/>
                </a:solidFill>
                <a:latin typeface="Archivo Narrow"/>
                <a:ea typeface="Archivo Narrow"/>
                <a:cs typeface="Archivo Narrow"/>
                <a:sym typeface="Archivo Narrow"/>
              </a:rPr>
              <a:t> cero, </a:t>
            </a:r>
            <a:r>
              <a:rPr lang="en-US" sz="3499" dirty="0" err="1">
                <a:solidFill>
                  <a:srgbClr val="000000"/>
                </a:solidFill>
                <a:latin typeface="Archivo Narrow"/>
                <a:ea typeface="Archivo Narrow"/>
                <a:cs typeface="Archivo Narrow"/>
                <a:sym typeface="Archivo Narrow"/>
              </a:rPr>
              <a:t>acceso</a:t>
            </a:r>
            <a:r>
              <a:rPr lang="en-US" sz="3499" dirty="0">
                <a:solidFill>
                  <a:srgbClr val="000000"/>
                </a:solidFill>
                <a:latin typeface="Archivo Narrow"/>
                <a:ea typeface="Archivo Narrow"/>
                <a:cs typeface="Archivo Narrow"/>
                <a:sym typeface="Archivo Narrow"/>
              </a:rPr>
              <a:t> a un </a:t>
            </a:r>
            <a:r>
              <a:rPr lang="en-US" sz="3499" dirty="0" err="1">
                <a:solidFill>
                  <a:srgbClr val="000000"/>
                </a:solidFill>
                <a:latin typeface="Archivo Narrow"/>
                <a:ea typeface="Archivo Narrow"/>
                <a:cs typeface="Archivo Narrow"/>
                <a:sym typeface="Archivo Narrow"/>
              </a:rPr>
              <a:t>índice</a:t>
            </a:r>
            <a:r>
              <a:rPr lang="en-US" sz="3499" dirty="0">
                <a:solidFill>
                  <a:srgbClr val="000000"/>
                </a:solidFill>
                <a:latin typeface="Archivo Narrow"/>
                <a:ea typeface="Archivo Narrow"/>
                <a:cs typeface="Archivo Narrow"/>
                <a:sym typeface="Archivo Narrow"/>
              </a:rPr>
              <a:t> fuera de </a:t>
            </a:r>
            <a:r>
              <a:rPr lang="en-US" sz="3499" dirty="0" err="1">
                <a:solidFill>
                  <a:srgbClr val="000000"/>
                </a:solidFill>
                <a:latin typeface="Archivo Narrow"/>
                <a:ea typeface="Archivo Narrow"/>
                <a:cs typeface="Archivo Narrow"/>
                <a:sym typeface="Archivo Narrow"/>
              </a:rPr>
              <a:t>rango</a:t>
            </a:r>
            <a:r>
              <a:rPr lang="en-US" sz="3499" dirty="0">
                <a:solidFill>
                  <a:srgbClr val="000000"/>
                </a:solidFill>
                <a:latin typeface="Archivo Narrow"/>
                <a:ea typeface="Archivo Narrow"/>
                <a:cs typeface="Archivo Narrow"/>
                <a:sym typeface="Archivo Narrow"/>
              </a:rPr>
              <a:t>). Un </a:t>
            </a:r>
            <a:r>
              <a:rPr lang="en-US" sz="3499" dirty="0" err="1">
                <a:solidFill>
                  <a:srgbClr val="000000"/>
                </a:solidFill>
                <a:latin typeface="Archivo Narrow"/>
                <a:ea typeface="Archivo Narrow"/>
                <a:cs typeface="Archivo Narrow"/>
                <a:sym typeface="Archivo Narrow"/>
              </a:rPr>
              <a:t>tercer</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tipo</a:t>
            </a:r>
            <a:r>
              <a:rPr lang="en-US" sz="3499" dirty="0">
                <a:solidFill>
                  <a:srgbClr val="000000"/>
                </a:solidFill>
                <a:latin typeface="Archivo Narrow"/>
                <a:ea typeface="Archivo Narrow"/>
                <a:cs typeface="Archivo Narrow"/>
                <a:sym typeface="Archivo Narrow"/>
              </a:rPr>
              <a:t> es </a:t>
            </a:r>
            <a:r>
              <a:rPr lang="en-US" sz="3499" dirty="0" err="1">
                <a:solidFill>
                  <a:srgbClr val="000000"/>
                </a:solidFill>
                <a:latin typeface="Archivo Narrow"/>
                <a:ea typeface="Archivo Narrow"/>
                <a:cs typeface="Archivo Narrow"/>
                <a:sym typeface="Archivo Narrow"/>
              </a:rPr>
              <a:t>el</a:t>
            </a:r>
            <a:r>
              <a:rPr lang="en-US" sz="3499" dirty="0">
                <a:solidFill>
                  <a:srgbClr val="000000"/>
                </a:solidFill>
                <a:latin typeface="Archivo Narrow"/>
                <a:ea typeface="Archivo Narrow"/>
                <a:cs typeface="Archivo Narrow"/>
                <a:sym typeface="Archivo Narrow"/>
              </a:rPr>
              <a:t> error </a:t>
            </a:r>
            <a:r>
              <a:rPr lang="en-US" sz="3499" dirty="0" err="1">
                <a:solidFill>
                  <a:srgbClr val="000000"/>
                </a:solidFill>
                <a:latin typeface="Archivo Narrow"/>
                <a:ea typeface="Archivo Narrow"/>
                <a:cs typeface="Archivo Narrow"/>
                <a:sym typeface="Archivo Narrow"/>
              </a:rPr>
              <a:t>lógico</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donde</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el</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programa</a:t>
            </a:r>
            <a:r>
              <a:rPr lang="en-US" sz="3499" dirty="0">
                <a:solidFill>
                  <a:srgbClr val="000000"/>
                </a:solidFill>
                <a:latin typeface="Archivo Narrow"/>
                <a:ea typeface="Archivo Narrow"/>
                <a:cs typeface="Archivo Narrow"/>
                <a:sym typeface="Archivo Narrow"/>
              </a:rPr>
              <a:t> se </a:t>
            </a:r>
            <a:r>
              <a:rPr lang="en-US" sz="3499" dirty="0" err="1">
                <a:solidFill>
                  <a:srgbClr val="000000"/>
                </a:solidFill>
                <a:latin typeface="Archivo Narrow"/>
                <a:ea typeface="Archivo Narrow"/>
                <a:cs typeface="Archivo Narrow"/>
                <a:sym typeface="Archivo Narrow"/>
              </a:rPr>
              <a:t>ejecuta</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pero</a:t>
            </a:r>
            <a:r>
              <a:rPr lang="en-US" sz="3499" dirty="0">
                <a:solidFill>
                  <a:srgbClr val="000000"/>
                </a:solidFill>
                <a:latin typeface="Archivo Narrow"/>
                <a:ea typeface="Archivo Narrow"/>
                <a:cs typeface="Archivo Narrow"/>
                <a:sym typeface="Archivo Narrow"/>
              </a:rPr>
              <a:t> no da </a:t>
            </a:r>
            <a:r>
              <a:rPr lang="en-US" sz="3499" dirty="0" err="1">
                <a:solidFill>
                  <a:srgbClr val="000000"/>
                </a:solidFill>
                <a:latin typeface="Archivo Narrow"/>
                <a:ea typeface="Archivo Narrow"/>
                <a:cs typeface="Archivo Narrow"/>
                <a:sym typeface="Archivo Narrow"/>
              </a:rPr>
              <a:t>el</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resultado</a:t>
            </a:r>
            <a:r>
              <a:rPr lang="en-US" sz="3499" dirty="0">
                <a:solidFill>
                  <a:srgbClr val="000000"/>
                </a:solidFill>
                <a:latin typeface="Archivo Narrow"/>
                <a:ea typeface="Archivo Narrow"/>
                <a:cs typeface="Archivo Narrow"/>
                <a:sym typeface="Archivo Narrow"/>
              </a:rPr>
              <a:t> </a:t>
            </a:r>
            <a:r>
              <a:rPr lang="en-US" sz="3499" dirty="0" err="1">
                <a:solidFill>
                  <a:srgbClr val="000000"/>
                </a:solidFill>
                <a:latin typeface="Archivo Narrow"/>
                <a:ea typeface="Archivo Narrow"/>
                <a:cs typeface="Archivo Narrow"/>
                <a:sym typeface="Archivo Narrow"/>
              </a:rPr>
              <a:t>esperado</a:t>
            </a:r>
            <a:r>
              <a:rPr lang="en-US" sz="3499" dirty="0">
                <a:solidFill>
                  <a:srgbClr val="000000"/>
                </a:solidFill>
                <a:latin typeface="Archivo Narrow"/>
                <a:ea typeface="Archivo Narrow"/>
                <a:cs typeface="Archivo Narrow"/>
                <a:sym typeface="Archivo Narrow"/>
              </a:rPr>
              <a:t>. </a:t>
            </a:r>
          </a:p>
        </p:txBody>
      </p:sp>
      <p:sp>
        <p:nvSpPr>
          <p:cNvPr id="4" name="TextBox 4"/>
          <p:cNvSpPr txBox="1"/>
          <p:nvPr/>
        </p:nvSpPr>
        <p:spPr>
          <a:xfrm>
            <a:off x="6630590" y="1333500"/>
            <a:ext cx="5026819" cy="1823576"/>
          </a:xfrm>
          <a:prstGeom prst="rect">
            <a:avLst/>
          </a:prstGeom>
        </p:spPr>
        <p:txBody>
          <a:bodyPr lIns="0" tIns="0" rIns="0" bIns="0" rtlCol="0" anchor="t">
            <a:spAutoFit/>
          </a:bodyPr>
          <a:lstStyle/>
          <a:p>
            <a:pPr algn="ctr">
              <a:lnSpc>
                <a:spcPts val="7279"/>
              </a:lnSpc>
            </a:pPr>
            <a:r>
              <a:rPr lang="en-US" sz="5199" b="1" dirty="0">
                <a:solidFill>
                  <a:srgbClr val="000000"/>
                </a:solidFill>
                <a:latin typeface="Archivo Narrow Bold"/>
                <a:ea typeface="Archivo Narrow Bold"/>
                <a:cs typeface="Archivo Narrow Bold"/>
                <a:sym typeface="Archivo Narrow Bold"/>
              </a:rPr>
              <a:t>Errores del Sistema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6EDD9229-A850-CF04-3BC3-3CED1825F6C0}"/>
              </a:ext>
            </a:extLst>
          </p:cNvPr>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pic>
        <p:nvPicPr>
          <p:cNvPr id="4" name="Imagen 3">
            <a:extLst>
              <a:ext uri="{FF2B5EF4-FFF2-40B4-BE49-F238E27FC236}">
                <a16:creationId xmlns:a16="http://schemas.microsoft.com/office/drawing/2014/main" id="{5521561D-2246-3177-CB5F-5610C969FC72}"/>
              </a:ext>
            </a:extLst>
          </p:cNvPr>
          <p:cNvPicPr>
            <a:picLocks noChangeAspect="1"/>
          </p:cNvPicPr>
          <p:nvPr/>
        </p:nvPicPr>
        <p:blipFill>
          <a:blip r:embed="rId3"/>
          <a:stretch>
            <a:fillRect/>
          </a:stretch>
        </p:blipFill>
        <p:spPr>
          <a:xfrm>
            <a:off x="2514600" y="792526"/>
            <a:ext cx="7772400" cy="8680515"/>
          </a:xfrm>
          <a:prstGeom prst="rect">
            <a:avLst/>
          </a:prstGeom>
        </p:spPr>
      </p:pic>
      <p:pic>
        <p:nvPicPr>
          <p:cNvPr id="5" name="Imagen 4" descr="Icono&#10;&#10;El contenido generado por IA puede ser incorrecto.">
            <a:extLst>
              <a:ext uri="{FF2B5EF4-FFF2-40B4-BE49-F238E27FC236}">
                <a16:creationId xmlns:a16="http://schemas.microsoft.com/office/drawing/2014/main" id="{88C1237D-3BC5-020F-F6DF-E20E3CDDBCD1}"/>
              </a:ext>
            </a:extLst>
          </p:cNvPr>
          <p:cNvPicPr>
            <a:picLocks noChangeAspect="1"/>
          </p:cNvPicPr>
          <p:nvPr/>
        </p:nvPicPr>
        <p:blipFill>
          <a:blip r:embed="rId4" cstate="print">
            <a:extLst>
              <a:ext uri="{28A0092B-C50C-407E-A947-70E740481C1C}">
                <a14:useLocalDpi xmlns:a14="http://schemas.microsoft.com/office/drawing/2010/main" val="0"/>
              </a:ext>
            </a:extLst>
          </a:blip>
          <a:srcRect l="30377" t="16327" r="30874" b="16452"/>
          <a:stretch>
            <a:fillRect/>
          </a:stretch>
        </p:blipFill>
        <p:spPr>
          <a:xfrm>
            <a:off x="10287000" y="3619500"/>
            <a:ext cx="990049" cy="966096"/>
          </a:xfrm>
          <a:prstGeom prst="ellipse">
            <a:avLst/>
          </a:prstGeom>
        </p:spPr>
      </p:pic>
      <p:pic>
        <p:nvPicPr>
          <p:cNvPr id="6" name="Imagen 5" descr="Icono&#10;&#10;El contenido generado por IA puede ser incorrecto.">
            <a:extLst>
              <a:ext uri="{FF2B5EF4-FFF2-40B4-BE49-F238E27FC236}">
                <a16:creationId xmlns:a16="http://schemas.microsoft.com/office/drawing/2014/main" id="{ADA288A6-3381-D6D1-FE07-9B6149FDF310}"/>
              </a:ext>
            </a:extLst>
          </p:cNvPr>
          <p:cNvPicPr>
            <a:picLocks noChangeAspect="1"/>
          </p:cNvPicPr>
          <p:nvPr/>
        </p:nvPicPr>
        <p:blipFill>
          <a:blip r:embed="rId4" cstate="print">
            <a:extLst>
              <a:ext uri="{28A0092B-C50C-407E-A947-70E740481C1C}">
                <a14:useLocalDpi xmlns:a14="http://schemas.microsoft.com/office/drawing/2010/main" val="0"/>
              </a:ext>
            </a:extLst>
          </a:blip>
          <a:srcRect l="30377" t="16327" r="30874" b="16452"/>
          <a:stretch>
            <a:fillRect/>
          </a:stretch>
        </p:blipFill>
        <p:spPr>
          <a:xfrm>
            <a:off x="10286999" y="4700926"/>
            <a:ext cx="990049" cy="966096"/>
          </a:xfrm>
          <a:prstGeom prst="ellipse">
            <a:avLst/>
          </a:prstGeom>
        </p:spPr>
      </p:pic>
      <p:pic>
        <p:nvPicPr>
          <p:cNvPr id="7" name="Imagen 6" descr="Icono&#10;&#10;El contenido generado por IA puede ser incorrecto.">
            <a:extLst>
              <a:ext uri="{FF2B5EF4-FFF2-40B4-BE49-F238E27FC236}">
                <a16:creationId xmlns:a16="http://schemas.microsoft.com/office/drawing/2014/main" id="{A4A82D32-716B-A057-7D23-56536C55060D}"/>
              </a:ext>
            </a:extLst>
          </p:cNvPr>
          <p:cNvPicPr>
            <a:picLocks noChangeAspect="1"/>
          </p:cNvPicPr>
          <p:nvPr/>
        </p:nvPicPr>
        <p:blipFill>
          <a:blip r:embed="rId4" cstate="print">
            <a:extLst>
              <a:ext uri="{28A0092B-C50C-407E-A947-70E740481C1C}">
                <a14:useLocalDpi xmlns:a14="http://schemas.microsoft.com/office/drawing/2010/main" val="0"/>
              </a:ext>
            </a:extLst>
          </a:blip>
          <a:srcRect l="30377" t="16327" r="30874" b="16452"/>
          <a:stretch>
            <a:fillRect/>
          </a:stretch>
        </p:blipFill>
        <p:spPr>
          <a:xfrm>
            <a:off x="10286999" y="5713829"/>
            <a:ext cx="990049" cy="966096"/>
          </a:xfrm>
          <a:prstGeom prst="ellipse">
            <a:avLst/>
          </a:prstGeom>
        </p:spPr>
      </p:pic>
      <p:pic>
        <p:nvPicPr>
          <p:cNvPr id="8" name="Imagen 7" descr="Icono&#10;&#10;El contenido generado por IA puede ser incorrecto.">
            <a:extLst>
              <a:ext uri="{FF2B5EF4-FFF2-40B4-BE49-F238E27FC236}">
                <a16:creationId xmlns:a16="http://schemas.microsoft.com/office/drawing/2014/main" id="{93E0CB17-4035-054A-4D1D-3D5E190F9E50}"/>
              </a:ext>
            </a:extLst>
          </p:cNvPr>
          <p:cNvPicPr>
            <a:picLocks noChangeAspect="1"/>
          </p:cNvPicPr>
          <p:nvPr/>
        </p:nvPicPr>
        <p:blipFill>
          <a:blip r:embed="rId4" cstate="print">
            <a:extLst>
              <a:ext uri="{28A0092B-C50C-407E-A947-70E740481C1C}">
                <a14:useLocalDpi xmlns:a14="http://schemas.microsoft.com/office/drawing/2010/main" val="0"/>
              </a:ext>
            </a:extLst>
          </a:blip>
          <a:srcRect l="30377" t="16327" r="30874" b="16452"/>
          <a:stretch>
            <a:fillRect/>
          </a:stretch>
        </p:blipFill>
        <p:spPr>
          <a:xfrm>
            <a:off x="10286999" y="6729520"/>
            <a:ext cx="990049" cy="966096"/>
          </a:xfrm>
          <a:prstGeom prst="ellipse">
            <a:avLst/>
          </a:prstGeom>
        </p:spPr>
      </p:pic>
      <p:pic>
        <p:nvPicPr>
          <p:cNvPr id="9" name="Imagen 8" descr="Icono&#10;&#10;El contenido generado por IA puede ser incorrecto.">
            <a:extLst>
              <a:ext uri="{FF2B5EF4-FFF2-40B4-BE49-F238E27FC236}">
                <a16:creationId xmlns:a16="http://schemas.microsoft.com/office/drawing/2014/main" id="{DDE76FB0-AD38-AB08-703C-8266D6BF675F}"/>
              </a:ext>
            </a:extLst>
          </p:cNvPr>
          <p:cNvPicPr>
            <a:picLocks noChangeAspect="1"/>
          </p:cNvPicPr>
          <p:nvPr/>
        </p:nvPicPr>
        <p:blipFill>
          <a:blip r:embed="rId4" cstate="print">
            <a:extLst>
              <a:ext uri="{28A0092B-C50C-407E-A947-70E740481C1C}">
                <a14:useLocalDpi xmlns:a14="http://schemas.microsoft.com/office/drawing/2010/main" val="0"/>
              </a:ext>
            </a:extLst>
          </a:blip>
          <a:srcRect l="30377" t="16327" r="30874" b="16452"/>
          <a:stretch>
            <a:fillRect/>
          </a:stretch>
        </p:blipFill>
        <p:spPr>
          <a:xfrm>
            <a:off x="10286998" y="7774018"/>
            <a:ext cx="990049" cy="966096"/>
          </a:xfrm>
          <a:prstGeom prst="ellipse">
            <a:avLst/>
          </a:prstGeom>
        </p:spPr>
      </p:pic>
      <p:pic>
        <p:nvPicPr>
          <p:cNvPr id="10" name="Imagen 9" descr="Icono&#10;&#10;El contenido generado por IA puede ser incorrecto.">
            <a:extLst>
              <a:ext uri="{FF2B5EF4-FFF2-40B4-BE49-F238E27FC236}">
                <a16:creationId xmlns:a16="http://schemas.microsoft.com/office/drawing/2014/main" id="{F9DD272B-10EE-025E-5B02-A2E8E378019B}"/>
              </a:ext>
            </a:extLst>
          </p:cNvPr>
          <p:cNvPicPr>
            <a:picLocks noChangeAspect="1"/>
          </p:cNvPicPr>
          <p:nvPr/>
        </p:nvPicPr>
        <p:blipFill>
          <a:blip r:embed="rId4" cstate="print">
            <a:extLst>
              <a:ext uri="{28A0092B-C50C-407E-A947-70E740481C1C}">
                <a14:useLocalDpi xmlns:a14="http://schemas.microsoft.com/office/drawing/2010/main" val="0"/>
              </a:ext>
            </a:extLst>
          </a:blip>
          <a:srcRect l="30377" t="16327" r="30874" b="16452"/>
          <a:stretch>
            <a:fillRect/>
          </a:stretch>
        </p:blipFill>
        <p:spPr>
          <a:xfrm>
            <a:off x="10296291" y="8793426"/>
            <a:ext cx="990049" cy="966096"/>
          </a:xfrm>
          <a:prstGeom prst="ellipse">
            <a:avLst/>
          </a:prstGeom>
        </p:spPr>
      </p:pic>
      <p:pic>
        <p:nvPicPr>
          <p:cNvPr id="11" name="Imagen 10">
            <a:extLst>
              <a:ext uri="{FF2B5EF4-FFF2-40B4-BE49-F238E27FC236}">
                <a16:creationId xmlns:a16="http://schemas.microsoft.com/office/drawing/2014/main" id="{A7E6668E-67CF-C2B1-23BF-05D2E2CC0C3D}"/>
              </a:ext>
            </a:extLst>
          </p:cNvPr>
          <p:cNvPicPr>
            <a:picLocks noChangeAspect="1"/>
          </p:cNvPicPr>
          <p:nvPr/>
        </p:nvPicPr>
        <p:blipFill>
          <a:blip r:embed="rId5"/>
          <a:stretch>
            <a:fillRect/>
          </a:stretch>
        </p:blipFill>
        <p:spPr>
          <a:xfrm>
            <a:off x="11227686" y="2171096"/>
            <a:ext cx="6004983" cy="1614243"/>
          </a:xfrm>
          <a:prstGeom prst="rect">
            <a:avLst/>
          </a:prstGeom>
        </p:spPr>
      </p:pic>
      <p:pic>
        <p:nvPicPr>
          <p:cNvPr id="12" name="Picture 6" descr="X png cruzar png transparente antecedentes 38341441 PNG">
            <a:extLst>
              <a:ext uri="{FF2B5EF4-FFF2-40B4-BE49-F238E27FC236}">
                <a16:creationId xmlns:a16="http://schemas.microsoft.com/office/drawing/2014/main" id="{2F9FB5F7-B3F7-C23B-208A-F644B54EFCB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6911407" y="1852083"/>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n 14">
            <a:extLst>
              <a:ext uri="{FF2B5EF4-FFF2-40B4-BE49-F238E27FC236}">
                <a16:creationId xmlns:a16="http://schemas.microsoft.com/office/drawing/2014/main" id="{A9223C50-8CDE-69FC-53EF-D20985004D3B}"/>
              </a:ext>
            </a:extLst>
          </p:cNvPr>
          <p:cNvPicPr>
            <a:picLocks noChangeAspect="1"/>
          </p:cNvPicPr>
          <p:nvPr/>
        </p:nvPicPr>
        <p:blipFill>
          <a:blip r:embed="rId7"/>
          <a:stretch>
            <a:fillRect/>
          </a:stretch>
        </p:blipFill>
        <p:spPr>
          <a:xfrm>
            <a:off x="11286340" y="3276400"/>
            <a:ext cx="6004979" cy="1614242"/>
          </a:xfrm>
          <a:prstGeom prst="rect">
            <a:avLst/>
          </a:prstGeom>
        </p:spPr>
      </p:pic>
      <p:pic>
        <p:nvPicPr>
          <p:cNvPr id="16" name="Picture 6" descr="X png cruzar png transparente antecedentes 38341441 PNG">
            <a:extLst>
              <a:ext uri="{FF2B5EF4-FFF2-40B4-BE49-F238E27FC236}">
                <a16:creationId xmlns:a16="http://schemas.microsoft.com/office/drawing/2014/main" id="{290750D7-8AE7-5869-2F55-BDA9548ADFA8}"/>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7028711" y="2981474"/>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n 16">
            <a:extLst>
              <a:ext uri="{FF2B5EF4-FFF2-40B4-BE49-F238E27FC236}">
                <a16:creationId xmlns:a16="http://schemas.microsoft.com/office/drawing/2014/main" id="{2302CCF6-6E97-FB30-C774-8A87A946ADF1}"/>
              </a:ext>
            </a:extLst>
          </p:cNvPr>
          <p:cNvPicPr>
            <a:picLocks noChangeAspect="1"/>
          </p:cNvPicPr>
          <p:nvPr/>
        </p:nvPicPr>
        <p:blipFill>
          <a:blip r:embed="rId8"/>
          <a:stretch>
            <a:fillRect/>
          </a:stretch>
        </p:blipFill>
        <p:spPr>
          <a:xfrm>
            <a:off x="11227686" y="4468527"/>
            <a:ext cx="6004979" cy="1614242"/>
          </a:xfrm>
          <a:prstGeom prst="rect">
            <a:avLst/>
          </a:prstGeom>
        </p:spPr>
      </p:pic>
      <p:pic>
        <p:nvPicPr>
          <p:cNvPr id="18" name="Picture 6" descr="X png cruzar png transparente antecedentes 38341441 PNG">
            <a:extLst>
              <a:ext uri="{FF2B5EF4-FFF2-40B4-BE49-F238E27FC236}">
                <a16:creationId xmlns:a16="http://schemas.microsoft.com/office/drawing/2014/main" id="{2BD95E4C-E80A-4B8F-8299-94A9F42DEA3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6940731" y="4231249"/>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n 18">
            <a:extLst>
              <a:ext uri="{FF2B5EF4-FFF2-40B4-BE49-F238E27FC236}">
                <a16:creationId xmlns:a16="http://schemas.microsoft.com/office/drawing/2014/main" id="{DCBE72B9-F77B-9038-3D39-0C3968C5F3A9}"/>
              </a:ext>
            </a:extLst>
          </p:cNvPr>
          <p:cNvPicPr>
            <a:picLocks noChangeAspect="1"/>
          </p:cNvPicPr>
          <p:nvPr/>
        </p:nvPicPr>
        <p:blipFill>
          <a:blip r:embed="rId9"/>
          <a:stretch>
            <a:fillRect/>
          </a:stretch>
        </p:blipFill>
        <p:spPr>
          <a:xfrm>
            <a:off x="11227686" y="5681300"/>
            <a:ext cx="6063634" cy="1886783"/>
          </a:xfrm>
          <a:prstGeom prst="rect">
            <a:avLst/>
          </a:prstGeom>
        </p:spPr>
      </p:pic>
      <p:pic>
        <p:nvPicPr>
          <p:cNvPr id="20" name="Picture 6" descr="X png cruzar png transparente antecedentes 38341441 PNG">
            <a:extLst>
              <a:ext uri="{FF2B5EF4-FFF2-40B4-BE49-F238E27FC236}">
                <a16:creationId xmlns:a16="http://schemas.microsoft.com/office/drawing/2014/main" id="{EDFD763F-55D5-A745-77D3-D43B0FA2CFBF}"/>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6911403" y="5339840"/>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21" name="Imagen 20">
            <a:extLst>
              <a:ext uri="{FF2B5EF4-FFF2-40B4-BE49-F238E27FC236}">
                <a16:creationId xmlns:a16="http://schemas.microsoft.com/office/drawing/2014/main" id="{38CF9025-78FA-9126-B522-2A25FE699ADC}"/>
              </a:ext>
            </a:extLst>
          </p:cNvPr>
          <p:cNvPicPr>
            <a:picLocks noChangeAspect="1"/>
          </p:cNvPicPr>
          <p:nvPr/>
        </p:nvPicPr>
        <p:blipFill>
          <a:blip r:embed="rId10"/>
          <a:stretch>
            <a:fillRect/>
          </a:stretch>
        </p:blipFill>
        <p:spPr>
          <a:xfrm>
            <a:off x="11277047" y="7343119"/>
            <a:ext cx="5939283" cy="1319057"/>
          </a:xfrm>
          <a:prstGeom prst="rect">
            <a:avLst/>
          </a:prstGeom>
        </p:spPr>
      </p:pic>
      <p:pic>
        <p:nvPicPr>
          <p:cNvPr id="22" name="Picture 6" descr="X png cruzar png transparente antecedentes 38341441 PNG">
            <a:extLst>
              <a:ext uri="{FF2B5EF4-FFF2-40B4-BE49-F238E27FC236}">
                <a16:creationId xmlns:a16="http://schemas.microsoft.com/office/drawing/2014/main" id="{CD0094FB-9FDC-F6D8-010C-2E8AB5965267}"/>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7007554" y="7073570"/>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n 22">
            <a:extLst>
              <a:ext uri="{FF2B5EF4-FFF2-40B4-BE49-F238E27FC236}">
                <a16:creationId xmlns:a16="http://schemas.microsoft.com/office/drawing/2014/main" id="{ED00CC59-FBDC-70F3-5760-8AB478CB7CC1}"/>
              </a:ext>
            </a:extLst>
          </p:cNvPr>
          <p:cNvPicPr>
            <a:picLocks noChangeAspect="1"/>
          </p:cNvPicPr>
          <p:nvPr/>
        </p:nvPicPr>
        <p:blipFill>
          <a:blip r:embed="rId11"/>
          <a:stretch>
            <a:fillRect/>
          </a:stretch>
        </p:blipFill>
        <p:spPr>
          <a:xfrm>
            <a:off x="11310955" y="8358741"/>
            <a:ext cx="5905375" cy="1469540"/>
          </a:xfrm>
          <a:prstGeom prst="rect">
            <a:avLst/>
          </a:prstGeom>
        </p:spPr>
      </p:pic>
      <p:pic>
        <p:nvPicPr>
          <p:cNvPr id="24" name="Picture 6" descr="X png cruzar png transparente antecedentes 38341441 PNG">
            <a:extLst>
              <a:ext uri="{FF2B5EF4-FFF2-40B4-BE49-F238E27FC236}">
                <a16:creationId xmlns:a16="http://schemas.microsoft.com/office/drawing/2014/main" id="{140560F4-F052-63A4-EE14-17FD5CE6605A}"/>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6940731" y="8089775"/>
            <a:ext cx="642523" cy="6380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nextCondLst>
                <p:cond evt="onClick" delay="0">
                  <p:tgtEl>
                    <p:spTgt spid="5"/>
                  </p:tgtEl>
                </p:cond>
              </p:nextCondLst>
            </p:seq>
            <p:seq concurrent="1" nextAc="seek">
              <p:cTn id="11" restart="whenNotActive" fill="hold" evtFilter="cancelBubble" nodeType="interactiveSeq">
                <p:stCondLst>
                  <p:cond evt="onClick" delay="0">
                    <p:tgtEl>
                      <p:spTgt spid="12"/>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12"/>
                                        </p:tgtEl>
                                      </p:cBhvr>
                                    </p:animEffect>
                                    <p:set>
                                      <p:cBhvr>
                                        <p:cTn id="16" dur="1" fill="hold">
                                          <p:stCondLst>
                                            <p:cond delay="499"/>
                                          </p:stCondLst>
                                        </p:cTn>
                                        <p:tgtEl>
                                          <p:spTgt spid="12"/>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11"/>
                                        </p:tgtEl>
                                      </p:cBhvr>
                                    </p:animEffect>
                                    <p:set>
                                      <p:cBhvr>
                                        <p:cTn id="19"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20" restart="whenNotActive" fill="hold" evtFilter="cancelBubble" nodeType="interactiveSeq">
                <p:stCondLst>
                  <p:cond evt="onClick" delay="0">
                    <p:tgtEl>
                      <p:spTgt spid="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childTnLst>
              </p:cTn>
              <p:nextCondLst>
                <p:cond evt="onClick" delay="0">
                  <p:tgtEl>
                    <p:spTgt spid="6"/>
                  </p:tgtEl>
                </p:cond>
              </p:nextCondLst>
            </p:seq>
            <p:seq concurrent="1" nextAc="seek">
              <p:cTn id="29" restart="whenNotActive" fill="hold" evtFilter="cancelBubble" nodeType="interactiveSeq">
                <p:stCondLst>
                  <p:cond evt="onClick" delay="0">
                    <p:tgtEl>
                      <p:spTgt spid="16"/>
                    </p:tgtEl>
                  </p:cond>
                </p:stCondLst>
                <p:endSync evt="end" delay="0">
                  <p:rtn val="all"/>
                </p:endSync>
                <p:childTnLst>
                  <p:par>
                    <p:cTn id="30" fill="hold">
                      <p:stCondLst>
                        <p:cond delay="0"/>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16"/>
                                        </p:tgtEl>
                                      </p:cBhvr>
                                    </p:animEffect>
                                    <p:set>
                                      <p:cBhvr>
                                        <p:cTn id="34" dur="1" fill="hold">
                                          <p:stCondLst>
                                            <p:cond delay="499"/>
                                          </p:stCondLst>
                                        </p:cTn>
                                        <p:tgtEl>
                                          <p:spTgt spid="16"/>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38" restart="whenNotActive" fill="hold" evtFilter="cancelBubble" nodeType="interactiveSeq">
                <p:stCondLst>
                  <p:cond evt="onClick" delay="0">
                    <p:tgtEl>
                      <p:spTgt spid="7"/>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childTnLst>
              </p:cTn>
              <p:nextCondLst>
                <p:cond evt="onClick" delay="0">
                  <p:tgtEl>
                    <p:spTgt spid="7"/>
                  </p:tgtEl>
                </p:cond>
              </p:nextCondLst>
            </p:seq>
            <p:seq concurrent="1" nextAc="seek">
              <p:cTn id="47" restart="whenNotActive" fill="hold" evtFilter="cancelBubble" nodeType="interactiveSeq">
                <p:stCondLst>
                  <p:cond evt="onClick" delay="0">
                    <p:tgtEl>
                      <p:spTgt spid="18"/>
                    </p:tgtEl>
                  </p:cond>
                </p:stCondLst>
                <p:endSync evt="end" delay="0">
                  <p:rtn val="all"/>
                </p:endSync>
                <p:childTnLst>
                  <p:par>
                    <p:cTn id="48" fill="hold">
                      <p:stCondLst>
                        <p:cond delay="0"/>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17"/>
                                        </p:tgtEl>
                                      </p:cBhvr>
                                    </p:animEffect>
                                    <p:set>
                                      <p:cBhvr>
                                        <p:cTn id="52" dur="1" fill="hold">
                                          <p:stCondLst>
                                            <p:cond delay="499"/>
                                          </p:stCondLst>
                                        </p:cTn>
                                        <p:tgtEl>
                                          <p:spTgt spid="17"/>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18"/>
                                        </p:tgtEl>
                                      </p:cBhvr>
                                    </p:animEffect>
                                    <p:set>
                                      <p:cBhvr>
                                        <p:cTn id="55"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56" restart="whenNotActive" fill="hold" evtFilter="cancelBubble" nodeType="interactiveSeq">
                <p:stCondLst>
                  <p:cond evt="onClick" delay="0">
                    <p:tgtEl>
                      <p:spTgt spid="8"/>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childTnLst>
                          </p:cTn>
                        </p:par>
                      </p:childTnLst>
                    </p:cTn>
                  </p:par>
                </p:childTnLst>
              </p:cTn>
              <p:nextCondLst>
                <p:cond evt="onClick" delay="0">
                  <p:tgtEl>
                    <p:spTgt spid="8"/>
                  </p:tgtEl>
                </p:cond>
              </p:nextCondLst>
            </p:seq>
            <p:seq concurrent="1" nextAc="seek">
              <p:cTn id="65" restart="whenNotActive" fill="hold" evtFilter="cancelBubble" nodeType="interactiveSeq">
                <p:stCondLst>
                  <p:cond evt="onClick" delay="0">
                    <p:tgtEl>
                      <p:spTgt spid="20"/>
                    </p:tgtEl>
                  </p:cond>
                </p:stCondLst>
                <p:endSync evt="end" delay="0">
                  <p:rtn val="all"/>
                </p:endSync>
                <p:childTnLst>
                  <p:par>
                    <p:cTn id="66" fill="hold">
                      <p:stCondLst>
                        <p:cond delay="0"/>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500"/>
                                        <p:tgtEl>
                                          <p:spTgt spid="19"/>
                                        </p:tgtEl>
                                      </p:cBhvr>
                                    </p:animEffect>
                                    <p:set>
                                      <p:cBhvr>
                                        <p:cTn id="70" dur="1" fill="hold">
                                          <p:stCondLst>
                                            <p:cond delay="499"/>
                                          </p:stCondLst>
                                        </p:cTn>
                                        <p:tgtEl>
                                          <p:spTgt spid="19"/>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20"/>
                                        </p:tgtEl>
                                      </p:cBhvr>
                                    </p:animEffect>
                                    <p:set>
                                      <p:cBhvr>
                                        <p:cTn id="73"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74" restart="whenNotActive" fill="hold" evtFilter="cancelBubble" nodeType="interactiveSeq">
                <p:stCondLst>
                  <p:cond evt="onClick" delay="0">
                    <p:tgtEl>
                      <p:spTgt spid="9"/>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500"/>
                                        <p:tgtEl>
                                          <p:spTgt spid="22"/>
                                        </p:tgtEl>
                                      </p:cBhvr>
                                    </p:animEffect>
                                  </p:childTnLst>
                                </p:cTn>
                              </p:par>
                              <p:par>
                                <p:cTn id="80" presetID="10" presetClass="entr" presetSubtype="0" fill="hold" nodeType="with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childTnLst>
                    </p:cTn>
                  </p:par>
                </p:childTnLst>
              </p:cTn>
              <p:nextCondLst>
                <p:cond evt="onClick" delay="0">
                  <p:tgtEl>
                    <p:spTgt spid="9"/>
                  </p:tgtEl>
                </p:cond>
              </p:nextCondLst>
            </p:seq>
            <p:seq concurrent="1" nextAc="seek">
              <p:cTn id="83" restart="whenNotActive" fill="hold" evtFilter="cancelBubble" nodeType="interactiveSeq">
                <p:stCondLst>
                  <p:cond evt="onClick" delay="0">
                    <p:tgtEl>
                      <p:spTgt spid="22"/>
                    </p:tgtEl>
                  </p:cond>
                </p:stCondLst>
                <p:endSync evt="end" delay="0">
                  <p:rtn val="all"/>
                </p:endSync>
                <p:childTnLst>
                  <p:par>
                    <p:cTn id="84" fill="hold">
                      <p:stCondLst>
                        <p:cond delay="0"/>
                      </p:stCondLst>
                      <p:childTnLst>
                        <p:par>
                          <p:cTn id="85" fill="hold">
                            <p:stCondLst>
                              <p:cond delay="0"/>
                            </p:stCondLst>
                            <p:childTnLst>
                              <p:par>
                                <p:cTn id="86" presetID="10" presetClass="exit" presetSubtype="0" fill="hold" nodeType="clickEffect">
                                  <p:stCondLst>
                                    <p:cond delay="0"/>
                                  </p:stCondLst>
                                  <p:childTnLst>
                                    <p:animEffect transition="out" filter="fade">
                                      <p:cBhvr>
                                        <p:cTn id="87" dur="500"/>
                                        <p:tgtEl>
                                          <p:spTgt spid="22"/>
                                        </p:tgtEl>
                                      </p:cBhvr>
                                    </p:animEffect>
                                    <p:set>
                                      <p:cBhvr>
                                        <p:cTn id="88" dur="1" fill="hold">
                                          <p:stCondLst>
                                            <p:cond delay="499"/>
                                          </p:stCondLst>
                                        </p:cTn>
                                        <p:tgtEl>
                                          <p:spTgt spid="22"/>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21"/>
                                        </p:tgtEl>
                                      </p:cBhvr>
                                    </p:animEffect>
                                    <p:set>
                                      <p:cBhvr>
                                        <p:cTn id="91"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92" restart="whenNotActive" fill="hold" evtFilter="cancelBubble" nodeType="interactiveSeq">
                <p:stCondLst>
                  <p:cond evt="onClick" delay="0">
                    <p:tgtEl>
                      <p:spTgt spid="10"/>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500"/>
                                        <p:tgtEl>
                                          <p:spTgt spid="24"/>
                                        </p:tgtEl>
                                      </p:cBhvr>
                                    </p:animEffect>
                                  </p:childTnLst>
                                </p:cTn>
                              </p:par>
                              <p:par>
                                <p:cTn id="98" presetID="10" presetClass="entr" presetSubtype="0" fill="hold"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childTnLst>
                                </p:cTn>
                              </p:par>
                            </p:childTnLst>
                          </p:cTn>
                        </p:par>
                      </p:childTnLst>
                    </p:cTn>
                  </p:par>
                </p:childTnLst>
              </p:cTn>
              <p:nextCondLst>
                <p:cond evt="onClick" delay="0">
                  <p:tgtEl>
                    <p:spTgt spid="10"/>
                  </p:tgtEl>
                </p:cond>
              </p:nextCondLst>
            </p:seq>
            <p:seq concurrent="1" nextAc="seek">
              <p:cTn id="101" restart="whenNotActive" fill="hold" evtFilter="cancelBubble" nodeType="interactiveSeq">
                <p:stCondLst>
                  <p:cond evt="onClick" delay="0">
                    <p:tgtEl>
                      <p:spTgt spid="24"/>
                    </p:tgtEl>
                  </p:cond>
                </p:stCondLst>
                <p:endSync evt="end" delay="0">
                  <p:rtn val="all"/>
                </p:endSync>
                <p:childTnLst>
                  <p:par>
                    <p:cTn id="102" fill="hold">
                      <p:stCondLst>
                        <p:cond delay="0"/>
                      </p:stCondLst>
                      <p:childTnLst>
                        <p:par>
                          <p:cTn id="103" fill="hold">
                            <p:stCondLst>
                              <p:cond delay="0"/>
                            </p:stCondLst>
                            <p:childTnLst>
                              <p:par>
                                <p:cTn id="104" presetID="10" presetClass="exit" presetSubtype="0" fill="hold" nodeType="clickEffect">
                                  <p:stCondLst>
                                    <p:cond delay="0"/>
                                  </p:stCondLst>
                                  <p:childTnLst>
                                    <p:animEffect transition="out" filter="fade">
                                      <p:cBhvr>
                                        <p:cTn id="105" dur="500"/>
                                        <p:tgtEl>
                                          <p:spTgt spid="24"/>
                                        </p:tgtEl>
                                      </p:cBhvr>
                                    </p:animEffect>
                                    <p:set>
                                      <p:cBhvr>
                                        <p:cTn id="106" dur="1" fill="hold">
                                          <p:stCondLst>
                                            <p:cond delay="499"/>
                                          </p:stCondLst>
                                        </p:cTn>
                                        <p:tgtEl>
                                          <p:spTgt spid="24"/>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500"/>
                                        <p:tgtEl>
                                          <p:spTgt spid="23"/>
                                        </p:tgtEl>
                                      </p:cBhvr>
                                    </p:animEffect>
                                    <p:set>
                                      <p:cBhvr>
                                        <p:cTn id="109"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D7D54-3616-B664-7DF1-A2E3165506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AD6159-025B-73FB-7541-70AC639E9C46}"/>
              </a:ext>
            </a:extLst>
          </p:cNvPr>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pic>
        <p:nvPicPr>
          <p:cNvPr id="5" name="Imagen 4" descr="Icono&#10;&#10;El contenido generado por IA puede ser incorrecto.">
            <a:extLst>
              <a:ext uri="{FF2B5EF4-FFF2-40B4-BE49-F238E27FC236}">
                <a16:creationId xmlns:a16="http://schemas.microsoft.com/office/drawing/2014/main" id="{F0500394-3604-1D58-0115-E1CEF76442DC}"/>
              </a:ext>
            </a:extLst>
          </p:cNvPr>
          <p:cNvPicPr>
            <a:picLocks noChangeAspect="1"/>
          </p:cNvPicPr>
          <p:nvPr/>
        </p:nvPicPr>
        <p:blipFill>
          <a:blip r:embed="rId3" cstate="print">
            <a:extLst>
              <a:ext uri="{28A0092B-C50C-407E-A947-70E740481C1C}">
                <a14:useLocalDpi xmlns:a14="http://schemas.microsoft.com/office/drawing/2010/main" val="0"/>
              </a:ext>
            </a:extLst>
          </a:blip>
          <a:srcRect l="30377" t="16327" r="30874" b="16452"/>
          <a:stretch>
            <a:fillRect/>
          </a:stretch>
        </p:blipFill>
        <p:spPr>
          <a:xfrm>
            <a:off x="10316650" y="3695700"/>
            <a:ext cx="990049" cy="966096"/>
          </a:xfrm>
          <a:prstGeom prst="ellipse">
            <a:avLst/>
          </a:prstGeom>
        </p:spPr>
      </p:pic>
      <p:pic>
        <p:nvPicPr>
          <p:cNvPr id="6" name="Imagen 5" descr="Icono&#10;&#10;El contenido generado por IA puede ser incorrecto.">
            <a:extLst>
              <a:ext uri="{FF2B5EF4-FFF2-40B4-BE49-F238E27FC236}">
                <a16:creationId xmlns:a16="http://schemas.microsoft.com/office/drawing/2014/main" id="{FC478331-F179-5322-2116-C987EA7144D2}"/>
              </a:ext>
            </a:extLst>
          </p:cNvPr>
          <p:cNvPicPr>
            <a:picLocks noChangeAspect="1"/>
          </p:cNvPicPr>
          <p:nvPr/>
        </p:nvPicPr>
        <p:blipFill>
          <a:blip r:embed="rId3" cstate="print">
            <a:extLst>
              <a:ext uri="{28A0092B-C50C-407E-A947-70E740481C1C}">
                <a14:useLocalDpi xmlns:a14="http://schemas.microsoft.com/office/drawing/2010/main" val="0"/>
              </a:ext>
            </a:extLst>
          </a:blip>
          <a:srcRect l="30377" t="16327" r="30874" b="16452"/>
          <a:stretch>
            <a:fillRect/>
          </a:stretch>
        </p:blipFill>
        <p:spPr>
          <a:xfrm>
            <a:off x="10316650" y="4661796"/>
            <a:ext cx="990049" cy="966096"/>
          </a:xfrm>
          <a:prstGeom prst="ellipse">
            <a:avLst/>
          </a:prstGeom>
        </p:spPr>
      </p:pic>
      <p:pic>
        <p:nvPicPr>
          <p:cNvPr id="7" name="Imagen 6" descr="Icono&#10;&#10;El contenido generado por IA puede ser incorrecto.">
            <a:extLst>
              <a:ext uri="{FF2B5EF4-FFF2-40B4-BE49-F238E27FC236}">
                <a16:creationId xmlns:a16="http://schemas.microsoft.com/office/drawing/2014/main" id="{575CB9DE-E344-2A8E-830C-6EDE16CB010E}"/>
              </a:ext>
            </a:extLst>
          </p:cNvPr>
          <p:cNvPicPr>
            <a:picLocks noChangeAspect="1"/>
          </p:cNvPicPr>
          <p:nvPr/>
        </p:nvPicPr>
        <p:blipFill>
          <a:blip r:embed="rId3" cstate="print">
            <a:extLst>
              <a:ext uri="{28A0092B-C50C-407E-A947-70E740481C1C}">
                <a14:useLocalDpi xmlns:a14="http://schemas.microsoft.com/office/drawing/2010/main" val="0"/>
              </a:ext>
            </a:extLst>
          </a:blip>
          <a:srcRect l="30377" t="16327" r="30874" b="16452"/>
          <a:stretch>
            <a:fillRect/>
          </a:stretch>
        </p:blipFill>
        <p:spPr>
          <a:xfrm>
            <a:off x="10316649" y="5920884"/>
            <a:ext cx="990049" cy="966096"/>
          </a:xfrm>
          <a:prstGeom prst="ellipse">
            <a:avLst/>
          </a:prstGeom>
        </p:spPr>
      </p:pic>
      <p:pic>
        <p:nvPicPr>
          <p:cNvPr id="8" name="Imagen 7" descr="Icono&#10;&#10;El contenido generado por IA puede ser incorrecto.">
            <a:extLst>
              <a:ext uri="{FF2B5EF4-FFF2-40B4-BE49-F238E27FC236}">
                <a16:creationId xmlns:a16="http://schemas.microsoft.com/office/drawing/2014/main" id="{08C70EAF-9335-823A-49D7-838B545CA70D}"/>
              </a:ext>
            </a:extLst>
          </p:cNvPr>
          <p:cNvPicPr>
            <a:picLocks noChangeAspect="1"/>
          </p:cNvPicPr>
          <p:nvPr/>
        </p:nvPicPr>
        <p:blipFill>
          <a:blip r:embed="rId3" cstate="print">
            <a:extLst>
              <a:ext uri="{28A0092B-C50C-407E-A947-70E740481C1C}">
                <a14:useLocalDpi xmlns:a14="http://schemas.microsoft.com/office/drawing/2010/main" val="0"/>
              </a:ext>
            </a:extLst>
          </a:blip>
          <a:srcRect l="30377" t="16327" r="30874" b="16452"/>
          <a:stretch>
            <a:fillRect/>
          </a:stretch>
        </p:blipFill>
        <p:spPr>
          <a:xfrm>
            <a:off x="10296972" y="7181738"/>
            <a:ext cx="990049" cy="966096"/>
          </a:xfrm>
          <a:prstGeom prst="ellipse">
            <a:avLst/>
          </a:prstGeom>
        </p:spPr>
      </p:pic>
      <p:pic>
        <p:nvPicPr>
          <p:cNvPr id="10" name="Imagen 9" descr="Icono&#10;&#10;El contenido generado por IA puede ser incorrecto.">
            <a:extLst>
              <a:ext uri="{FF2B5EF4-FFF2-40B4-BE49-F238E27FC236}">
                <a16:creationId xmlns:a16="http://schemas.microsoft.com/office/drawing/2014/main" id="{D0C18508-7850-D0CB-DC00-31AE33F1BA87}"/>
              </a:ext>
            </a:extLst>
          </p:cNvPr>
          <p:cNvPicPr>
            <a:picLocks noChangeAspect="1"/>
          </p:cNvPicPr>
          <p:nvPr/>
        </p:nvPicPr>
        <p:blipFill>
          <a:blip r:embed="rId3" cstate="print">
            <a:extLst>
              <a:ext uri="{28A0092B-C50C-407E-A947-70E740481C1C}">
                <a14:useLocalDpi xmlns:a14="http://schemas.microsoft.com/office/drawing/2010/main" val="0"/>
              </a:ext>
            </a:extLst>
          </a:blip>
          <a:srcRect l="30377" t="16327" r="30874" b="16452"/>
          <a:stretch>
            <a:fillRect/>
          </a:stretch>
        </p:blipFill>
        <p:spPr>
          <a:xfrm>
            <a:off x="10267604" y="8713210"/>
            <a:ext cx="990049" cy="966096"/>
          </a:xfrm>
          <a:prstGeom prst="ellipse">
            <a:avLst/>
          </a:prstGeom>
        </p:spPr>
      </p:pic>
      <p:pic>
        <p:nvPicPr>
          <p:cNvPr id="25" name="Imagen 24">
            <a:extLst>
              <a:ext uri="{FF2B5EF4-FFF2-40B4-BE49-F238E27FC236}">
                <a16:creationId xmlns:a16="http://schemas.microsoft.com/office/drawing/2014/main" id="{D492C3B1-DCC6-2756-0D0F-31F418E2DDC0}"/>
              </a:ext>
            </a:extLst>
          </p:cNvPr>
          <p:cNvPicPr>
            <a:picLocks noChangeAspect="1"/>
          </p:cNvPicPr>
          <p:nvPr/>
        </p:nvPicPr>
        <p:blipFill>
          <a:blip r:embed="rId4"/>
          <a:stretch>
            <a:fillRect/>
          </a:stretch>
        </p:blipFill>
        <p:spPr>
          <a:xfrm>
            <a:off x="3069429" y="1639096"/>
            <a:ext cx="7232811" cy="8055852"/>
          </a:xfrm>
          <a:prstGeom prst="rect">
            <a:avLst/>
          </a:prstGeom>
        </p:spPr>
      </p:pic>
      <p:pic>
        <p:nvPicPr>
          <p:cNvPr id="3" name="Imagen 2">
            <a:extLst>
              <a:ext uri="{FF2B5EF4-FFF2-40B4-BE49-F238E27FC236}">
                <a16:creationId xmlns:a16="http://schemas.microsoft.com/office/drawing/2014/main" id="{D69A12A1-F05B-1B80-AD82-DC9253CEFF7E}"/>
              </a:ext>
            </a:extLst>
          </p:cNvPr>
          <p:cNvPicPr>
            <a:picLocks noChangeAspect="1"/>
          </p:cNvPicPr>
          <p:nvPr/>
        </p:nvPicPr>
        <p:blipFill>
          <a:blip r:embed="rId5"/>
          <a:stretch>
            <a:fillRect/>
          </a:stretch>
        </p:blipFill>
        <p:spPr>
          <a:xfrm>
            <a:off x="11675149" y="2781299"/>
            <a:ext cx="5652691" cy="1611957"/>
          </a:xfrm>
          <a:prstGeom prst="rect">
            <a:avLst/>
          </a:prstGeom>
        </p:spPr>
      </p:pic>
      <p:pic>
        <p:nvPicPr>
          <p:cNvPr id="4" name="Picture 6" descr="X png cruzar png transparente antecedentes 38341441 PNG">
            <a:extLst>
              <a:ext uri="{FF2B5EF4-FFF2-40B4-BE49-F238E27FC236}">
                <a16:creationId xmlns:a16="http://schemas.microsoft.com/office/drawing/2014/main" id="{5879BAEF-BE96-1261-EC19-7287E77D00B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7053767" y="2462286"/>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C21952C3-342F-CBD1-14DC-8C3319D05085}"/>
              </a:ext>
            </a:extLst>
          </p:cNvPr>
          <p:cNvPicPr>
            <a:picLocks noChangeAspect="1"/>
          </p:cNvPicPr>
          <p:nvPr/>
        </p:nvPicPr>
        <p:blipFill>
          <a:blip r:embed="rId7"/>
          <a:stretch>
            <a:fillRect/>
          </a:stretch>
        </p:blipFill>
        <p:spPr>
          <a:xfrm>
            <a:off x="11702858" y="3695700"/>
            <a:ext cx="5624982" cy="1604055"/>
          </a:xfrm>
          <a:prstGeom prst="rect">
            <a:avLst/>
          </a:prstGeom>
        </p:spPr>
      </p:pic>
      <p:pic>
        <p:nvPicPr>
          <p:cNvPr id="11" name="Picture 6" descr="X png cruzar png transparente antecedentes 38341441 PNG">
            <a:extLst>
              <a:ext uri="{FF2B5EF4-FFF2-40B4-BE49-F238E27FC236}">
                <a16:creationId xmlns:a16="http://schemas.microsoft.com/office/drawing/2014/main" id="{26638650-6BB0-C5A7-C2CF-E2D612C069D7}"/>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7034287" y="3376687"/>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0C32238B-A9E3-35D5-1491-C8BB68AF1EE5}"/>
              </a:ext>
            </a:extLst>
          </p:cNvPr>
          <p:cNvPicPr>
            <a:picLocks noChangeAspect="1"/>
          </p:cNvPicPr>
          <p:nvPr/>
        </p:nvPicPr>
        <p:blipFill>
          <a:blip r:embed="rId8"/>
          <a:stretch>
            <a:fillRect/>
          </a:stretch>
        </p:blipFill>
        <p:spPr>
          <a:xfrm>
            <a:off x="11679136" y="4415730"/>
            <a:ext cx="5648704" cy="1831443"/>
          </a:xfrm>
          <a:prstGeom prst="rect">
            <a:avLst/>
          </a:prstGeom>
        </p:spPr>
      </p:pic>
      <p:pic>
        <p:nvPicPr>
          <p:cNvPr id="13" name="Picture 6" descr="X png cruzar png transparente antecedentes 38341441 PNG">
            <a:extLst>
              <a:ext uri="{FF2B5EF4-FFF2-40B4-BE49-F238E27FC236}">
                <a16:creationId xmlns:a16="http://schemas.microsoft.com/office/drawing/2014/main" id="{676C8FB2-2EE7-963F-531A-C9A23AD9F79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7134000" y="4163186"/>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n 13">
            <a:extLst>
              <a:ext uri="{FF2B5EF4-FFF2-40B4-BE49-F238E27FC236}">
                <a16:creationId xmlns:a16="http://schemas.microsoft.com/office/drawing/2014/main" id="{DED826A9-16E2-3C30-AD57-AC3A94AEC6D9}"/>
              </a:ext>
            </a:extLst>
          </p:cNvPr>
          <p:cNvPicPr>
            <a:picLocks noChangeAspect="1"/>
          </p:cNvPicPr>
          <p:nvPr/>
        </p:nvPicPr>
        <p:blipFill>
          <a:blip r:embed="rId9"/>
          <a:stretch>
            <a:fillRect/>
          </a:stretch>
        </p:blipFill>
        <p:spPr>
          <a:xfrm>
            <a:off x="11687167" y="5770453"/>
            <a:ext cx="5648704" cy="1747240"/>
          </a:xfrm>
          <a:prstGeom prst="rect">
            <a:avLst/>
          </a:prstGeom>
        </p:spPr>
      </p:pic>
      <p:pic>
        <p:nvPicPr>
          <p:cNvPr id="15" name="Picture 6" descr="X png cruzar png transparente antecedentes 38341441 PNG">
            <a:extLst>
              <a:ext uri="{FF2B5EF4-FFF2-40B4-BE49-F238E27FC236}">
                <a16:creationId xmlns:a16="http://schemas.microsoft.com/office/drawing/2014/main" id="{736D52D0-1579-35A8-3922-8F988A730B8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6943428" y="5584029"/>
            <a:ext cx="642523" cy="638026"/>
          </a:xfrm>
          <a:prstGeom prst="rect">
            <a:avLst/>
          </a:prstGeom>
          <a:noFill/>
          <a:extLst>
            <a:ext uri="{909E8E84-426E-40DD-AFC4-6F175D3DCCD1}">
              <a14:hiddenFill xmlns:a14="http://schemas.microsoft.com/office/drawing/2010/main">
                <a:solidFill>
                  <a:srgbClr val="FFFFFF"/>
                </a:solidFill>
              </a14:hiddenFill>
            </a:ext>
          </a:extLst>
        </p:spPr>
      </p:pic>
      <p:pic>
        <p:nvPicPr>
          <p:cNvPr id="16" name="Imagen 15">
            <a:extLst>
              <a:ext uri="{FF2B5EF4-FFF2-40B4-BE49-F238E27FC236}">
                <a16:creationId xmlns:a16="http://schemas.microsoft.com/office/drawing/2014/main" id="{320C4455-FE58-34AA-C011-8F8291049B18}"/>
              </a:ext>
            </a:extLst>
          </p:cNvPr>
          <p:cNvPicPr>
            <a:picLocks noChangeAspect="1"/>
          </p:cNvPicPr>
          <p:nvPr/>
        </p:nvPicPr>
        <p:blipFill>
          <a:blip r:embed="rId10"/>
          <a:stretch>
            <a:fillRect/>
          </a:stretch>
        </p:blipFill>
        <p:spPr>
          <a:xfrm>
            <a:off x="11641003" y="6853669"/>
            <a:ext cx="5814258" cy="1885120"/>
          </a:xfrm>
          <a:prstGeom prst="rect">
            <a:avLst/>
          </a:prstGeom>
        </p:spPr>
      </p:pic>
      <p:pic>
        <p:nvPicPr>
          <p:cNvPr id="17" name="Picture 6" descr="X png cruzar png transparente antecedentes 38341441 PNG">
            <a:extLst>
              <a:ext uri="{FF2B5EF4-FFF2-40B4-BE49-F238E27FC236}">
                <a16:creationId xmlns:a16="http://schemas.microsoft.com/office/drawing/2014/main" id="{3A96C0CB-1E0B-C31E-27A8-259A6A06256A}"/>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632" t="12307" r="12449" b="12307"/>
          <a:stretch>
            <a:fillRect/>
          </a:stretch>
        </p:blipFill>
        <p:spPr bwMode="auto">
          <a:xfrm>
            <a:off x="17170555" y="6567967"/>
            <a:ext cx="642523" cy="638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2387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nextCondLst>
                <p:cond evt="onClick" delay="0">
                  <p:tgtEl>
                    <p:spTgt spid="5"/>
                  </p:tgtEl>
                </p:cond>
              </p:nextCondLst>
            </p:seq>
            <p:seq concurrent="1" nextAc="seek">
              <p:cTn id="11" restart="whenNotActive" fill="hold" evtFilter="cancelBubble" nodeType="interactiveSeq">
                <p:stCondLst>
                  <p:cond evt="onClick" delay="0">
                    <p:tgtEl>
                      <p:spTgt spid="4"/>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3"/>
                                        </p:tgtEl>
                                      </p:cBhvr>
                                    </p:animEffect>
                                    <p:set>
                                      <p:cBhvr>
                                        <p:cTn id="16" dur="1" fill="hold">
                                          <p:stCondLst>
                                            <p:cond delay="499"/>
                                          </p:stCondLst>
                                        </p:cTn>
                                        <p:tgtEl>
                                          <p:spTgt spid="3"/>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4"/>
                                        </p:tgtEl>
                                      </p:cBhvr>
                                    </p:animEffect>
                                    <p:set>
                                      <p:cBhvr>
                                        <p:cTn id="19" dur="1" fill="hold">
                                          <p:stCondLst>
                                            <p:cond delay="499"/>
                                          </p:stCondLst>
                                        </p:cTn>
                                        <p:tgtEl>
                                          <p:spTgt spid="4"/>
                                        </p:tgtEl>
                                        <p:attrNameLst>
                                          <p:attrName>style.visibility</p:attrName>
                                        </p:attrNameLst>
                                      </p:cBhvr>
                                      <p:to>
                                        <p:strVal val="hidden"/>
                                      </p:to>
                                    </p:set>
                                  </p:childTnLst>
                                </p:cTn>
                              </p:par>
                            </p:childTnLst>
                          </p:cTn>
                        </p:par>
                      </p:childTnLst>
                    </p:cTn>
                  </p:par>
                </p:childTnLst>
              </p:cTn>
              <p:nextCondLst>
                <p:cond evt="onClick" delay="0">
                  <p:tgtEl>
                    <p:spTgt spid="4"/>
                  </p:tgtEl>
                </p:cond>
              </p:nextCondLst>
            </p:seq>
            <p:seq concurrent="1" nextAc="seek">
              <p:cTn id="20" restart="whenNotActive" fill="hold" evtFilter="cancelBubble" nodeType="interactiveSeq">
                <p:stCondLst>
                  <p:cond evt="onClick" delay="0">
                    <p:tgtEl>
                      <p:spTgt spid="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nextCondLst>
                <p:cond evt="onClick" delay="0">
                  <p:tgtEl>
                    <p:spTgt spid="6"/>
                  </p:tgtEl>
                </p:cond>
              </p:nextCondLst>
            </p:seq>
            <p:seq concurrent="1" nextAc="seek">
              <p:cTn id="29" restart="whenNotActive" fill="hold" evtFilter="cancelBubble" nodeType="interactiveSeq">
                <p:stCondLst>
                  <p:cond evt="onClick" delay="0">
                    <p:tgtEl>
                      <p:spTgt spid="11"/>
                    </p:tgtEl>
                  </p:cond>
                </p:stCondLst>
                <p:endSync evt="end" delay="0">
                  <p:rtn val="all"/>
                </p:endSync>
                <p:childTnLst>
                  <p:par>
                    <p:cTn id="30" fill="hold">
                      <p:stCondLst>
                        <p:cond delay="0"/>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9"/>
                                        </p:tgtEl>
                                      </p:cBhvr>
                                    </p:animEffect>
                                    <p:set>
                                      <p:cBhvr>
                                        <p:cTn id="34" dur="1" fill="hold">
                                          <p:stCondLst>
                                            <p:cond delay="499"/>
                                          </p:stCondLst>
                                        </p:cTn>
                                        <p:tgtEl>
                                          <p:spTgt spid="9"/>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11"/>
                                        </p:tgtEl>
                                      </p:cBhvr>
                                    </p:animEffect>
                                    <p:set>
                                      <p:cBhvr>
                                        <p:cTn id="3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38" restart="whenNotActive" fill="hold" evtFilter="cancelBubble" nodeType="interactiveSeq">
                <p:stCondLst>
                  <p:cond evt="onClick" delay="0">
                    <p:tgtEl>
                      <p:spTgt spid="7"/>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par>
                                <p:cTn id="44" presetID="10"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childTnLst>
                    </p:cTn>
                  </p:par>
                </p:childTnLst>
              </p:cTn>
              <p:nextCondLst>
                <p:cond evt="onClick" delay="0">
                  <p:tgtEl>
                    <p:spTgt spid="7"/>
                  </p:tgtEl>
                </p:cond>
              </p:nextCondLst>
            </p:seq>
            <p:seq concurrent="1" nextAc="seek">
              <p:cTn id="47" restart="whenNotActive" fill="hold" evtFilter="cancelBubble" nodeType="interactiveSeq">
                <p:stCondLst>
                  <p:cond evt="onClick" delay="0">
                    <p:tgtEl>
                      <p:spTgt spid="13"/>
                    </p:tgtEl>
                  </p:cond>
                </p:stCondLst>
                <p:endSync evt="end" delay="0">
                  <p:rtn val="all"/>
                </p:endSync>
                <p:childTnLst>
                  <p:par>
                    <p:cTn id="48" fill="hold">
                      <p:stCondLst>
                        <p:cond delay="0"/>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12"/>
                                        </p:tgtEl>
                                      </p:cBhvr>
                                    </p:animEffect>
                                    <p:set>
                                      <p:cBhvr>
                                        <p:cTn id="52" dur="1" fill="hold">
                                          <p:stCondLst>
                                            <p:cond delay="499"/>
                                          </p:stCondLst>
                                        </p:cTn>
                                        <p:tgtEl>
                                          <p:spTgt spid="12"/>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13"/>
                                        </p:tgtEl>
                                      </p:cBhvr>
                                    </p:animEffect>
                                    <p:set>
                                      <p:cBhvr>
                                        <p:cTn id="55" dur="1" fill="hold">
                                          <p:stCondLst>
                                            <p:cond delay="499"/>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56" restart="whenNotActive" fill="hold" evtFilter="cancelBubble" nodeType="interactiveSeq">
                <p:stCondLst>
                  <p:cond evt="onClick" delay="0">
                    <p:tgtEl>
                      <p:spTgt spid="8"/>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10" presetClass="entr" presetSubtype="0" fill="hold"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childTnLst>
                                </p:cTn>
                              </p:par>
                            </p:childTnLst>
                          </p:cTn>
                        </p:par>
                      </p:childTnLst>
                    </p:cTn>
                  </p:par>
                </p:childTnLst>
              </p:cTn>
              <p:nextCondLst>
                <p:cond evt="onClick" delay="0">
                  <p:tgtEl>
                    <p:spTgt spid="8"/>
                  </p:tgtEl>
                </p:cond>
              </p:nextCondLst>
            </p:seq>
            <p:seq concurrent="1" nextAc="seek">
              <p:cTn id="65" restart="whenNotActive" fill="hold" evtFilter="cancelBubble" nodeType="interactiveSeq">
                <p:stCondLst>
                  <p:cond evt="onClick" delay="0">
                    <p:tgtEl>
                      <p:spTgt spid="15"/>
                    </p:tgtEl>
                  </p:cond>
                </p:stCondLst>
                <p:endSync evt="end" delay="0">
                  <p:rtn val="all"/>
                </p:endSync>
                <p:childTnLst>
                  <p:par>
                    <p:cTn id="66" fill="hold">
                      <p:stCondLst>
                        <p:cond delay="0"/>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500"/>
                                        <p:tgtEl>
                                          <p:spTgt spid="15"/>
                                        </p:tgtEl>
                                      </p:cBhvr>
                                    </p:animEffect>
                                    <p:set>
                                      <p:cBhvr>
                                        <p:cTn id="70" dur="1" fill="hold">
                                          <p:stCondLst>
                                            <p:cond delay="499"/>
                                          </p:stCondLst>
                                        </p:cTn>
                                        <p:tgtEl>
                                          <p:spTgt spid="15"/>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14"/>
                                        </p:tgtEl>
                                      </p:cBhvr>
                                    </p:animEffect>
                                    <p:set>
                                      <p:cBhvr>
                                        <p:cTn id="73" dur="1" fill="hold">
                                          <p:stCondLst>
                                            <p:cond delay="499"/>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74" restart="whenNotActive" fill="hold" evtFilter="cancelBubble" nodeType="interactiveSeq">
                <p:stCondLst>
                  <p:cond evt="onClick" delay="0">
                    <p:tgtEl>
                      <p:spTgt spid="1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10" presetClass="entr" presetSubtype="0" fill="hold"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00"/>
                                        <p:tgtEl>
                                          <p:spTgt spid="17"/>
                                        </p:tgtEl>
                                      </p:cBhvr>
                                    </p:animEffect>
                                  </p:childTnLst>
                                </p:cTn>
                              </p:par>
                            </p:childTnLst>
                          </p:cTn>
                        </p:par>
                      </p:childTnLst>
                    </p:cTn>
                  </p:par>
                </p:childTnLst>
              </p:cTn>
              <p:nextCondLst>
                <p:cond evt="onClick" delay="0">
                  <p:tgtEl>
                    <p:spTgt spid="10"/>
                  </p:tgtEl>
                </p:cond>
              </p:nextCondLst>
            </p:seq>
            <p:seq concurrent="1" nextAc="seek">
              <p:cTn id="83" restart="whenNotActive" fill="hold" evtFilter="cancelBubble" nodeType="interactiveSeq">
                <p:stCondLst>
                  <p:cond evt="onClick" delay="0">
                    <p:tgtEl>
                      <p:spTgt spid="17"/>
                    </p:tgtEl>
                  </p:cond>
                </p:stCondLst>
                <p:endSync evt="end" delay="0">
                  <p:rtn val="all"/>
                </p:endSync>
                <p:childTnLst>
                  <p:par>
                    <p:cTn id="84" fill="hold">
                      <p:stCondLst>
                        <p:cond delay="0"/>
                      </p:stCondLst>
                      <p:childTnLst>
                        <p:par>
                          <p:cTn id="85" fill="hold">
                            <p:stCondLst>
                              <p:cond delay="0"/>
                            </p:stCondLst>
                            <p:childTnLst>
                              <p:par>
                                <p:cTn id="86" presetID="10" presetClass="exit" presetSubtype="0" fill="hold" nodeType="clickEffect">
                                  <p:stCondLst>
                                    <p:cond delay="0"/>
                                  </p:stCondLst>
                                  <p:childTnLst>
                                    <p:animEffect transition="out" filter="fade">
                                      <p:cBhvr>
                                        <p:cTn id="87" dur="500"/>
                                        <p:tgtEl>
                                          <p:spTgt spid="16"/>
                                        </p:tgtEl>
                                      </p:cBhvr>
                                    </p:animEffect>
                                    <p:set>
                                      <p:cBhvr>
                                        <p:cTn id="88" dur="1" fill="hold">
                                          <p:stCondLst>
                                            <p:cond delay="499"/>
                                          </p:stCondLst>
                                        </p:cTn>
                                        <p:tgtEl>
                                          <p:spTgt spid="16"/>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17"/>
                                        </p:tgtEl>
                                      </p:cBhvr>
                                    </p:animEffect>
                                    <p:set>
                                      <p:cBhvr>
                                        <p:cTn id="91"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67527" y="4570807"/>
            <a:ext cx="12152946" cy="1021561"/>
          </a:xfrm>
          <a:prstGeom prst="rect">
            <a:avLst/>
          </a:prstGeom>
        </p:spPr>
        <p:txBody>
          <a:bodyPr lIns="0" tIns="0" rIns="0" bIns="0" rtlCol="0" anchor="t">
            <a:spAutoFit/>
          </a:bodyPr>
          <a:lstStyle/>
          <a:p>
            <a:pPr algn="ctr">
              <a:lnSpc>
                <a:spcPts val="8268"/>
              </a:lnSpc>
            </a:pPr>
            <a:r>
              <a:rPr lang="en-US" sz="5906" b="1">
                <a:solidFill>
                  <a:srgbClr val="1800AD"/>
                </a:solidFill>
                <a:latin typeface="Archivo Narrow Bold"/>
                <a:ea typeface="Archivo Narrow Bold"/>
                <a:cs typeface="Archivo Narrow Bold"/>
                <a:sym typeface="Archivo Narrow Bold"/>
              </a:rPr>
              <a:t>5.3 Propagación de excepciones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43294FD-B0CC-213E-8548-4A4CB3DC8AC2}"/>
              </a:ext>
            </a:extLst>
          </p:cNvPr>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4" name="CuadroTexto 3">
            <a:extLst>
              <a:ext uri="{FF2B5EF4-FFF2-40B4-BE49-F238E27FC236}">
                <a16:creationId xmlns:a16="http://schemas.microsoft.com/office/drawing/2014/main" id="{B0446B92-B3AA-40C2-1DD6-05EDC4A7E628}"/>
              </a:ext>
            </a:extLst>
          </p:cNvPr>
          <p:cNvSpPr txBox="1"/>
          <p:nvPr/>
        </p:nvSpPr>
        <p:spPr>
          <a:xfrm>
            <a:off x="2438400" y="3086100"/>
            <a:ext cx="13792200" cy="1384995"/>
          </a:xfrm>
          <a:prstGeom prst="rect">
            <a:avLst/>
          </a:prstGeom>
          <a:noFill/>
        </p:spPr>
        <p:txBody>
          <a:bodyPr wrap="square">
            <a:spAutoFit/>
          </a:bodyPr>
          <a:lstStyle/>
          <a:p>
            <a:pPr algn="just"/>
            <a:r>
              <a:rPr lang="es-MX" sz="2800" dirty="0"/>
              <a:t>Cuando ocurre una excepción, Java busca un bloque catch adecuado en la pila de llamadas de métodos. Si el método actual no la maneja, la excepción se propaga al método que lo invocó, y así sucesivamente, hasta encontrar un manejador adecuado o terminar el programa.</a:t>
            </a:r>
          </a:p>
        </p:txBody>
      </p:sp>
      <p:sp>
        <p:nvSpPr>
          <p:cNvPr id="6" name="CuadroTexto 5">
            <a:extLst>
              <a:ext uri="{FF2B5EF4-FFF2-40B4-BE49-F238E27FC236}">
                <a16:creationId xmlns:a16="http://schemas.microsoft.com/office/drawing/2014/main" id="{04195362-E871-4A2E-3354-58203ACEDDFE}"/>
              </a:ext>
            </a:extLst>
          </p:cNvPr>
          <p:cNvSpPr txBox="1"/>
          <p:nvPr/>
        </p:nvSpPr>
        <p:spPr>
          <a:xfrm>
            <a:off x="6652678" y="1639550"/>
            <a:ext cx="5025737" cy="1446550"/>
          </a:xfrm>
          <a:prstGeom prst="rect">
            <a:avLst/>
          </a:prstGeom>
          <a:noFill/>
        </p:spPr>
        <p:txBody>
          <a:bodyPr wrap="square">
            <a:spAutoFit/>
          </a:bodyPr>
          <a:lstStyle/>
          <a:p>
            <a:pPr algn="ctr"/>
            <a:r>
              <a:rPr lang="es-MX" sz="4400" b="1" dirty="0"/>
              <a:t>Propagación de Excepciones</a:t>
            </a:r>
          </a:p>
        </p:txBody>
      </p:sp>
      <p:pic>
        <p:nvPicPr>
          <p:cNvPr id="7" name="Imagen 6" descr="Icono&#10;&#10;El contenido generado por IA puede ser incorrecto.">
            <a:extLst>
              <a:ext uri="{FF2B5EF4-FFF2-40B4-BE49-F238E27FC236}">
                <a16:creationId xmlns:a16="http://schemas.microsoft.com/office/drawing/2014/main" id="{1A7FC90D-C021-4989-DAC1-F4FBD0CE3D6E}"/>
              </a:ext>
            </a:extLst>
          </p:cNvPr>
          <p:cNvPicPr>
            <a:picLocks noChangeAspect="1"/>
          </p:cNvPicPr>
          <p:nvPr/>
        </p:nvPicPr>
        <p:blipFill>
          <a:blip r:embed="rId3" cstate="print">
            <a:extLst>
              <a:ext uri="{28A0092B-C50C-407E-A947-70E740481C1C}">
                <a14:useLocalDpi xmlns:a14="http://schemas.microsoft.com/office/drawing/2010/main" val="0"/>
              </a:ext>
            </a:extLst>
          </a:blip>
          <a:srcRect l="30377" t="16327" r="30874" b="16452"/>
          <a:stretch>
            <a:fillRect/>
          </a:stretch>
        </p:blipFill>
        <p:spPr>
          <a:xfrm>
            <a:off x="10972800" y="6396978"/>
            <a:ext cx="990049" cy="966096"/>
          </a:xfrm>
          <a:prstGeom prst="ellipse">
            <a:avLst/>
          </a:prstGeom>
        </p:spPr>
      </p:pic>
      <p:sp>
        <p:nvSpPr>
          <p:cNvPr id="8" name="CuadroTexto 7">
            <a:extLst>
              <a:ext uri="{FF2B5EF4-FFF2-40B4-BE49-F238E27FC236}">
                <a16:creationId xmlns:a16="http://schemas.microsoft.com/office/drawing/2014/main" id="{462A01EE-C18F-C0F0-39A2-B35383327B53}"/>
              </a:ext>
            </a:extLst>
          </p:cNvPr>
          <p:cNvSpPr txBox="1"/>
          <p:nvPr/>
        </p:nvSpPr>
        <p:spPr>
          <a:xfrm>
            <a:off x="4565724" y="5818197"/>
            <a:ext cx="5025737" cy="2123658"/>
          </a:xfrm>
          <a:prstGeom prst="rect">
            <a:avLst/>
          </a:prstGeom>
          <a:noFill/>
        </p:spPr>
        <p:txBody>
          <a:bodyPr wrap="square">
            <a:spAutoFit/>
          </a:bodyPr>
          <a:lstStyle/>
          <a:p>
            <a:pPr algn="ctr"/>
            <a:r>
              <a:rPr lang="es-MX" sz="4400" b="1" dirty="0"/>
              <a:t>Ejemplo de Propagación de Excepciones</a:t>
            </a:r>
          </a:p>
        </p:txBody>
      </p:sp>
      <p:pic>
        <p:nvPicPr>
          <p:cNvPr id="9" name="Imagen 8">
            <a:extLst>
              <a:ext uri="{FF2B5EF4-FFF2-40B4-BE49-F238E27FC236}">
                <a16:creationId xmlns:a16="http://schemas.microsoft.com/office/drawing/2014/main" id="{21DDCF41-3F27-8EC6-4213-28F9A9A4A046}"/>
              </a:ext>
            </a:extLst>
          </p:cNvPr>
          <p:cNvPicPr>
            <a:picLocks noChangeAspect="1"/>
          </p:cNvPicPr>
          <p:nvPr/>
        </p:nvPicPr>
        <p:blipFill>
          <a:blip r:embed="rId4"/>
          <a:stretch>
            <a:fillRect/>
          </a:stretch>
        </p:blipFill>
        <p:spPr>
          <a:xfrm>
            <a:off x="838200" y="2459445"/>
            <a:ext cx="15897722" cy="4625415"/>
          </a:xfrm>
          <a:prstGeom prst="rect">
            <a:avLst/>
          </a:prstGeom>
        </p:spPr>
      </p:pic>
      <p:pic>
        <p:nvPicPr>
          <p:cNvPr id="10" name="Picture 6" descr="X png cruzar png transparente antecedentes 38341441 PNG">
            <a:extLst>
              <a:ext uri="{FF2B5EF4-FFF2-40B4-BE49-F238E27FC236}">
                <a16:creationId xmlns:a16="http://schemas.microsoft.com/office/drawing/2014/main" id="{6BFD4DD3-D6C8-625B-7C9D-B7AB945E99ED}"/>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1632" t="12307" r="12449" b="12307"/>
          <a:stretch>
            <a:fillRect/>
          </a:stretch>
        </p:blipFill>
        <p:spPr bwMode="auto">
          <a:xfrm>
            <a:off x="16324404" y="2181231"/>
            <a:ext cx="823035" cy="817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nextCondLst>
                <p:cond evt="onClick" delay="0">
                  <p:tgtEl>
                    <p:spTgt spid="7"/>
                  </p:tgtEl>
                </p:cond>
              </p:nextCondLst>
            </p:seq>
            <p:seq concurrent="1" nextAc="seek">
              <p:cTn id="11" restart="whenNotActive" fill="hold" evtFilter="cancelBubble" nodeType="interactiveSeq">
                <p:stCondLst>
                  <p:cond evt="onClick" delay="0">
                    <p:tgtEl>
                      <p:spTgt spid="10"/>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10"/>
                                        </p:tgtEl>
                                      </p:cBhvr>
                                    </p:animEffect>
                                    <p:set>
                                      <p:cBhvr>
                                        <p:cTn id="16" dur="1" fill="hold">
                                          <p:stCondLst>
                                            <p:cond delay="499"/>
                                          </p:stCondLst>
                                        </p:cTn>
                                        <p:tgtEl>
                                          <p:spTgt spid="10"/>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67527" y="4046932"/>
            <a:ext cx="12152946" cy="3117061"/>
          </a:xfrm>
          <a:prstGeom prst="rect">
            <a:avLst/>
          </a:prstGeom>
        </p:spPr>
        <p:txBody>
          <a:bodyPr lIns="0" tIns="0" rIns="0" bIns="0" rtlCol="0" anchor="t">
            <a:spAutoFit/>
          </a:bodyPr>
          <a:lstStyle/>
          <a:p>
            <a:pPr algn="ctr">
              <a:lnSpc>
                <a:spcPts val="8268"/>
              </a:lnSpc>
            </a:pPr>
            <a:r>
              <a:rPr lang="en-US" sz="5906" b="1">
                <a:solidFill>
                  <a:srgbClr val="1800AD"/>
                </a:solidFill>
                <a:latin typeface="Archivo Narrow Bold"/>
                <a:ea typeface="Archivo Narrow Bold"/>
                <a:cs typeface="Archivo Narrow Bold"/>
                <a:sym typeface="Archivo Narrow Bold"/>
              </a:rPr>
              <a:t>5.4 Gestión de excepciones: manejo de</a:t>
            </a:r>
          </a:p>
          <a:p>
            <a:pPr algn="ctr">
              <a:lnSpc>
                <a:spcPts val="8268"/>
              </a:lnSpc>
            </a:pPr>
            <a:r>
              <a:rPr lang="en-US" sz="5906" b="1">
                <a:solidFill>
                  <a:srgbClr val="1800AD"/>
                </a:solidFill>
                <a:latin typeface="Archivo Narrow Bold"/>
                <a:ea typeface="Archivo Narrow Bold"/>
                <a:cs typeface="Archivo Narrow Bold"/>
                <a:sym typeface="Archivo Narrow Bold"/>
              </a:rPr>
              <a:t>excepciones, lanzamiento de excepciones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594A03B-88B9-B566-3F85-7E46E0624A58}"/>
              </a:ext>
            </a:extLst>
          </p:cNvPr>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dirty="0"/>
          </a:p>
        </p:txBody>
      </p:sp>
      <p:sp>
        <p:nvSpPr>
          <p:cNvPr id="6" name="CuadroTexto 5">
            <a:extLst>
              <a:ext uri="{FF2B5EF4-FFF2-40B4-BE49-F238E27FC236}">
                <a16:creationId xmlns:a16="http://schemas.microsoft.com/office/drawing/2014/main" id="{07EB8E2C-1BBD-4E0E-975A-05E94BAF106B}"/>
              </a:ext>
            </a:extLst>
          </p:cNvPr>
          <p:cNvSpPr txBox="1"/>
          <p:nvPr/>
        </p:nvSpPr>
        <p:spPr>
          <a:xfrm>
            <a:off x="7239000" y="1333500"/>
            <a:ext cx="3810000" cy="1446550"/>
          </a:xfrm>
          <a:prstGeom prst="rect">
            <a:avLst/>
          </a:prstGeom>
          <a:noFill/>
        </p:spPr>
        <p:txBody>
          <a:bodyPr wrap="square">
            <a:spAutoFit/>
          </a:bodyPr>
          <a:lstStyle/>
          <a:p>
            <a:pPr algn="ctr"/>
            <a:r>
              <a:rPr lang="es-MX" sz="4400" b="1" dirty="0">
                <a:latin typeface="Archivo Narrow" panose="020B0604020202020204" charset="0"/>
              </a:rPr>
              <a:t>Gestión de Excepciones</a:t>
            </a:r>
          </a:p>
        </p:txBody>
      </p:sp>
      <p:sp>
        <p:nvSpPr>
          <p:cNvPr id="8" name="CuadroTexto 7">
            <a:extLst>
              <a:ext uri="{FF2B5EF4-FFF2-40B4-BE49-F238E27FC236}">
                <a16:creationId xmlns:a16="http://schemas.microsoft.com/office/drawing/2014/main" id="{3CADE3F3-9DCF-F3AC-4270-7102D37CA522}"/>
              </a:ext>
            </a:extLst>
          </p:cNvPr>
          <p:cNvSpPr txBox="1"/>
          <p:nvPr/>
        </p:nvSpPr>
        <p:spPr>
          <a:xfrm>
            <a:off x="2155147" y="3009900"/>
            <a:ext cx="14020800" cy="954107"/>
          </a:xfrm>
          <a:prstGeom prst="rect">
            <a:avLst/>
          </a:prstGeom>
          <a:noFill/>
        </p:spPr>
        <p:txBody>
          <a:bodyPr wrap="square">
            <a:spAutoFit/>
          </a:bodyPr>
          <a:lstStyle/>
          <a:p>
            <a:pPr algn="just"/>
            <a:r>
              <a:rPr lang="es-MX" sz="2800" dirty="0">
                <a:latin typeface="Archivo Narrow" panose="020B0604020202020204" charset="0"/>
              </a:rPr>
              <a:t>La gestión de excepciones en Java implica detectar, manejar y, si es necesario, lanzar excepciones personalizadas.</a:t>
            </a:r>
          </a:p>
        </p:txBody>
      </p:sp>
      <p:sp>
        <p:nvSpPr>
          <p:cNvPr id="10" name="CuadroTexto 9">
            <a:extLst>
              <a:ext uri="{FF2B5EF4-FFF2-40B4-BE49-F238E27FC236}">
                <a16:creationId xmlns:a16="http://schemas.microsoft.com/office/drawing/2014/main" id="{97AA8571-DFE3-A00D-ADA1-BBB76B70E00D}"/>
              </a:ext>
            </a:extLst>
          </p:cNvPr>
          <p:cNvSpPr txBox="1"/>
          <p:nvPr/>
        </p:nvSpPr>
        <p:spPr>
          <a:xfrm>
            <a:off x="3889134" y="4471064"/>
            <a:ext cx="2743200" cy="1323439"/>
          </a:xfrm>
          <a:prstGeom prst="rect">
            <a:avLst/>
          </a:prstGeom>
          <a:noFill/>
        </p:spPr>
        <p:txBody>
          <a:bodyPr wrap="square">
            <a:spAutoFit/>
          </a:bodyPr>
          <a:lstStyle/>
          <a:p>
            <a:pPr algn="ctr"/>
            <a:r>
              <a:rPr lang="es-MX" sz="4000" b="1" dirty="0">
                <a:latin typeface="Archivo Narrow" panose="020B0604020202020204" charset="0"/>
              </a:rPr>
              <a:t>Manejo de Excepciones</a:t>
            </a:r>
          </a:p>
        </p:txBody>
      </p:sp>
      <p:sp>
        <p:nvSpPr>
          <p:cNvPr id="11" name="CuadroTexto 10">
            <a:extLst>
              <a:ext uri="{FF2B5EF4-FFF2-40B4-BE49-F238E27FC236}">
                <a16:creationId xmlns:a16="http://schemas.microsoft.com/office/drawing/2014/main" id="{4E7EC235-4DD1-0360-C52F-73B5D21FBC0B}"/>
              </a:ext>
            </a:extLst>
          </p:cNvPr>
          <p:cNvSpPr txBox="1"/>
          <p:nvPr/>
        </p:nvSpPr>
        <p:spPr>
          <a:xfrm>
            <a:off x="10588866" y="4487942"/>
            <a:ext cx="3810000" cy="1323439"/>
          </a:xfrm>
          <a:prstGeom prst="rect">
            <a:avLst/>
          </a:prstGeom>
          <a:noFill/>
        </p:spPr>
        <p:txBody>
          <a:bodyPr wrap="square">
            <a:spAutoFit/>
          </a:bodyPr>
          <a:lstStyle/>
          <a:p>
            <a:pPr algn="ctr"/>
            <a:r>
              <a:rPr lang="es-MX" sz="4000" b="1" dirty="0">
                <a:latin typeface="Archivo Narrow" panose="020B0604020202020204" charset="0"/>
              </a:rPr>
              <a:t>Lanzamiento de Excepciones</a:t>
            </a:r>
          </a:p>
        </p:txBody>
      </p:sp>
      <p:pic>
        <p:nvPicPr>
          <p:cNvPr id="13" name="Imagen 12">
            <a:extLst>
              <a:ext uri="{FF2B5EF4-FFF2-40B4-BE49-F238E27FC236}">
                <a16:creationId xmlns:a16="http://schemas.microsoft.com/office/drawing/2014/main" id="{33E7C4B6-D4B7-56C6-F0F0-AE0A3FB37365}"/>
              </a:ext>
            </a:extLst>
          </p:cNvPr>
          <p:cNvPicPr>
            <a:picLocks noChangeAspect="1"/>
          </p:cNvPicPr>
          <p:nvPr/>
        </p:nvPicPr>
        <p:blipFill>
          <a:blip r:embed="rId3"/>
          <a:stretch>
            <a:fillRect/>
          </a:stretch>
        </p:blipFill>
        <p:spPr>
          <a:xfrm>
            <a:off x="2153444" y="6081448"/>
            <a:ext cx="6780413" cy="2357348"/>
          </a:xfrm>
          <a:prstGeom prst="rect">
            <a:avLst/>
          </a:prstGeom>
        </p:spPr>
      </p:pic>
      <p:pic>
        <p:nvPicPr>
          <p:cNvPr id="15" name="Imagen 14">
            <a:extLst>
              <a:ext uri="{FF2B5EF4-FFF2-40B4-BE49-F238E27FC236}">
                <a16:creationId xmlns:a16="http://schemas.microsoft.com/office/drawing/2014/main" id="{6B62E220-34EA-B513-13EB-D0FCF5BEC0CC}"/>
              </a:ext>
            </a:extLst>
          </p:cNvPr>
          <p:cNvPicPr>
            <a:picLocks noChangeAspect="1"/>
          </p:cNvPicPr>
          <p:nvPr/>
        </p:nvPicPr>
        <p:blipFill>
          <a:blip r:embed="rId4"/>
          <a:stretch>
            <a:fillRect/>
          </a:stretch>
        </p:blipFill>
        <p:spPr>
          <a:xfrm>
            <a:off x="9677400" y="6081448"/>
            <a:ext cx="6041235" cy="2357349"/>
          </a:xfrm>
          <a:prstGeom prst="rect">
            <a:avLst/>
          </a:prstGeom>
        </p:spPr>
      </p:pic>
      <p:pic>
        <p:nvPicPr>
          <p:cNvPr id="16" name="Imagen 15" descr="Icono&#10;&#10;El contenido generado por IA puede ser incorrecto.">
            <a:extLst>
              <a:ext uri="{FF2B5EF4-FFF2-40B4-BE49-F238E27FC236}">
                <a16:creationId xmlns:a16="http://schemas.microsoft.com/office/drawing/2014/main" id="{34D0AE1E-18D0-3DF0-2FF5-6F6FFF5DA998}"/>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7820555" y="7759645"/>
            <a:ext cx="990049" cy="966096"/>
          </a:xfrm>
          <a:prstGeom prst="ellipse">
            <a:avLst/>
          </a:prstGeom>
        </p:spPr>
      </p:pic>
      <p:pic>
        <p:nvPicPr>
          <p:cNvPr id="17" name="Imagen 16" descr="Icono&#10;&#10;El contenido generado por IA puede ser incorrecto.">
            <a:extLst>
              <a:ext uri="{FF2B5EF4-FFF2-40B4-BE49-F238E27FC236}">
                <a16:creationId xmlns:a16="http://schemas.microsoft.com/office/drawing/2014/main" id="{D4F3EEB6-D855-284B-0951-6CBF259CE6AD}"/>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a:off x="14477715" y="7772738"/>
            <a:ext cx="990049" cy="966096"/>
          </a:xfrm>
          <a:prstGeom prst="ellipse">
            <a:avLst/>
          </a:prstGeom>
        </p:spPr>
      </p:pic>
      <p:pic>
        <p:nvPicPr>
          <p:cNvPr id="19" name="Imagen 18">
            <a:extLst>
              <a:ext uri="{FF2B5EF4-FFF2-40B4-BE49-F238E27FC236}">
                <a16:creationId xmlns:a16="http://schemas.microsoft.com/office/drawing/2014/main" id="{FD3F84EF-FAE6-C615-B645-428FB693E174}"/>
              </a:ext>
            </a:extLst>
          </p:cNvPr>
          <p:cNvPicPr>
            <a:picLocks noChangeAspect="1"/>
          </p:cNvPicPr>
          <p:nvPr/>
        </p:nvPicPr>
        <p:blipFill>
          <a:blip r:embed="rId6"/>
          <a:stretch>
            <a:fillRect/>
          </a:stretch>
        </p:blipFill>
        <p:spPr>
          <a:xfrm>
            <a:off x="1075843" y="3094615"/>
            <a:ext cx="16179408" cy="3675500"/>
          </a:xfrm>
          <a:prstGeom prst="rect">
            <a:avLst/>
          </a:prstGeom>
        </p:spPr>
      </p:pic>
      <p:pic>
        <p:nvPicPr>
          <p:cNvPr id="20" name="Picture 6" descr="X png cruzar png transparente antecedentes 38341441 PNG">
            <a:extLst>
              <a:ext uri="{FF2B5EF4-FFF2-40B4-BE49-F238E27FC236}">
                <a16:creationId xmlns:a16="http://schemas.microsoft.com/office/drawing/2014/main" id="{AADE830F-7307-CED5-A639-04964BD5920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16843733" y="2780050"/>
            <a:ext cx="823035" cy="817275"/>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n 21">
            <a:extLst>
              <a:ext uri="{FF2B5EF4-FFF2-40B4-BE49-F238E27FC236}">
                <a16:creationId xmlns:a16="http://schemas.microsoft.com/office/drawing/2014/main" id="{BBC03E00-E4F8-5699-06D5-D42C6F66D499}"/>
              </a:ext>
            </a:extLst>
          </p:cNvPr>
          <p:cNvPicPr>
            <a:picLocks noChangeAspect="1"/>
          </p:cNvPicPr>
          <p:nvPr/>
        </p:nvPicPr>
        <p:blipFill>
          <a:blip r:embed="rId8"/>
          <a:stretch>
            <a:fillRect/>
          </a:stretch>
        </p:blipFill>
        <p:spPr>
          <a:xfrm>
            <a:off x="1118669" y="3099409"/>
            <a:ext cx="16203243" cy="4482491"/>
          </a:xfrm>
          <a:prstGeom prst="rect">
            <a:avLst/>
          </a:prstGeom>
        </p:spPr>
      </p:pic>
      <p:pic>
        <p:nvPicPr>
          <p:cNvPr id="23" name="Picture 6" descr="X png cruzar png transparente antecedentes 38341441 PNG">
            <a:extLst>
              <a:ext uri="{FF2B5EF4-FFF2-40B4-BE49-F238E27FC236}">
                <a16:creationId xmlns:a16="http://schemas.microsoft.com/office/drawing/2014/main" id="{4E2AAB53-B9E4-6B7C-3381-26B7F23A72E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632" t="12307" r="12449" b="12307"/>
          <a:stretch>
            <a:fillRect/>
          </a:stretch>
        </p:blipFill>
        <p:spPr bwMode="auto">
          <a:xfrm>
            <a:off x="16886559" y="2818910"/>
            <a:ext cx="823035" cy="817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childTnLst>
              </p:cTn>
              <p:nextCondLst>
                <p:cond evt="onClick" delay="0">
                  <p:tgtEl>
                    <p:spTgt spid="16"/>
                  </p:tgtEl>
                </p:cond>
              </p:nextCondLst>
            </p:seq>
            <p:seq concurrent="1" nextAc="seek">
              <p:cTn id="11" restart="whenNotActive" fill="hold" evtFilter="cancelBubble" nodeType="interactiveSeq">
                <p:stCondLst>
                  <p:cond evt="onClick" delay="0">
                    <p:tgtEl>
                      <p:spTgt spid="20"/>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20"/>
                                        </p:tgtEl>
                                      </p:cBhvr>
                                    </p:animEffect>
                                    <p:set>
                                      <p:cBhvr>
                                        <p:cTn id="16" dur="1" fill="hold">
                                          <p:stCondLst>
                                            <p:cond delay="499"/>
                                          </p:stCondLst>
                                        </p:cTn>
                                        <p:tgtEl>
                                          <p:spTgt spid="20"/>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19"/>
                                        </p:tgtEl>
                                      </p:cBhvr>
                                    </p:animEffect>
                                    <p:set>
                                      <p:cBhvr>
                                        <p:cTn id="19"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20" restart="whenNotActive" fill="hold" evtFilter="cancelBubble" nodeType="interactiveSeq">
                <p:stCondLst>
                  <p:cond evt="onClick" delay="0">
                    <p:tgtEl>
                      <p:spTgt spid="17"/>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childTnLst>
              </p:cTn>
              <p:nextCondLst>
                <p:cond evt="onClick" delay="0">
                  <p:tgtEl>
                    <p:spTgt spid="17"/>
                  </p:tgtEl>
                </p:cond>
              </p:nextCondLst>
            </p:seq>
            <p:seq concurrent="1" nextAc="seek">
              <p:cTn id="29" restart="whenNotActive" fill="hold" evtFilter="cancelBubble" nodeType="interactiveSeq">
                <p:stCondLst>
                  <p:cond evt="onClick" delay="0">
                    <p:tgtEl>
                      <p:spTgt spid="23"/>
                    </p:tgtEl>
                  </p:cond>
                </p:stCondLst>
                <p:endSync evt="end" delay="0">
                  <p:rtn val="all"/>
                </p:endSync>
                <p:childTnLst>
                  <p:par>
                    <p:cTn id="30" fill="hold">
                      <p:stCondLst>
                        <p:cond delay="0"/>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23"/>
                                        </p:tgtEl>
                                      </p:cBhvr>
                                    </p:animEffect>
                                    <p:set>
                                      <p:cBhvr>
                                        <p:cTn id="34" dur="1" fill="hold">
                                          <p:stCondLst>
                                            <p:cond delay="499"/>
                                          </p:stCondLst>
                                        </p:cTn>
                                        <p:tgtEl>
                                          <p:spTgt spid="23"/>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22"/>
                                        </p:tgtEl>
                                      </p:cBhvr>
                                    </p:animEffect>
                                    <p:set>
                                      <p:cBhvr>
                                        <p:cTn id="37"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67527" y="4121939"/>
            <a:ext cx="12152946" cy="2069311"/>
          </a:xfrm>
          <a:prstGeom prst="rect">
            <a:avLst/>
          </a:prstGeom>
        </p:spPr>
        <p:txBody>
          <a:bodyPr lIns="0" tIns="0" rIns="0" bIns="0" rtlCol="0" anchor="t">
            <a:spAutoFit/>
          </a:bodyPr>
          <a:lstStyle/>
          <a:p>
            <a:pPr algn="ctr">
              <a:lnSpc>
                <a:spcPts val="8268"/>
              </a:lnSpc>
            </a:pPr>
            <a:r>
              <a:rPr lang="en-US" sz="5906" b="1">
                <a:solidFill>
                  <a:srgbClr val="1800AD"/>
                </a:solidFill>
                <a:latin typeface="Archivo Narrow Bold"/>
                <a:ea typeface="Archivo Narrow Bold"/>
                <a:cs typeface="Archivo Narrow Bold"/>
                <a:sym typeface="Archivo Narrow Bold"/>
              </a:rPr>
              <a:t>5.5 Creación y manejo de excepciones definidas por el usuario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F0FC32A3-E7F6-86B0-4820-6BAA7555DB7F}"/>
              </a:ext>
            </a:extLst>
          </p:cNvPr>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4" name="CuadroTexto 3">
            <a:extLst>
              <a:ext uri="{FF2B5EF4-FFF2-40B4-BE49-F238E27FC236}">
                <a16:creationId xmlns:a16="http://schemas.microsoft.com/office/drawing/2014/main" id="{77035899-C2EC-A593-CC68-0043CB0EABE6}"/>
              </a:ext>
            </a:extLst>
          </p:cNvPr>
          <p:cNvSpPr txBox="1"/>
          <p:nvPr/>
        </p:nvSpPr>
        <p:spPr>
          <a:xfrm>
            <a:off x="4500029" y="1333500"/>
            <a:ext cx="9331036" cy="1569660"/>
          </a:xfrm>
          <a:prstGeom prst="rect">
            <a:avLst/>
          </a:prstGeom>
          <a:noFill/>
        </p:spPr>
        <p:txBody>
          <a:bodyPr wrap="square">
            <a:spAutoFit/>
          </a:bodyPr>
          <a:lstStyle/>
          <a:p>
            <a:pPr algn="ctr"/>
            <a:r>
              <a:rPr lang="es-MX" sz="4800" b="1" dirty="0">
                <a:latin typeface="Archivo Narrow" panose="020B0604020202020204" charset="0"/>
              </a:rPr>
              <a:t>Creación y Manejo de Excepciones Definidas por el Usuario</a:t>
            </a:r>
          </a:p>
        </p:txBody>
      </p:sp>
      <p:sp>
        <p:nvSpPr>
          <p:cNvPr id="6" name="CuadroTexto 5">
            <a:extLst>
              <a:ext uri="{FF2B5EF4-FFF2-40B4-BE49-F238E27FC236}">
                <a16:creationId xmlns:a16="http://schemas.microsoft.com/office/drawing/2014/main" id="{AE28116F-0A3B-F156-F499-51F51126F523}"/>
              </a:ext>
            </a:extLst>
          </p:cNvPr>
          <p:cNvSpPr txBox="1"/>
          <p:nvPr/>
        </p:nvSpPr>
        <p:spPr>
          <a:xfrm>
            <a:off x="2078947" y="2903160"/>
            <a:ext cx="14173200" cy="1569660"/>
          </a:xfrm>
          <a:prstGeom prst="rect">
            <a:avLst/>
          </a:prstGeom>
          <a:noFill/>
        </p:spPr>
        <p:txBody>
          <a:bodyPr wrap="square">
            <a:spAutoFit/>
          </a:bodyPr>
          <a:lstStyle/>
          <a:p>
            <a:pPr algn="just"/>
            <a:r>
              <a:rPr lang="es-MX" sz="3200" dirty="0"/>
              <a:t>Java permite crear excepciones personalizadas extendiendo la clase </a:t>
            </a:r>
            <a:r>
              <a:rPr lang="es-MX" sz="3200" dirty="0" err="1"/>
              <a:t>Exception</a:t>
            </a:r>
            <a:r>
              <a:rPr lang="es-MX" sz="3200" dirty="0"/>
              <a:t> (para </a:t>
            </a:r>
            <a:r>
              <a:rPr lang="es-MX" sz="3200" dirty="0" err="1"/>
              <a:t>checked</a:t>
            </a:r>
            <a:r>
              <a:rPr lang="es-MX" sz="3200" dirty="0"/>
              <a:t>) o </a:t>
            </a:r>
            <a:r>
              <a:rPr lang="es-MX" sz="3200" dirty="0" err="1"/>
              <a:t>RuntimeException</a:t>
            </a:r>
            <a:r>
              <a:rPr lang="es-MX" sz="3200" dirty="0"/>
              <a:t> (para </a:t>
            </a:r>
            <a:r>
              <a:rPr lang="es-MX" sz="3200" dirty="0" err="1"/>
              <a:t>unchecked</a:t>
            </a:r>
            <a:r>
              <a:rPr lang="es-MX" sz="3200" dirty="0"/>
              <a:t>). Esto es útil para representar errores específicos de la lógica del programa.</a:t>
            </a:r>
          </a:p>
        </p:txBody>
      </p:sp>
      <p:sp>
        <p:nvSpPr>
          <p:cNvPr id="7" name="CuadroTexto 6">
            <a:extLst>
              <a:ext uri="{FF2B5EF4-FFF2-40B4-BE49-F238E27FC236}">
                <a16:creationId xmlns:a16="http://schemas.microsoft.com/office/drawing/2014/main" id="{BAE65D0D-66E7-6392-E8F8-CA93057C85A0}"/>
              </a:ext>
            </a:extLst>
          </p:cNvPr>
          <p:cNvSpPr txBox="1"/>
          <p:nvPr/>
        </p:nvSpPr>
        <p:spPr>
          <a:xfrm>
            <a:off x="5105400" y="4686300"/>
            <a:ext cx="9331036" cy="830997"/>
          </a:xfrm>
          <a:prstGeom prst="rect">
            <a:avLst/>
          </a:prstGeom>
          <a:noFill/>
        </p:spPr>
        <p:txBody>
          <a:bodyPr wrap="square">
            <a:spAutoFit/>
          </a:bodyPr>
          <a:lstStyle/>
          <a:p>
            <a:pPr algn="ctr"/>
            <a:r>
              <a:rPr lang="es-MX" sz="4800" b="1" dirty="0">
                <a:latin typeface="Archivo Narrow" panose="020B0604020202020204" charset="0"/>
              </a:rPr>
              <a:t>Ejemplo</a:t>
            </a:r>
          </a:p>
        </p:txBody>
      </p:sp>
      <p:pic>
        <p:nvPicPr>
          <p:cNvPr id="8" name="Imagen 7" descr="Icono&#10;&#10;El contenido generado por IA puede ser incorrecto.">
            <a:extLst>
              <a:ext uri="{FF2B5EF4-FFF2-40B4-BE49-F238E27FC236}">
                <a16:creationId xmlns:a16="http://schemas.microsoft.com/office/drawing/2014/main" id="{610991F2-2083-FDA3-EF49-B0D297789600}"/>
              </a:ext>
            </a:extLst>
          </p:cNvPr>
          <p:cNvPicPr>
            <a:picLocks noChangeAspect="1"/>
          </p:cNvPicPr>
          <p:nvPr/>
        </p:nvPicPr>
        <p:blipFill>
          <a:blip r:embed="rId3" cstate="print">
            <a:extLst>
              <a:ext uri="{28A0092B-C50C-407E-A947-70E740481C1C}">
                <a14:useLocalDpi xmlns:a14="http://schemas.microsoft.com/office/drawing/2010/main" val="0"/>
              </a:ext>
            </a:extLst>
          </a:blip>
          <a:srcRect l="30377" t="16327" r="30874" b="16452"/>
          <a:stretch>
            <a:fillRect/>
          </a:stretch>
        </p:blipFill>
        <p:spPr>
          <a:xfrm>
            <a:off x="9165547" y="6042480"/>
            <a:ext cx="990049" cy="966096"/>
          </a:xfrm>
          <a:prstGeom prst="ellipse">
            <a:avLst/>
          </a:prstGeom>
        </p:spPr>
      </p:pic>
      <p:pic>
        <p:nvPicPr>
          <p:cNvPr id="3" name="Imagen 2">
            <a:extLst>
              <a:ext uri="{FF2B5EF4-FFF2-40B4-BE49-F238E27FC236}">
                <a16:creationId xmlns:a16="http://schemas.microsoft.com/office/drawing/2014/main" id="{B2BF058F-8D30-1808-C6A6-305A8373625B}"/>
              </a:ext>
            </a:extLst>
          </p:cNvPr>
          <p:cNvPicPr>
            <a:picLocks noChangeAspect="1"/>
          </p:cNvPicPr>
          <p:nvPr/>
        </p:nvPicPr>
        <p:blipFill>
          <a:blip r:embed="rId4"/>
          <a:stretch>
            <a:fillRect/>
          </a:stretch>
        </p:blipFill>
        <p:spPr>
          <a:xfrm>
            <a:off x="993204" y="1251701"/>
            <a:ext cx="16380395" cy="6869198"/>
          </a:xfrm>
          <a:prstGeom prst="rect">
            <a:avLst/>
          </a:prstGeom>
        </p:spPr>
      </p:pic>
      <p:pic>
        <p:nvPicPr>
          <p:cNvPr id="5" name="Picture 6" descr="X png cruzar png transparente antecedentes 38341441 PNG">
            <a:extLst>
              <a:ext uri="{FF2B5EF4-FFF2-40B4-BE49-F238E27FC236}">
                <a16:creationId xmlns:a16="http://schemas.microsoft.com/office/drawing/2014/main" id="{1287D3D2-419A-81FB-B6E1-57E2B7A2E5D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1632" t="12307" r="12449" b="12307"/>
          <a:stretch>
            <a:fillRect/>
          </a:stretch>
        </p:blipFill>
        <p:spPr bwMode="auto">
          <a:xfrm>
            <a:off x="16962082" y="924862"/>
            <a:ext cx="823035" cy="817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nextCondLst>
                <p:cond evt="onClick" delay="0">
                  <p:tgtEl>
                    <p:spTgt spid="8"/>
                  </p:tgtEl>
                </p:cond>
              </p:nextCondLst>
            </p:seq>
            <p:seq concurrent="1" nextAc="seek">
              <p:cTn id="11" restart="whenNotActive" fill="hold" evtFilter="cancelBubble" nodeType="interactiveSeq">
                <p:stCondLst>
                  <p:cond evt="onClick" delay="0">
                    <p:tgtEl>
                      <p:spTgt spid="5"/>
                    </p:tgtEl>
                  </p:cond>
                </p:stCondLst>
                <p:endSync evt="end" delay="0">
                  <p:rtn val="all"/>
                </p:endSync>
                <p:childTnLst>
                  <p:par>
                    <p:cTn id="12" fill="hold">
                      <p:stCondLst>
                        <p:cond delay="0"/>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5"/>
                                        </p:tgtEl>
                                      </p:cBhvr>
                                    </p:animEffect>
                                    <p:set>
                                      <p:cBhvr>
                                        <p:cTn id="16" dur="1" fill="hold">
                                          <p:stCondLst>
                                            <p:cond delay="499"/>
                                          </p:stCondLst>
                                        </p:cTn>
                                        <p:tgtEl>
                                          <p:spTgt spid="5"/>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Freeform 4"/>
          <p:cNvSpPr/>
          <p:nvPr/>
        </p:nvSpPr>
        <p:spPr>
          <a:xfrm>
            <a:off x="6805805" y="4336405"/>
            <a:ext cx="3994713" cy="3442831"/>
          </a:xfrm>
          <a:custGeom>
            <a:avLst/>
            <a:gdLst/>
            <a:ahLst/>
            <a:cxnLst/>
            <a:rect l="l" t="t" r="r" b="b"/>
            <a:pathLst>
              <a:path w="3994713" h="3442831">
                <a:moveTo>
                  <a:pt x="0" y="0"/>
                </a:moveTo>
                <a:lnTo>
                  <a:pt x="3994713" y="0"/>
                </a:lnTo>
                <a:lnTo>
                  <a:pt x="3994713" y="3442831"/>
                </a:lnTo>
                <a:lnTo>
                  <a:pt x="0" y="3442831"/>
                </a:lnTo>
                <a:lnTo>
                  <a:pt x="0" y="0"/>
                </a:lnTo>
                <a:close/>
              </a:path>
            </a:pathLst>
          </a:custGeom>
          <a:blipFill>
            <a:blip r:embed="rId4"/>
            <a:stretch>
              <a:fillRect t="-16029"/>
            </a:stretch>
          </a:blipFill>
        </p:spPr>
        <p:txBody>
          <a:bodyPr/>
          <a:lstStyle/>
          <a:p>
            <a:endParaRPr lang="es-MX"/>
          </a:p>
        </p:txBody>
      </p:sp>
      <p:sp>
        <p:nvSpPr>
          <p:cNvPr id="5" name="TextBox 5"/>
          <p:cNvSpPr txBox="1"/>
          <p:nvPr/>
        </p:nvSpPr>
        <p:spPr>
          <a:xfrm>
            <a:off x="3820023" y="1828641"/>
            <a:ext cx="9966275" cy="1212838"/>
          </a:xfrm>
          <a:prstGeom prst="rect">
            <a:avLst/>
          </a:prstGeom>
        </p:spPr>
        <p:txBody>
          <a:bodyPr lIns="0" tIns="0" rIns="0" bIns="0" rtlCol="0" anchor="t">
            <a:spAutoFit/>
          </a:bodyPr>
          <a:lstStyle/>
          <a:p>
            <a:pPr algn="ctr">
              <a:lnSpc>
                <a:spcPts val="9800"/>
              </a:lnSpc>
            </a:pPr>
            <a:r>
              <a:rPr lang="en-US" sz="7000" b="1" dirty="0" err="1">
                <a:solidFill>
                  <a:srgbClr val="1800AD"/>
                </a:solidFill>
                <a:latin typeface="Archivo Narrow Bold"/>
                <a:ea typeface="Archivo Narrow Bold"/>
                <a:cs typeface="Archivo Narrow Bold"/>
                <a:sym typeface="Archivo Narrow Bold"/>
              </a:rPr>
              <a:t>Planteamiento</a:t>
            </a:r>
            <a:r>
              <a:rPr lang="en-US" sz="7000" b="1" dirty="0">
                <a:solidFill>
                  <a:srgbClr val="1800AD"/>
                </a:solidFill>
                <a:latin typeface="Archivo Narrow Bold"/>
                <a:ea typeface="Archivo Narrow Bold"/>
                <a:cs typeface="Archivo Narrow Bold"/>
                <a:sym typeface="Archivo Narrow Bold"/>
              </a:rPr>
              <a:t> de </a:t>
            </a:r>
            <a:r>
              <a:rPr lang="en-US" sz="7000" b="1" dirty="0" err="1">
                <a:solidFill>
                  <a:srgbClr val="1800AD"/>
                </a:solidFill>
                <a:latin typeface="Archivo Narrow Bold"/>
                <a:ea typeface="Archivo Narrow Bold"/>
                <a:cs typeface="Archivo Narrow Bold"/>
                <a:sym typeface="Archivo Narrow Bold"/>
              </a:rPr>
              <a:t>Problemas</a:t>
            </a:r>
            <a:endParaRPr lang="en-US" sz="7000" b="1" dirty="0">
              <a:solidFill>
                <a:srgbClr val="1800AD"/>
              </a:solidFill>
              <a:latin typeface="Archivo Narrow Bold"/>
              <a:ea typeface="Archivo Narrow Bold"/>
              <a:cs typeface="Archivo Narrow Bold"/>
              <a:sym typeface="Archivo Narrow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300</Words>
  <Application>Microsoft Office PowerPoint</Application>
  <PresentationFormat>Personalizado</PresentationFormat>
  <Paragraphs>24</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Archivo Narrow</vt:lpstr>
      <vt:lpstr>Archivo Narrow Bold</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5 POO</dc:title>
  <cp:lastModifiedBy>a16576</cp:lastModifiedBy>
  <cp:revision>4</cp:revision>
  <dcterms:created xsi:type="dcterms:W3CDTF">2006-08-16T00:00:00Z</dcterms:created>
  <dcterms:modified xsi:type="dcterms:W3CDTF">2025-11-14T05:45:57Z</dcterms:modified>
  <dc:identifier>DAG34liaaGc</dc:identifier>
</cp:coreProperties>
</file>