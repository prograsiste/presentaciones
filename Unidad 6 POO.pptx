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chivo Narrow" panose="020B0604020202020204" charset="0"/>
      <p:regular r:id="rId13"/>
    </p:embeddedFont>
    <p:embeddedFont>
      <p:font typeface="Archivo Narrow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FE76AE-6DCB-41AC-BAB7-14559297DB2E}" type="datetimeFigureOut">
              <a:rPr lang="es-MX" smtClean="0"/>
              <a:t>13/11/2025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12C4DA-4C03-46F8-94D0-E36E5945DA3F}" type="slidenum">
              <a:rPr lang="es-MX" smtClean="0"/>
              <a:t>‹Nº›</a:t>
            </a:fld>
            <a:endParaRPr lang="es-MX"/>
          </a:p>
        </p:txBody>
      </p:sp>
    </p:spTree>
    <p:extLst>
      <p:ext uri="{BB962C8B-B14F-4D97-AF65-F5344CB8AC3E}">
        <p14:creationId xmlns:p14="http://schemas.microsoft.com/office/powerpoint/2010/main" val="2283723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0812C4DA-4C03-46F8-94D0-E36E5945DA3F}" type="slidenum">
              <a:rPr lang="es-MX" smtClean="0"/>
              <a:t>5</a:t>
            </a:fld>
            <a:endParaRPr lang="es-MX"/>
          </a:p>
        </p:txBody>
      </p:sp>
    </p:spTree>
    <p:extLst>
      <p:ext uri="{BB962C8B-B14F-4D97-AF65-F5344CB8AC3E}">
        <p14:creationId xmlns:p14="http://schemas.microsoft.com/office/powerpoint/2010/main" val="1314365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gif"/><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11.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9.gif"/><Relationship Id="rId4" Type="http://schemas.openxmlformats.org/officeDocument/2006/relationships/image" Target="../media/image17.pn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11.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53" b="-9353"/>
            </a:stretch>
          </a:blipFill>
        </p:spPr>
        <p:txBody>
          <a:bodyPr/>
          <a:lstStyle/>
          <a:p>
            <a:endParaRPr lang="es-MX"/>
          </a:p>
        </p:txBody>
      </p:sp>
      <p:sp>
        <p:nvSpPr>
          <p:cNvPr id="3" name="Freeform 3"/>
          <p:cNvSpPr/>
          <p:nvPr/>
        </p:nvSpPr>
        <p:spPr>
          <a:xfrm>
            <a:off x="7434748" y="1724995"/>
            <a:ext cx="3945933" cy="3945933"/>
          </a:xfrm>
          <a:custGeom>
            <a:avLst/>
            <a:gdLst/>
            <a:ahLst/>
            <a:cxnLst/>
            <a:rect l="l" t="t" r="r" b="b"/>
            <a:pathLst>
              <a:path w="3945933" h="3945933">
                <a:moveTo>
                  <a:pt x="0" y="0"/>
                </a:moveTo>
                <a:lnTo>
                  <a:pt x="3945932" y="0"/>
                </a:lnTo>
                <a:lnTo>
                  <a:pt x="3945932" y="3945933"/>
                </a:lnTo>
                <a:lnTo>
                  <a:pt x="0" y="3945933"/>
                </a:lnTo>
                <a:lnTo>
                  <a:pt x="0" y="0"/>
                </a:lnTo>
                <a:close/>
              </a:path>
            </a:pathLst>
          </a:custGeom>
          <a:blipFill>
            <a:blip r:embed="rId3"/>
            <a:stretch>
              <a:fillRect/>
            </a:stretch>
          </a:blipFill>
        </p:spPr>
        <p:txBody>
          <a:bodyPr/>
          <a:lstStyle/>
          <a:p>
            <a:endParaRPr lang="es-MX"/>
          </a:p>
        </p:txBody>
      </p:sp>
      <p:grpSp>
        <p:nvGrpSpPr>
          <p:cNvPr id="4" name="Group 4"/>
          <p:cNvGrpSpPr/>
          <p:nvPr/>
        </p:nvGrpSpPr>
        <p:grpSpPr>
          <a:xfrm>
            <a:off x="13758112" y="-4102512"/>
            <a:ext cx="10689723" cy="10262424"/>
            <a:chOff x="0" y="0"/>
            <a:chExt cx="752667" cy="722581"/>
          </a:xfrm>
        </p:grpSpPr>
        <p:sp>
          <p:nvSpPr>
            <p:cNvPr id="5" name="Freeform 5"/>
            <p:cNvSpPr/>
            <p:nvPr/>
          </p:nvSpPr>
          <p:spPr>
            <a:xfrm>
              <a:off x="-575" y="-575"/>
              <a:ext cx="753818" cy="723731"/>
            </a:xfrm>
            <a:custGeom>
              <a:avLst/>
              <a:gdLst/>
              <a:ahLst/>
              <a:cxnLst/>
              <a:rect l="l" t="t" r="r" b="b"/>
              <a:pathLst>
                <a:path w="753818" h="723731">
                  <a:moveTo>
                    <a:pt x="413303" y="2268"/>
                  </a:moveTo>
                  <a:lnTo>
                    <a:pt x="425291" y="58308"/>
                  </a:lnTo>
                  <a:cubicBezTo>
                    <a:pt x="448494" y="61714"/>
                    <a:pt x="471236" y="67554"/>
                    <a:pt x="493103" y="75748"/>
                  </a:cubicBezTo>
                  <a:lnTo>
                    <a:pt x="532670" y="32976"/>
                  </a:lnTo>
                  <a:cubicBezTo>
                    <a:pt x="554811" y="42633"/>
                    <a:pt x="575924" y="54341"/>
                    <a:pt x="595713" y="67910"/>
                  </a:cubicBezTo>
                  <a:lnTo>
                    <a:pt x="576912" y="122200"/>
                  </a:lnTo>
                  <a:cubicBezTo>
                    <a:pt x="595230" y="136288"/>
                    <a:pt x="611877" y="152265"/>
                    <a:pt x="626554" y="169856"/>
                  </a:cubicBezTo>
                  <a:lnTo>
                    <a:pt x="683095" y="151800"/>
                  </a:lnTo>
                  <a:cubicBezTo>
                    <a:pt x="697237" y="170799"/>
                    <a:pt x="709426" y="191071"/>
                    <a:pt x="719494" y="212326"/>
                  </a:cubicBezTo>
                  <a:lnTo>
                    <a:pt x="674940" y="250311"/>
                  </a:lnTo>
                  <a:cubicBezTo>
                    <a:pt x="683467" y="271307"/>
                    <a:pt x="689560" y="293138"/>
                    <a:pt x="693110" y="315407"/>
                  </a:cubicBezTo>
                  <a:lnTo>
                    <a:pt x="751477" y="326924"/>
                  </a:lnTo>
                  <a:cubicBezTo>
                    <a:pt x="753817" y="350163"/>
                    <a:pt x="753817" y="373567"/>
                    <a:pt x="751477" y="396807"/>
                  </a:cubicBezTo>
                  <a:lnTo>
                    <a:pt x="693110" y="408310"/>
                  </a:lnTo>
                  <a:cubicBezTo>
                    <a:pt x="689560" y="430593"/>
                    <a:pt x="683467" y="452423"/>
                    <a:pt x="674940" y="473419"/>
                  </a:cubicBezTo>
                  <a:lnTo>
                    <a:pt x="719494" y="511405"/>
                  </a:lnTo>
                  <a:cubicBezTo>
                    <a:pt x="709426" y="532660"/>
                    <a:pt x="697237" y="552918"/>
                    <a:pt x="683095" y="571917"/>
                  </a:cubicBezTo>
                  <a:lnTo>
                    <a:pt x="626554" y="553875"/>
                  </a:lnTo>
                  <a:cubicBezTo>
                    <a:pt x="611877" y="571452"/>
                    <a:pt x="595230" y="587443"/>
                    <a:pt x="576912" y="601532"/>
                  </a:cubicBezTo>
                  <a:lnTo>
                    <a:pt x="595713" y="655808"/>
                  </a:lnTo>
                  <a:cubicBezTo>
                    <a:pt x="575924" y="669390"/>
                    <a:pt x="554811" y="681084"/>
                    <a:pt x="532670" y="690755"/>
                  </a:cubicBezTo>
                  <a:lnTo>
                    <a:pt x="493103" y="647982"/>
                  </a:lnTo>
                  <a:cubicBezTo>
                    <a:pt x="471236" y="656163"/>
                    <a:pt x="448494" y="662017"/>
                    <a:pt x="425291" y="665423"/>
                  </a:cubicBezTo>
                  <a:lnTo>
                    <a:pt x="413303" y="721463"/>
                  </a:lnTo>
                  <a:cubicBezTo>
                    <a:pt x="389095" y="723731"/>
                    <a:pt x="364717" y="723731"/>
                    <a:pt x="340508" y="721463"/>
                  </a:cubicBezTo>
                  <a:lnTo>
                    <a:pt x="328520" y="665423"/>
                  </a:lnTo>
                  <a:cubicBezTo>
                    <a:pt x="305316" y="662017"/>
                    <a:pt x="282576" y="656163"/>
                    <a:pt x="260707" y="647982"/>
                  </a:cubicBezTo>
                  <a:lnTo>
                    <a:pt x="221132" y="690755"/>
                  </a:lnTo>
                  <a:cubicBezTo>
                    <a:pt x="199005" y="681084"/>
                    <a:pt x="177889" y="669390"/>
                    <a:pt x="158099" y="655808"/>
                  </a:cubicBezTo>
                  <a:lnTo>
                    <a:pt x="176907" y="601532"/>
                  </a:lnTo>
                  <a:cubicBezTo>
                    <a:pt x="158583" y="587443"/>
                    <a:pt x="141927" y="571452"/>
                    <a:pt x="127252" y="553875"/>
                  </a:cubicBezTo>
                  <a:lnTo>
                    <a:pt x="70715" y="571917"/>
                  </a:lnTo>
                  <a:cubicBezTo>
                    <a:pt x="56581" y="552918"/>
                    <a:pt x="44384" y="532660"/>
                    <a:pt x="34311" y="511405"/>
                  </a:cubicBezTo>
                  <a:lnTo>
                    <a:pt x="78865" y="473419"/>
                  </a:lnTo>
                  <a:cubicBezTo>
                    <a:pt x="70345" y="452423"/>
                    <a:pt x="64246" y="430593"/>
                    <a:pt x="60698" y="408310"/>
                  </a:cubicBezTo>
                  <a:lnTo>
                    <a:pt x="2338" y="396807"/>
                  </a:lnTo>
                  <a:cubicBezTo>
                    <a:pt x="0" y="373567"/>
                    <a:pt x="0" y="350163"/>
                    <a:pt x="2338" y="326924"/>
                  </a:cubicBezTo>
                  <a:lnTo>
                    <a:pt x="60698" y="315407"/>
                  </a:lnTo>
                  <a:cubicBezTo>
                    <a:pt x="64246" y="293138"/>
                    <a:pt x="70345" y="271307"/>
                    <a:pt x="78865" y="250311"/>
                  </a:cubicBezTo>
                  <a:lnTo>
                    <a:pt x="34311" y="212326"/>
                  </a:lnTo>
                  <a:cubicBezTo>
                    <a:pt x="44384" y="191071"/>
                    <a:pt x="56581" y="170799"/>
                    <a:pt x="70715" y="151800"/>
                  </a:cubicBezTo>
                  <a:lnTo>
                    <a:pt x="127252" y="169856"/>
                  </a:lnTo>
                  <a:cubicBezTo>
                    <a:pt x="141927" y="152265"/>
                    <a:pt x="158583" y="136288"/>
                    <a:pt x="176907" y="122200"/>
                  </a:cubicBezTo>
                  <a:lnTo>
                    <a:pt x="158099" y="67910"/>
                  </a:lnTo>
                  <a:cubicBezTo>
                    <a:pt x="177889" y="54341"/>
                    <a:pt x="199005" y="42633"/>
                    <a:pt x="221132" y="32976"/>
                  </a:cubicBezTo>
                  <a:lnTo>
                    <a:pt x="260707" y="75748"/>
                  </a:lnTo>
                  <a:cubicBezTo>
                    <a:pt x="282576" y="67554"/>
                    <a:pt x="305316" y="61714"/>
                    <a:pt x="328520" y="58308"/>
                  </a:cubicBezTo>
                  <a:lnTo>
                    <a:pt x="340508" y="2268"/>
                  </a:lnTo>
                  <a:cubicBezTo>
                    <a:pt x="364717" y="0"/>
                    <a:pt x="389095" y="0"/>
                    <a:pt x="413303" y="2268"/>
                  </a:cubicBezTo>
                  <a:close/>
                  <a:moveTo>
                    <a:pt x="376906" y="136070"/>
                  </a:moveTo>
                  <a:cubicBezTo>
                    <a:pt x="247093" y="136070"/>
                    <a:pt x="141713" y="237249"/>
                    <a:pt x="141713" y="361859"/>
                  </a:cubicBezTo>
                  <a:cubicBezTo>
                    <a:pt x="141713" y="486482"/>
                    <a:pt x="247093" y="587661"/>
                    <a:pt x="376906" y="587661"/>
                  </a:cubicBezTo>
                  <a:cubicBezTo>
                    <a:pt x="506714" y="587661"/>
                    <a:pt x="612101" y="486482"/>
                    <a:pt x="612101" y="361859"/>
                  </a:cubicBezTo>
                  <a:cubicBezTo>
                    <a:pt x="612101" y="237249"/>
                    <a:pt x="506714" y="136070"/>
                    <a:pt x="376906" y="136070"/>
                  </a:cubicBezTo>
                  <a:close/>
                </a:path>
              </a:pathLst>
            </a:custGeom>
            <a:solidFill>
              <a:srgbClr val="1800AD"/>
            </a:solidFill>
          </p:spPr>
          <p:txBody>
            <a:bodyPr/>
            <a:lstStyle/>
            <a:p>
              <a:endParaRPr lang="es-MX"/>
            </a:p>
          </p:txBody>
        </p:sp>
        <p:sp>
          <p:nvSpPr>
            <p:cNvPr id="6" name="TextBox 6"/>
            <p:cNvSpPr txBox="1"/>
            <p:nvPr/>
          </p:nvSpPr>
          <p:spPr>
            <a:xfrm>
              <a:off x="149236" y="95645"/>
              <a:ext cx="454196" cy="48366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rot="5400000">
            <a:off x="-132820" y="1701236"/>
            <a:ext cx="5131212" cy="2808172"/>
          </a:xfrm>
          <a:custGeom>
            <a:avLst/>
            <a:gdLst/>
            <a:ahLst/>
            <a:cxnLst/>
            <a:rect l="l" t="t" r="r" b="b"/>
            <a:pathLst>
              <a:path w="5131212" h="2808172">
                <a:moveTo>
                  <a:pt x="0" y="0"/>
                </a:moveTo>
                <a:lnTo>
                  <a:pt x="5131212" y="0"/>
                </a:lnTo>
                <a:lnTo>
                  <a:pt x="5131212" y="2808172"/>
                </a:lnTo>
                <a:lnTo>
                  <a:pt x="0" y="28081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a:p>
        </p:txBody>
      </p:sp>
      <p:grpSp>
        <p:nvGrpSpPr>
          <p:cNvPr id="8" name="Group 8"/>
          <p:cNvGrpSpPr/>
          <p:nvPr/>
        </p:nvGrpSpPr>
        <p:grpSpPr>
          <a:xfrm rot="5400000">
            <a:off x="15719854" y="8005434"/>
            <a:ext cx="1482905" cy="1297542"/>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1800AD"/>
            </a:solidFill>
          </p:spPr>
          <p:txBody>
            <a:bodyPr/>
            <a:lstStyle/>
            <a:p>
              <a:endParaRPr lang="es-MX"/>
            </a:p>
          </p:txBody>
        </p:sp>
        <p:sp>
          <p:nvSpPr>
            <p:cNvPr id="10" name="TextBox 10"/>
            <p:cNvSpPr txBox="1"/>
            <p:nvPr/>
          </p:nvSpPr>
          <p:spPr>
            <a:xfrm>
              <a:off x="127000" y="282575"/>
              <a:ext cx="558800" cy="37782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3836872" y="7554930"/>
            <a:ext cx="9628460" cy="639445"/>
          </a:xfrm>
          <a:prstGeom prst="rect">
            <a:avLst/>
          </a:prstGeom>
        </p:spPr>
        <p:txBody>
          <a:bodyPr lIns="0" tIns="0" rIns="0" bIns="0" rtlCol="0" anchor="t">
            <a:spAutoFit/>
          </a:bodyPr>
          <a:lstStyle/>
          <a:p>
            <a:pPr algn="l">
              <a:lnSpc>
                <a:spcPts val="5179"/>
              </a:lnSpc>
            </a:pPr>
            <a:r>
              <a:rPr lang="en-US" sz="3699">
                <a:solidFill>
                  <a:srgbClr val="1800AD"/>
                </a:solidFill>
                <a:latin typeface="Archivo Narrow"/>
                <a:ea typeface="Archivo Narrow"/>
                <a:cs typeface="Archivo Narrow"/>
                <a:sym typeface="Archivo Narrow"/>
              </a:rPr>
              <a:t>Tema 6:  Flujos y archivos</a:t>
            </a:r>
          </a:p>
        </p:txBody>
      </p:sp>
      <p:grpSp>
        <p:nvGrpSpPr>
          <p:cNvPr id="12" name="Group 12"/>
          <p:cNvGrpSpPr/>
          <p:nvPr/>
        </p:nvGrpSpPr>
        <p:grpSpPr>
          <a:xfrm rot="5400000">
            <a:off x="14422312" y="8005434"/>
            <a:ext cx="1482905" cy="1297542"/>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1800AD"/>
            </a:solidFill>
          </p:spPr>
          <p:txBody>
            <a:bodyPr/>
            <a:lstStyle/>
            <a:p>
              <a:endParaRPr lang="es-MX"/>
            </a:p>
          </p:txBody>
        </p:sp>
        <p:sp>
          <p:nvSpPr>
            <p:cNvPr id="14" name="TextBox 14"/>
            <p:cNvSpPr txBox="1"/>
            <p:nvPr/>
          </p:nvSpPr>
          <p:spPr>
            <a:xfrm>
              <a:off x="127000" y="282575"/>
              <a:ext cx="558800" cy="37782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rot="5400000">
            <a:off x="13124770" y="8005434"/>
            <a:ext cx="1482905" cy="1297542"/>
            <a:chOff x="0" y="0"/>
            <a:chExt cx="812800" cy="711200"/>
          </a:xfrm>
        </p:grpSpPr>
        <p:sp>
          <p:nvSpPr>
            <p:cNvPr id="16" name="Freeform 1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1800AD"/>
            </a:solidFill>
          </p:spPr>
          <p:txBody>
            <a:bodyPr/>
            <a:lstStyle/>
            <a:p>
              <a:endParaRPr lang="es-MX"/>
            </a:p>
          </p:txBody>
        </p:sp>
        <p:sp>
          <p:nvSpPr>
            <p:cNvPr id="17" name="TextBox 17"/>
            <p:cNvSpPr txBox="1"/>
            <p:nvPr/>
          </p:nvSpPr>
          <p:spPr>
            <a:xfrm>
              <a:off x="127000" y="282575"/>
              <a:ext cx="558800" cy="377825"/>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3836872" y="6552899"/>
            <a:ext cx="11975663" cy="1078231"/>
          </a:xfrm>
          <a:prstGeom prst="rect">
            <a:avLst/>
          </a:prstGeom>
        </p:spPr>
        <p:txBody>
          <a:bodyPr lIns="0" tIns="0" rIns="0" bIns="0" rtlCol="0" anchor="t">
            <a:spAutoFit/>
          </a:bodyPr>
          <a:lstStyle/>
          <a:p>
            <a:pPr algn="l">
              <a:lnSpc>
                <a:spcPts val="8819"/>
              </a:lnSpc>
            </a:pPr>
            <a:r>
              <a:rPr lang="en-US" sz="6299">
                <a:solidFill>
                  <a:srgbClr val="1800AD"/>
                </a:solidFill>
                <a:latin typeface="Archivo Narrow"/>
                <a:ea typeface="Archivo Narrow"/>
                <a:cs typeface="Archivo Narrow"/>
                <a:sym typeface="Archivo Narrow"/>
              </a:rPr>
              <a:t>Instituto Tecnologico de Orizaba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05" b="-13405"/>
            </a:stretch>
          </a:blipFill>
        </p:spPr>
        <p:txBody>
          <a:bodyPr/>
          <a:lstStyle/>
          <a:p>
            <a:endParaRPr lang="es-MX"/>
          </a:p>
        </p:txBody>
      </p:sp>
      <p:sp>
        <p:nvSpPr>
          <p:cNvPr id="3" name="Freeform 3"/>
          <p:cNvSpPr/>
          <p:nvPr/>
        </p:nvSpPr>
        <p:spPr>
          <a:xfrm>
            <a:off x="4737519" y="260409"/>
            <a:ext cx="8812963" cy="2037998"/>
          </a:xfrm>
          <a:custGeom>
            <a:avLst/>
            <a:gdLst/>
            <a:ahLst/>
            <a:cxnLst/>
            <a:rect l="l" t="t" r="r" b="b"/>
            <a:pathLst>
              <a:path w="8812963" h="2037998">
                <a:moveTo>
                  <a:pt x="0" y="0"/>
                </a:moveTo>
                <a:lnTo>
                  <a:pt x="8812962" y="0"/>
                </a:lnTo>
                <a:lnTo>
                  <a:pt x="8812962" y="2037998"/>
                </a:lnTo>
                <a:lnTo>
                  <a:pt x="0" y="2037998"/>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3067527" y="4570807"/>
            <a:ext cx="12152946" cy="1021561"/>
          </a:xfrm>
          <a:prstGeom prst="rect">
            <a:avLst/>
          </a:prstGeom>
        </p:spPr>
        <p:txBody>
          <a:bodyPr lIns="0" tIns="0" rIns="0" bIns="0" rtlCol="0" anchor="t">
            <a:spAutoFit/>
          </a:bodyPr>
          <a:lstStyle/>
          <a:p>
            <a:pPr algn="ctr">
              <a:lnSpc>
                <a:spcPts val="8268"/>
              </a:lnSpc>
            </a:pPr>
            <a:r>
              <a:rPr lang="en-US" sz="5906" b="1">
                <a:solidFill>
                  <a:srgbClr val="1800AD"/>
                </a:solidFill>
                <a:latin typeface="Archivo Narrow Bold"/>
                <a:ea typeface="Archivo Narrow Bold"/>
                <a:cs typeface="Archivo Narrow Bold"/>
                <a:sym typeface="Archivo Narrow Bold"/>
              </a:rPr>
              <a:t>6.1 Definición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3" name="TextBox 3"/>
          <p:cNvSpPr txBox="1"/>
          <p:nvPr/>
        </p:nvSpPr>
        <p:spPr>
          <a:xfrm>
            <a:off x="2120198" y="1744345"/>
            <a:ext cx="14103120" cy="5559425"/>
          </a:xfrm>
          <a:prstGeom prst="rect">
            <a:avLst/>
          </a:prstGeom>
        </p:spPr>
        <p:txBody>
          <a:bodyPr lIns="0" tIns="0" rIns="0" bIns="0" rtlCol="0" anchor="t">
            <a:spAutoFit/>
          </a:bodyPr>
          <a:lstStyle/>
          <a:p>
            <a:pPr algn="just">
              <a:lnSpc>
                <a:spcPts val="4899"/>
              </a:lnSpc>
            </a:pPr>
            <a:r>
              <a:rPr lang="en-US" sz="3499">
                <a:solidFill>
                  <a:srgbClr val="000000"/>
                </a:solidFill>
                <a:latin typeface="Archivo Narrow"/>
                <a:ea typeface="Archivo Narrow"/>
                <a:cs typeface="Archivo Narrow"/>
                <a:sym typeface="Archivo Narrow"/>
              </a:rPr>
              <a:t>En el lenguaje Java, los flujos y archivos son mecanismos que permiten la entrada y salida (E/S) de datos entre el programa y dispositivos externos, como el disco duro, el teclado, la red o la memoria.</a:t>
            </a:r>
          </a:p>
          <a:p>
            <a:pPr algn="just">
              <a:lnSpc>
                <a:spcPts val="4899"/>
              </a:lnSpc>
            </a:pPr>
            <a:r>
              <a:rPr lang="en-US" sz="3499">
                <a:solidFill>
                  <a:srgbClr val="000000"/>
                </a:solidFill>
                <a:latin typeface="Archivo Narrow"/>
                <a:ea typeface="Archivo Narrow"/>
                <a:cs typeface="Archivo Narrow"/>
                <a:sym typeface="Archivo Narrow"/>
              </a:rPr>
              <a:t>Un flujo (stream) es una secuencia ordenada de datos que se mueven de una fuente a un destino.</a:t>
            </a:r>
          </a:p>
          <a:p>
            <a:pPr marL="755649" lvl="1" indent="-377824" algn="just">
              <a:lnSpc>
                <a:spcPts val="4899"/>
              </a:lnSpc>
              <a:buFont typeface="Arial"/>
              <a:buChar char="•"/>
            </a:pPr>
            <a:r>
              <a:rPr lang="en-US" sz="3499">
                <a:solidFill>
                  <a:srgbClr val="000000"/>
                </a:solidFill>
                <a:latin typeface="Archivo Narrow"/>
                <a:ea typeface="Archivo Narrow"/>
                <a:cs typeface="Archivo Narrow"/>
                <a:sym typeface="Archivo Narrow"/>
              </a:rPr>
              <a:t>Entrada (InputStream / Reader): datos que el programa recibe (por ejemplo, leer un archivo).</a:t>
            </a:r>
          </a:p>
          <a:p>
            <a:pPr marL="755649" lvl="1" indent="-377824" algn="just">
              <a:lnSpc>
                <a:spcPts val="4899"/>
              </a:lnSpc>
              <a:buFont typeface="Arial"/>
              <a:buChar char="•"/>
            </a:pPr>
            <a:r>
              <a:rPr lang="en-US" sz="3499">
                <a:solidFill>
                  <a:srgbClr val="000000"/>
                </a:solidFill>
                <a:latin typeface="Archivo Narrow"/>
                <a:ea typeface="Archivo Narrow"/>
                <a:cs typeface="Archivo Narrow"/>
                <a:sym typeface="Archivo Narrow"/>
              </a:rPr>
              <a:t>Salida (OutputStream / Writer): datos que el programa envía (por ejemplo, escribir en un archivo).</a:t>
            </a:r>
          </a:p>
        </p:txBody>
      </p:sp>
      <p:sp>
        <p:nvSpPr>
          <p:cNvPr id="4" name="TextBox 4"/>
          <p:cNvSpPr txBox="1"/>
          <p:nvPr/>
        </p:nvSpPr>
        <p:spPr>
          <a:xfrm>
            <a:off x="8346579" y="914400"/>
            <a:ext cx="1594842" cy="906145"/>
          </a:xfrm>
          <a:prstGeom prst="rect">
            <a:avLst/>
          </a:prstGeom>
        </p:spPr>
        <p:txBody>
          <a:bodyPr lIns="0" tIns="0" rIns="0" bIns="0" rtlCol="0" anchor="t">
            <a:spAutoFit/>
          </a:bodyPr>
          <a:lstStyle/>
          <a:p>
            <a:pPr algn="ctr">
              <a:lnSpc>
                <a:spcPts val="7279"/>
              </a:lnSpc>
            </a:pPr>
            <a:r>
              <a:rPr lang="en-US" sz="5199" b="1">
                <a:solidFill>
                  <a:srgbClr val="000000"/>
                </a:solidFill>
                <a:latin typeface="Archivo Narrow Bold"/>
                <a:ea typeface="Archivo Narrow Bold"/>
                <a:cs typeface="Archivo Narrow Bold"/>
                <a:sym typeface="Archivo Narrow Bold"/>
              </a:rPr>
              <a:t>Flujos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05" b="-13405"/>
            </a:stretch>
          </a:blipFill>
        </p:spPr>
        <p:txBody>
          <a:bodyPr/>
          <a:lstStyle/>
          <a:p>
            <a:endParaRPr lang="es-MX"/>
          </a:p>
        </p:txBody>
      </p:sp>
      <p:sp>
        <p:nvSpPr>
          <p:cNvPr id="3" name="Freeform 3"/>
          <p:cNvSpPr/>
          <p:nvPr/>
        </p:nvSpPr>
        <p:spPr>
          <a:xfrm>
            <a:off x="4737519" y="260409"/>
            <a:ext cx="8812963" cy="2037998"/>
          </a:xfrm>
          <a:custGeom>
            <a:avLst/>
            <a:gdLst/>
            <a:ahLst/>
            <a:cxnLst/>
            <a:rect l="l" t="t" r="r" b="b"/>
            <a:pathLst>
              <a:path w="8812963" h="2037998">
                <a:moveTo>
                  <a:pt x="0" y="0"/>
                </a:moveTo>
                <a:lnTo>
                  <a:pt x="8812962" y="0"/>
                </a:lnTo>
                <a:lnTo>
                  <a:pt x="8812962" y="2037998"/>
                </a:lnTo>
                <a:lnTo>
                  <a:pt x="0" y="2037998"/>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3067527" y="4356783"/>
            <a:ext cx="12152946" cy="2069311"/>
          </a:xfrm>
          <a:prstGeom prst="rect">
            <a:avLst/>
          </a:prstGeom>
        </p:spPr>
        <p:txBody>
          <a:bodyPr lIns="0" tIns="0" rIns="0" bIns="0" rtlCol="0" anchor="t">
            <a:spAutoFit/>
          </a:bodyPr>
          <a:lstStyle/>
          <a:p>
            <a:pPr algn="ctr">
              <a:lnSpc>
                <a:spcPts val="8268"/>
              </a:lnSpc>
            </a:pPr>
            <a:r>
              <a:rPr lang="en-US" sz="5906" b="1">
                <a:solidFill>
                  <a:srgbClr val="1800AD"/>
                </a:solidFill>
                <a:latin typeface="Archivo Narrow Bold"/>
                <a:ea typeface="Archivo Narrow Bold"/>
                <a:cs typeface="Archivo Narrow Bold"/>
                <a:sym typeface="Archivo Narrow Bold"/>
              </a:rPr>
              <a:t>6.2 Clasificación: Archivos de texto y binarios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EC0BF8D2-B652-B3C7-EC9F-D1E03C82E82C}"/>
              </a:ext>
            </a:extLst>
          </p:cNvPr>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3"/>
            <a:stretch>
              <a:fillRect t="-905" b="-905"/>
            </a:stretch>
          </a:blipFill>
        </p:spPr>
        <p:txBody>
          <a:bodyPr/>
          <a:lstStyle/>
          <a:p>
            <a:endParaRPr lang="es-MX"/>
          </a:p>
        </p:txBody>
      </p:sp>
      <p:pic>
        <p:nvPicPr>
          <p:cNvPr id="4" name="Imagen 3">
            <a:extLst>
              <a:ext uri="{FF2B5EF4-FFF2-40B4-BE49-F238E27FC236}">
                <a16:creationId xmlns:a16="http://schemas.microsoft.com/office/drawing/2014/main" id="{3263CACA-FCC5-76D3-CA91-F2F15B414B7D}"/>
              </a:ext>
            </a:extLst>
          </p:cNvPr>
          <p:cNvPicPr>
            <a:picLocks noChangeAspect="1"/>
          </p:cNvPicPr>
          <p:nvPr/>
        </p:nvPicPr>
        <p:blipFill>
          <a:blip r:embed="rId4"/>
          <a:srcRect l="1884"/>
          <a:stretch>
            <a:fillRect/>
          </a:stretch>
        </p:blipFill>
        <p:spPr>
          <a:xfrm>
            <a:off x="2574702" y="2514600"/>
            <a:ext cx="13181690" cy="5257800"/>
          </a:xfrm>
          <a:prstGeom prst="rect">
            <a:avLst/>
          </a:prstGeom>
        </p:spPr>
      </p:pic>
      <p:sp>
        <p:nvSpPr>
          <p:cNvPr id="6" name="CuadroTexto 5">
            <a:extLst>
              <a:ext uri="{FF2B5EF4-FFF2-40B4-BE49-F238E27FC236}">
                <a16:creationId xmlns:a16="http://schemas.microsoft.com/office/drawing/2014/main" id="{F94D76CF-5581-BD68-9269-4E0844182664}"/>
              </a:ext>
            </a:extLst>
          </p:cNvPr>
          <p:cNvSpPr txBox="1"/>
          <p:nvPr/>
        </p:nvSpPr>
        <p:spPr>
          <a:xfrm>
            <a:off x="3852369" y="1485900"/>
            <a:ext cx="10583262" cy="923330"/>
          </a:xfrm>
          <a:prstGeom prst="rect">
            <a:avLst/>
          </a:prstGeom>
          <a:noFill/>
        </p:spPr>
        <p:txBody>
          <a:bodyPr wrap="square">
            <a:spAutoFit/>
          </a:bodyPr>
          <a:lstStyle/>
          <a:p>
            <a:pPr algn="ctr"/>
            <a:r>
              <a:rPr lang="es-MX" sz="5400" b="1" dirty="0">
                <a:latin typeface="Archivo Narrow" panose="020B0604020202020204" charset="0"/>
              </a:rPr>
              <a:t>Clasificación: Archivos de texto y binarios</a:t>
            </a:r>
          </a:p>
        </p:txBody>
      </p:sp>
      <p:pic>
        <p:nvPicPr>
          <p:cNvPr id="7" name="Imagen 6" descr="Icono&#10;&#10;El contenido generado por IA puede ser incorrecto.">
            <a:extLst>
              <a:ext uri="{FF2B5EF4-FFF2-40B4-BE49-F238E27FC236}">
                <a16:creationId xmlns:a16="http://schemas.microsoft.com/office/drawing/2014/main" id="{E80C4E38-6E82-73CF-D2FE-9F67B6BA7D2A}"/>
              </a:ext>
            </a:extLst>
          </p:cNvPr>
          <p:cNvPicPr>
            <a:picLocks noChangeAspect="1"/>
          </p:cNvPicPr>
          <p:nvPr/>
        </p:nvPicPr>
        <p:blipFill>
          <a:blip r:embed="rId5" cstate="print">
            <a:extLst>
              <a:ext uri="{28A0092B-C50C-407E-A947-70E740481C1C}">
                <a14:useLocalDpi xmlns:a14="http://schemas.microsoft.com/office/drawing/2010/main" val="0"/>
              </a:ext>
            </a:extLst>
          </a:blip>
          <a:srcRect l="30377" t="16327" r="30874" b="16452"/>
          <a:stretch>
            <a:fillRect/>
          </a:stretch>
        </p:blipFill>
        <p:spPr>
          <a:xfrm>
            <a:off x="10820400" y="2700434"/>
            <a:ext cx="990049" cy="966096"/>
          </a:xfrm>
          <a:prstGeom prst="ellipse">
            <a:avLst/>
          </a:prstGeom>
        </p:spPr>
      </p:pic>
      <p:pic>
        <p:nvPicPr>
          <p:cNvPr id="8" name="Imagen 7">
            <a:extLst>
              <a:ext uri="{FF2B5EF4-FFF2-40B4-BE49-F238E27FC236}">
                <a16:creationId xmlns:a16="http://schemas.microsoft.com/office/drawing/2014/main" id="{BEA0D6D4-B2D3-FF30-FCAC-C878948663EB}"/>
              </a:ext>
            </a:extLst>
          </p:cNvPr>
          <p:cNvPicPr>
            <a:picLocks noChangeAspect="1"/>
          </p:cNvPicPr>
          <p:nvPr/>
        </p:nvPicPr>
        <p:blipFill>
          <a:blip r:embed="rId6"/>
          <a:stretch>
            <a:fillRect/>
          </a:stretch>
        </p:blipFill>
        <p:spPr>
          <a:xfrm>
            <a:off x="3085636" y="810485"/>
            <a:ext cx="7577642" cy="2274160"/>
          </a:xfrm>
          <a:prstGeom prst="rect">
            <a:avLst/>
          </a:prstGeom>
        </p:spPr>
      </p:pic>
      <p:pic>
        <p:nvPicPr>
          <p:cNvPr id="9" name="Picture 6" descr="X png cruzar png transparente antecedentes 38341441 PNG">
            <a:extLst>
              <a:ext uri="{FF2B5EF4-FFF2-40B4-BE49-F238E27FC236}">
                <a16:creationId xmlns:a16="http://schemas.microsoft.com/office/drawing/2014/main" id="{A2A07A83-96EF-B7CB-6D5B-58154AE81FDD}"/>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1632" t="12307" r="12449" b="12307"/>
          <a:stretch>
            <a:fillRect/>
          </a:stretch>
        </p:blipFill>
        <p:spPr bwMode="auto">
          <a:xfrm>
            <a:off x="10378684" y="565829"/>
            <a:ext cx="642523" cy="638026"/>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descr="Icono&#10;&#10;El contenido generado por IA puede ser incorrecto.">
            <a:extLst>
              <a:ext uri="{FF2B5EF4-FFF2-40B4-BE49-F238E27FC236}">
                <a16:creationId xmlns:a16="http://schemas.microsoft.com/office/drawing/2014/main" id="{56AFDE8B-E159-C539-3726-917295D742FA}"/>
              </a:ext>
            </a:extLst>
          </p:cNvPr>
          <p:cNvPicPr>
            <a:picLocks noChangeAspect="1"/>
          </p:cNvPicPr>
          <p:nvPr/>
        </p:nvPicPr>
        <p:blipFill>
          <a:blip r:embed="rId5" cstate="print">
            <a:extLst>
              <a:ext uri="{28A0092B-C50C-407E-A947-70E740481C1C}">
                <a14:useLocalDpi xmlns:a14="http://schemas.microsoft.com/office/drawing/2010/main" val="0"/>
              </a:ext>
            </a:extLst>
          </a:blip>
          <a:srcRect l="30377" t="16327" r="30874" b="16452"/>
          <a:stretch>
            <a:fillRect/>
          </a:stretch>
        </p:blipFill>
        <p:spPr>
          <a:xfrm>
            <a:off x="4419600" y="6648527"/>
            <a:ext cx="1207011" cy="1177809"/>
          </a:xfrm>
          <a:prstGeom prst="ellipse">
            <a:avLst/>
          </a:prstGeom>
        </p:spPr>
      </p:pic>
      <p:pic>
        <p:nvPicPr>
          <p:cNvPr id="13" name="Imagen 12">
            <a:extLst>
              <a:ext uri="{FF2B5EF4-FFF2-40B4-BE49-F238E27FC236}">
                <a16:creationId xmlns:a16="http://schemas.microsoft.com/office/drawing/2014/main" id="{C183ABC3-3CB6-A242-B48A-DAC2E85DBFA5}"/>
              </a:ext>
            </a:extLst>
          </p:cNvPr>
          <p:cNvPicPr>
            <a:picLocks noChangeAspect="1"/>
          </p:cNvPicPr>
          <p:nvPr/>
        </p:nvPicPr>
        <p:blipFill>
          <a:blip r:embed="rId8"/>
          <a:stretch>
            <a:fillRect/>
          </a:stretch>
        </p:blipFill>
        <p:spPr>
          <a:xfrm>
            <a:off x="162183" y="3916561"/>
            <a:ext cx="7594824" cy="2324051"/>
          </a:xfrm>
          <a:prstGeom prst="rect">
            <a:avLst/>
          </a:prstGeom>
        </p:spPr>
      </p:pic>
      <p:pic>
        <p:nvPicPr>
          <p:cNvPr id="14" name="Picture 6" descr="X png cruzar png transparente antecedentes 38341441 PNG">
            <a:extLst>
              <a:ext uri="{FF2B5EF4-FFF2-40B4-BE49-F238E27FC236}">
                <a16:creationId xmlns:a16="http://schemas.microsoft.com/office/drawing/2014/main" id="{CC2FF7AF-D17E-8FE1-469C-68E4CF0B745A}"/>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1632" t="12307" r="12449" b="12307"/>
          <a:stretch>
            <a:fillRect/>
          </a:stretch>
        </p:blipFill>
        <p:spPr bwMode="auto">
          <a:xfrm>
            <a:off x="7295120" y="3597548"/>
            <a:ext cx="642523" cy="638026"/>
          </a:xfrm>
          <a:prstGeom prst="rect">
            <a:avLst/>
          </a:prstGeom>
          <a:noFill/>
          <a:extLst>
            <a:ext uri="{909E8E84-426E-40DD-AFC4-6F175D3DCCD1}">
              <a14:hiddenFill xmlns:a14="http://schemas.microsoft.com/office/drawing/2010/main">
                <a:solidFill>
                  <a:srgbClr val="FFFFFF"/>
                </a:solidFill>
              </a14:hiddenFill>
            </a:ext>
          </a:extLst>
        </p:spPr>
      </p:pic>
      <p:pic>
        <p:nvPicPr>
          <p:cNvPr id="16" name="Imagen 15">
            <a:extLst>
              <a:ext uri="{FF2B5EF4-FFF2-40B4-BE49-F238E27FC236}">
                <a16:creationId xmlns:a16="http://schemas.microsoft.com/office/drawing/2014/main" id="{1811AF53-C131-9953-1D21-2E16943F7136}"/>
              </a:ext>
            </a:extLst>
          </p:cNvPr>
          <p:cNvPicPr>
            <a:picLocks noChangeAspect="1"/>
          </p:cNvPicPr>
          <p:nvPr/>
        </p:nvPicPr>
        <p:blipFill>
          <a:blip r:embed="rId9"/>
          <a:stretch>
            <a:fillRect/>
          </a:stretch>
        </p:blipFill>
        <p:spPr>
          <a:xfrm>
            <a:off x="6723944" y="3884037"/>
            <a:ext cx="6891164" cy="2274160"/>
          </a:xfrm>
          <a:prstGeom prst="rect">
            <a:avLst/>
          </a:prstGeom>
        </p:spPr>
      </p:pic>
      <p:pic>
        <p:nvPicPr>
          <p:cNvPr id="17" name="Picture 6" descr="X png cruzar png transparente antecedentes 38341441 PNG">
            <a:extLst>
              <a:ext uri="{FF2B5EF4-FFF2-40B4-BE49-F238E27FC236}">
                <a16:creationId xmlns:a16="http://schemas.microsoft.com/office/drawing/2014/main" id="{7C2CC052-BAC6-ADDF-557B-2D11A4BF1F71}"/>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1632" t="12307" r="12449" b="12307"/>
          <a:stretch>
            <a:fillRect/>
          </a:stretch>
        </p:blipFill>
        <p:spPr bwMode="auto">
          <a:xfrm>
            <a:off x="13074048" y="3599659"/>
            <a:ext cx="642523" cy="638026"/>
          </a:xfrm>
          <a:prstGeom prst="rect">
            <a:avLst/>
          </a:prstGeom>
          <a:noFill/>
          <a:extLst>
            <a:ext uri="{909E8E84-426E-40DD-AFC4-6F175D3DCCD1}">
              <a14:hiddenFill xmlns:a14="http://schemas.microsoft.com/office/drawing/2010/main">
                <a:solidFill>
                  <a:srgbClr val="FFFFFF"/>
                </a:solidFill>
              </a14:hiddenFill>
            </a:ext>
          </a:extLst>
        </p:spPr>
      </p:pic>
      <p:pic>
        <p:nvPicPr>
          <p:cNvPr id="18" name="Imagen 17" descr="Icono&#10;&#10;El contenido generado por IA puede ser incorrecto.">
            <a:extLst>
              <a:ext uri="{FF2B5EF4-FFF2-40B4-BE49-F238E27FC236}">
                <a16:creationId xmlns:a16="http://schemas.microsoft.com/office/drawing/2014/main" id="{F2FB4805-3336-7001-0BD7-52FB47D0AE3C}"/>
              </a:ext>
            </a:extLst>
          </p:cNvPr>
          <p:cNvPicPr>
            <a:picLocks noChangeAspect="1"/>
          </p:cNvPicPr>
          <p:nvPr/>
        </p:nvPicPr>
        <p:blipFill>
          <a:blip r:embed="rId5" cstate="print">
            <a:extLst>
              <a:ext uri="{28A0092B-C50C-407E-A947-70E740481C1C}">
                <a14:useLocalDpi xmlns:a14="http://schemas.microsoft.com/office/drawing/2010/main" val="0"/>
              </a:ext>
            </a:extLst>
          </a:blip>
          <a:srcRect l="30377" t="16327" r="30874" b="16452"/>
          <a:stretch>
            <a:fillRect/>
          </a:stretch>
        </p:blipFill>
        <p:spPr>
          <a:xfrm>
            <a:off x="10067525" y="6703344"/>
            <a:ext cx="1207011" cy="1177809"/>
          </a:xfrm>
          <a:prstGeom prst="ellipse">
            <a:avLst/>
          </a:prstGeom>
        </p:spPr>
      </p:pic>
      <p:pic>
        <p:nvPicPr>
          <p:cNvPr id="19" name="Imagen 18" descr="Icono&#10;&#10;El contenido generado por IA puede ser incorrecto.">
            <a:extLst>
              <a:ext uri="{FF2B5EF4-FFF2-40B4-BE49-F238E27FC236}">
                <a16:creationId xmlns:a16="http://schemas.microsoft.com/office/drawing/2014/main" id="{4D2E593E-8797-D1C0-25B9-679992602E7C}"/>
              </a:ext>
            </a:extLst>
          </p:cNvPr>
          <p:cNvPicPr>
            <a:picLocks noChangeAspect="1"/>
          </p:cNvPicPr>
          <p:nvPr/>
        </p:nvPicPr>
        <p:blipFill>
          <a:blip r:embed="rId5" cstate="print">
            <a:extLst>
              <a:ext uri="{28A0092B-C50C-407E-A947-70E740481C1C}">
                <a14:useLocalDpi xmlns:a14="http://schemas.microsoft.com/office/drawing/2010/main" val="0"/>
              </a:ext>
            </a:extLst>
          </a:blip>
          <a:srcRect l="30377" t="16327" r="30874" b="16452"/>
          <a:stretch>
            <a:fillRect/>
          </a:stretch>
        </p:blipFill>
        <p:spPr>
          <a:xfrm>
            <a:off x="7012875" y="6771580"/>
            <a:ext cx="1207011" cy="1177809"/>
          </a:xfrm>
          <a:prstGeom prst="ellipse">
            <a:avLst/>
          </a:prstGeom>
        </p:spPr>
      </p:pic>
      <p:pic>
        <p:nvPicPr>
          <p:cNvPr id="24" name="Imagen 23" descr="Icono&#10;&#10;El contenido generado por IA puede ser incorrecto.">
            <a:extLst>
              <a:ext uri="{FF2B5EF4-FFF2-40B4-BE49-F238E27FC236}">
                <a16:creationId xmlns:a16="http://schemas.microsoft.com/office/drawing/2014/main" id="{A880B95D-4133-4AFD-D6BF-CD95B2F048D5}"/>
              </a:ext>
            </a:extLst>
          </p:cNvPr>
          <p:cNvPicPr>
            <a:picLocks noChangeAspect="1"/>
          </p:cNvPicPr>
          <p:nvPr/>
        </p:nvPicPr>
        <p:blipFill>
          <a:blip r:embed="rId5" cstate="print">
            <a:extLst>
              <a:ext uri="{28A0092B-C50C-407E-A947-70E740481C1C}">
                <a14:useLocalDpi xmlns:a14="http://schemas.microsoft.com/office/drawing/2010/main" val="0"/>
              </a:ext>
            </a:extLst>
          </a:blip>
          <a:srcRect l="30377" t="16327" r="30874" b="16452"/>
          <a:stretch>
            <a:fillRect/>
          </a:stretch>
        </p:blipFill>
        <p:spPr>
          <a:xfrm>
            <a:off x="12557136" y="6613561"/>
            <a:ext cx="1207011" cy="1177809"/>
          </a:xfrm>
          <a:prstGeom prst="ellipse">
            <a:avLst/>
          </a:prstGeom>
        </p:spPr>
      </p:pic>
      <p:pic>
        <p:nvPicPr>
          <p:cNvPr id="21" name="Imagen 20">
            <a:extLst>
              <a:ext uri="{FF2B5EF4-FFF2-40B4-BE49-F238E27FC236}">
                <a16:creationId xmlns:a16="http://schemas.microsoft.com/office/drawing/2014/main" id="{EFFED77E-1459-8975-7F30-7DEEDF5E0C25}"/>
              </a:ext>
            </a:extLst>
          </p:cNvPr>
          <p:cNvPicPr>
            <a:picLocks noChangeAspect="1"/>
          </p:cNvPicPr>
          <p:nvPr/>
        </p:nvPicPr>
        <p:blipFill>
          <a:blip r:embed="rId10"/>
          <a:stretch>
            <a:fillRect/>
          </a:stretch>
        </p:blipFill>
        <p:spPr>
          <a:xfrm>
            <a:off x="1295819" y="2316361"/>
            <a:ext cx="15696362" cy="5257800"/>
          </a:xfrm>
          <a:prstGeom prst="rect">
            <a:avLst/>
          </a:prstGeom>
        </p:spPr>
      </p:pic>
      <p:pic>
        <p:nvPicPr>
          <p:cNvPr id="20" name="Picture 6" descr="X png cruzar png transparente antecedentes 38341441 PNG">
            <a:extLst>
              <a:ext uri="{FF2B5EF4-FFF2-40B4-BE49-F238E27FC236}">
                <a16:creationId xmlns:a16="http://schemas.microsoft.com/office/drawing/2014/main" id="{DCE094BE-F2F4-E683-3EE5-C76C8C69ACB8}"/>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1632" t="12307" r="12449" b="12307"/>
          <a:stretch>
            <a:fillRect/>
          </a:stretch>
        </p:blipFill>
        <p:spPr bwMode="auto">
          <a:xfrm>
            <a:off x="16714664" y="2115313"/>
            <a:ext cx="642523" cy="638026"/>
          </a:xfrm>
          <a:prstGeom prst="rect">
            <a:avLst/>
          </a:prstGeom>
          <a:noFill/>
          <a:extLst>
            <a:ext uri="{909E8E84-426E-40DD-AFC4-6F175D3DCCD1}">
              <a14:hiddenFill xmlns:a14="http://schemas.microsoft.com/office/drawing/2010/main">
                <a:solidFill>
                  <a:srgbClr val="FFFFFF"/>
                </a:solidFill>
              </a14:hiddenFill>
            </a:ext>
          </a:extLst>
        </p:spPr>
      </p:pic>
      <p:pic>
        <p:nvPicPr>
          <p:cNvPr id="32" name="Imagen 31">
            <a:extLst>
              <a:ext uri="{FF2B5EF4-FFF2-40B4-BE49-F238E27FC236}">
                <a16:creationId xmlns:a16="http://schemas.microsoft.com/office/drawing/2014/main" id="{435F3E20-F0ED-1CB6-5D58-B8D58786E1F2}"/>
              </a:ext>
            </a:extLst>
          </p:cNvPr>
          <p:cNvPicPr>
            <a:picLocks noChangeAspect="1"/>
          </p:cNvPicPr>
          <p:nvPr/>
        </p:nvPicPr>
        <p:blipFill>
          <a:blip r:embed="rId11"/>
          <a:stretch>
            <a:fillRect/>
          </a:stretch>
        </p:blipFill>
        <p:spPr>
          <a:xfrm>
            <a:off x="162183" y="2316361"/>
            <a:ext cx="17015644" cy="6185614"/>
          </a:xfrm>
          <a:prstGeom prst="rect">
            <a:avLst/>
          </a:prstGeom>
        </p:spPr>
      </p:pic>
      <p:pic>
        <p:nvPicPr>
          <p:cNvPr id="33" name="Picture 6" descr="X png cruzar png transparente antecedentes 38341441 PNG">
            <a:extLst>
              <a:ext uri="{FF2B5EF4-FFF2-40B4-BE49-F238E27FC236}">
                <a16:creationId xmlns:a16="http://schemas.microsoft.com/office/drawing/2014/main" id="{676916A4-9882-3755-A3AB-381109C625E6}"/>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1632" t="12307" r="12449" b="12307"/>
          <a:stretch>
            <a:fillRect/>
          </a:stretch>
        </p:blipFill>
        <p:spPr bwMode="auto">
          <a:xfrm>
            <a:off x="16708593" y="2115313"/>
            <a:ext cx="642523" cy="6380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nextCondLst>
                <p:cond evt="onClick" delay="0">
                  <p:tgtEl>
                    <p:spTgt spid="7"/>
                  </p:tgtEl>
                </p:cond>
              </p:nextCondLst>
            </p:seq>
            <p:seq concurrent="1" nextAc="seek">
              <p:cTn id="11" restart="whenNotActive" fill="hold" evtFilter="cancelBubble" nodeType="interactiveSeq">
                <p:stCondLst>
                  <p:cond evt="onClick" delay="0">
                    <p:tgtEl>
                      <p:spTgt spid="9"/>
                    </p:tgtEl>
                  </p:cond>
                </p:stCondLst>
                <p:endSync evt="end" delay="0">
                  <p:rtn val="all"/>
                </p:endSync>
                <p:childTnLst>
                  <p:par>
                    <p:cTn id="12" fill="hold">
                      <p:stCondLst>
                        <p:cond delay="0"/>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9"/>
                                        </p:tgtEl>
                                      </p:cBhvr>
                                    </p:animEffect>
                                    <p:set>
                                      <p:cBhvr>
                                        <p:cTn id="16" dur="1" fill="hold">
                                          <p:stCondLst>
                                            <p:cond delay="499"/>
                                          </p:stCondLst>
                                        </p:cTn>
                                        <p:tgtEl>
                                          <p:spTgt spid="9"/>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8"/>
                                        </p:tgtEl>
                                      </p:cBhvr>
                                    </p:animEffect>
                                    <p:set>
                                      <p:cBhvr>
                                        <p:cTn id="19"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20" restart="whenNotActive" fill="hold" evtFilter="cancelBubble" nodeType="interactiveSeq">
                <p:stCondLst>
                  <p:cond evt="onClick" delay="0">
                    <p:tgtEl>
                      <p:spTgt spid="11"/>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childTnLst>
              </p:cTn>
              <p:nextCondLst>
                <p:cond evt="onClick" delay="0">
                  <p:tgtEl>
                    <p:spTgt spid="11"/>
                  </p:tgtEl>
                </p:cond>
              </p:nextCondLst>
            </p:seq>
            <p:seq concurrent="1" nextAc="seek">
              <p:cTn id="29" restart="whenNotActive" fill="hold" evtFilter="cancelBubble" nodeType="interactiveSeq">
                <p:stCondLst>
                  <p:cond evt="onClick" delay="0">
                    <p:tgtEl>
                      <p:spTgt spid="14"/>
                    </p:tgtEl>
                  </p:cond>
                </p:stCondLst>
                <p:endSync evt="end" delay="0">
                  <p:rtn val="all"/>
                </p:endSync>
                <p:childTnLst>
                  <p:par>
                    <p:cTn id="30" fill="hold">
                      <p:stCondLst>
                        <p:cond delay="0"/>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14"/>
                                        </p:tgtEl>
                                      </p:cBhvr>
                                    </p:animEffect>
                                    <p:set>
                                      <p:cBhvr>
                                        <p:cTn id="34" dur="1" fill="hold">
                                          <p:stCondLst>
                                            <p:cond delay="499"/>
                                          </p:stCondLst>
                                        </p:cTn>
                                        <p:tgtEl>
                                          <p:spTgt spid="14"/>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500"/>
                                        <p:tgtEl>
                                          <p:spTgt spid="13"/>
                                        </p:tgtEl>
                                      </p:cBhvr>
                                    </p:animEffect>
                                    <p:set>
                                      <p:cBhvr>
                                        <p:cTn id="3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38" restart="whenNotActive" fill="hold" evtFilter="cancelBubble" nodeType="interactiveSeq">
                <p:stCondLst>
                  <p:cond evt="onClick" delay="0">
                    <p:tgtEl>
                      <p:spTgt spid="18"/>
                    </p:tgtEl>
                  </p:cond>
                </p:stCondLst>
                <p:endSync evt="end" delay="0">
                  <p:rtn val="all"/>
                </p:endSync>
                <p:childTnLst>
                  <p:par>
                    <p:cTn id="39" fill="hold">
                      <p:stCondLst>
                        <p:cond delay="0"/>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childTnLst>
              </p:cTn>
              <p:nextCondLst>
                <p:cond evt="onClick" delay="0">
                  <p:tgtEl>
                    <p:spTgt spid="18"/>
                  </p:tgtEl>
                </p:cond>
              </p:nextCondLst>
            </p:seq>
            <p:seq concurrent="1" nextAc="seek">
              <p:cTn id="47" restart="whenNotActive" fill="hold" evtFilter="cancelBubble" nodeType="interactiveSeq">
                <p:stCondLst>
                  <p:cond evt="onClick" delay="0">
                    <p:tgtEl>
                      <p:spTgt spid="17"/>
                    </p:tgtEl>
                  </p:cond>
                </p:stCondLst>
                <p:endSync evt="end" delay="0">
                  <p:rtn val="all"/>
                </p:endSync>
                <p:childTnLst>
                  <p:par>
                    <p:cTn id="48" fill="hold">
                      <p:stCondLst>
                        <p:cond delay="0"/>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500"/>
                                        <p:tgtEl>
                                          <p:spTgt spid="16"/>
                                        </p:tgtEl>
                                      </p:cBhvr>
                                    </p:animEffect>
                                    <p:set>
                                      <p:cBhvr>
                                        <p:cTn id="52" dur="1" fill="hold">
                                          <p:stCondLst>
                                            <p:cond delay="499"/>
                                          </p:stCondLst>
                                        </p:cTn>
                                        <p:tgtEl>
                                          <p:spTgt spid="16"/>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17"/>
                                        </p:tgtEl>
                                      </p:cBhvr>
                                    </p:animEffect>
                                    <p:set>
                                      <p:cBhvr>
                                        <p:cTn id="55"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56" restart="whenNotActive" fill="hold" evtFilter="cancelBubble" nodeType="interactiveSeq">
                <p:stCondLst>
                  <p:cond evt="onClick" delay="0">
                    <p:tgtEl>
                      <p:spTgt spid="19"/>
                    </p:tgtEl>
                  </p:cond>
                </p:stCondLst>
                <p:endSync evt="end" delay="0">
                  <p:rtn val="all"/>
                </p:endSync>
                <p:childTnLst>
                  <p:par>
                    <p:cTn id="57" fill="hold">
                      <p:stCondLst>
                        <p:cond delay="0"/>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childTnLst>
                          </p:cTn>
                        </p:par>
                      </p:childTnLst>
                    </p:cTn>
                  </p:par>
                </p:childTnLst>
              </p:cTn>
              <p:nextCondLst>
                <p:cond evt="onClick" delay="0">
                  <p:tgtEl>
                    <p:spTgt spid="19"/>
                  </p:tgtEl>
                </p:cond>
              </p:nextCondLst>
            </p:seq>
            <p:seq concurrent="1" nextAc="seek">
              <p:cTn id="65" restart="whenNotActive" fill="hold" evtFilter="cancelBubble" nodeType="interactiveSeq">
                <p:stCondLst>
                  <p:cond evt="onClick" delay="0">
                    <p:tgtEl>
                      <p:spTgt spid="20"/>
                    </p:tgtEl>
                  </p:cond>
                </p:stCondLst>
                <p:endSync evt="end" delay="0">
                  <p:rtn val="all"/>
                </p:endSync>
                <p:childTnLst>
                  <p:par>
                    <p:cTn id="66" fill="hold">
                      <p:stCondLst>
                        <p:cond delay="0"/>
                      </p:stCondLst>
                      <p:childTnLst>
                        <p:par>
                          <p:cTn id="67" fill="hold">
                            <p:stCondLst>
                              <p:cond delay="0"/>
                            </p:stCondLst>
                            <p:childTnLst>
                              <p:par>
                                <p:cTn id="68" presetID="10" presetClass="exit" presetSubtype="0" fill="hold" nodeType="clickEffect">
                                  <p:stCondLst>
                                    <p:cond delay="0"/>
                                  </p:stCondLst>
                                  <p:childTnLst>
                                    <p:animEffect transition="out" filter="fade">
                                      <p:cBhvr>
                                        <p:cTn id="69" dur="500"/>
                                        <p:tgtEl>
                                          <p:spTgt spid="20"/>
                                        </p:tgtEl>
                                      </p:cBhvr>
                                    </p:animEffect>
                                    <p:set>
                                      <p:cBhvr>
                                        <p:cTn id="70" dur="1" fill="hold">
                                          <p:stCondLst>
                                            <p:cond delay="499"/>
                                          </p:stCondLst>
                                        </p:cTn>
                                        <p:tgtEl>
                                          <p:spTgt spid="20"/>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500"/>
                                        <p:tgtEl>
                                          <p:spTgt spid="21"/>
                                        </p:tgtEl>
                                      </p:cBhvr>
                                    </p:animEffect>
                                    <p:set>
                                      <p:cBhvr>
                                        <p:cTn id="73"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74" restart="whenNotActive" fill="hold" evtFilter="cancelBubble" nodeType="interactiveSeq">
                <p:stCondLst>
                  <p:cond evt="onClick" delay="0">
                    <p:tgtEl>
                      <p:spTgt spid="24"/>
                    </p:tgtEl>
                  </p:cond>
                </p:stCondLst>
                <p:endSync evt="end" delay="0">
                  <p:rtn val="all"/>
                </p:endSync>
                <p:childTnLst>
                  <p:par>
                    <p:cTn id="75" fill="hold">
                      <p:stCondLst>
                        <p:cond delay="0"/>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500"/>
                                        <p:tgtEl>
                                          <p:spTgt spid="33"/>
                                        </p:tgtEl>
                                      </p:cBhvr>
                                    </p:animEffect>
                                  </p:childTnLst>
                                </p:cTn>
                              </p:par>
                              <p:par>
                                <p:cTn id="80" presetID="10" presetClass="entr" presetSubtype="0" fill="hold" nodeType="with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500"/>
                                        <p:tgtEl>
                                          <p:spTgt spid="32"/>
                                        </p:tgtEl>
                                      </p:cBhvr>
                                    </p:animEffect>
                                  </p:childTnLst>
                                </p:cTn>
                              </p:par>
                            </p:childTnLst>
                          </p:cTn>
                        </p:par>
                      </p:childTnLst>
                    </p:cTn>
                  </p:par>
                </p:childTnLst>
              </p:cTn>
              <p:nextCondLst>
                <p:cond evt="onClick" delay="0">
                  <p:tgtEl>
                    <p:spTgt spid="24"/>
                  </p:tgtEl>
                </p:cond>
              </p:nextCondLst>
            </p:seq>
            <p:seq concurrent="1" nextAc="seek">
              <p:cTn id="83" restart="whenNotActive" fill="hold" evtFilter="cancelBubble" nodeType="interactiveSeq">
                <p:stCondLst>
                  <p:cond evt="onClick" delay="0">
                    <p:tgtEl>
                      <p:spTgt spid="33"/>
                    </p:tgtEl>
                  </p:cond>
                </p:stCondLst>
                <p:endSync evt="end" delay="0">
                  <p:rtn val="all"/>
                </p:endSync>
                <p:childTnLst>
                  <p:par>
                    <p:cTn id="84" fill="hold">
                      <p:stCondLst>
                        <p:cond delay="0"/>
                      </p:stCondLst>
                      <p:childTnLst>
                        <p:par>
                          <p:cTn id="85" fill="hold">
                            <p:stCondLst>
                              <p:cond delay="0"/>
                            </p:stCondLst>
                            <p:childTnLst>
                              <p:par>
                                <p:cTn id="86" presetID="10" presetClass="exit" presetSubtype="0" fill="hold" nodeType="clickEffect">
                                  <p:stCondLst>
                                    <p:cond delay="0"/>
                                  </p:stCondLst>
                                  <p:childTnLst>
                                    <p:animEffect transition="out" filter="fade">
                                      <p:cBhvr>
                                        <p:cTn id="87" dur="500"/>
                                        <p:tgtEl>
                                          <p:spTgt spid="33"/>
                                        </p:tgtEl>
                                      </p:cBhvr>
                                    </p:animEffect>
                                    <p:set>
                                      <p:cBhvr>
                                        <p:cTn id="88" dur="1" fill="hold">
                                          <p:stCondLst>
                                            <p:cond delay="499"/>
                                          </p:stCondLst>
                                        </p:cTn>
                                        <p:tgtEl>
                                          <p:spTgt spid="33"/>
                                        </p:tgtEl>
                                        <p:attrNameLst>
                                          <p:attrName>style.visibility</p:attrName>
                                        </p:attrNameLst>
                                      </p:cBhvr>
                                      <p:to>
                                        <p:strVal val="hidden"/>
                                      </p:to>
                                    </p:set>
                                  </p:childTnLst>
                                </p:cTn>
                              </p:par>
                              <p:par>
                                <p:cTn id="89" presetID="10" presetClass="exit" presetSubtype="0" fill="hold" nodeType="withEffect">
                                  <p:stCondLst>
                                    <p:cond delay="0"/>
                                  </p:stCondLst>
                                  <p:childTnLst>
                                    <p:animEffect transition="out" filter="fade">
                                      <p:cBhvr>
                                        <p:cTn id="90" dur="500"/>
                                        <p:tgtEl>
                                          <p:spTgt spid="32"/>
                                        </p:tgtEl>
                                      </p:cBhvr>
                                    </p:animEffect>
                                    <p:set>
                                      <p:cBhvr>
                                        <p:cTn id="91"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3"/>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05" b="-13405"/>
            </a:stretch>
          </a:blipFill>
        </p:spPr>
        <p:txBody>
          <a:bodyPr/>
          <a:lstStyle/>
          <a:p>
            <a:endParaRPr lang="es-MX"/>
          </a:p>
        </p:txBody>
      </p:sp>
      <p:sp>
        <p:nvSpPr>
          <p:cNvPr id="3" name="Freeform 3"/>
          <p:cNvSpPr/>
          <p:nvPr/>
        </p:nvSpPr>
        <p:spPr>
          <a:xfrm>
            <a:off x="4737519" y="260409"/>
            <a:ext cx="8812963" cy="2037998"/>
          </a:xfrm>
          <a:custGeom>
            <a:avLst/>
            <a:gdLst/>
            <a:ahLst/>
            <a:cxnLst/>
            <a:rect l="l" t="t" r="r" b="b"/>
            <a:pathLst>
              <a:path w="8812963" h="2037998">
                <a:moveTo>
                  <a:pt x="0" y="0"/>
                </a:moveTo>
                <a:lnTo>
                  <a:pt x="8812962" y="0"/>
                </a:lnTo>
                <a:lnTo>
                  <a:pt x="8812962" y="2037998"/>
                </a:lnTo>
                <a:lnTo>
                  <a:pt x="0" y="2037998"/>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3067527" y="4570807"/>
            <a:ext cx="12152946" cy="2069311"/>
          </a:xfrm>
          <a:prstGeom prst="rect">
            <a:avLst/>
          </a:prstGeom>
        </p:spPr>
        <p:txBody>
          <a:bodyPr lIns="0" tIns="0" rIns="0" bIns="0" rtlCol="0" anchor="t">
            <a:spAutoFit/>
          </a:bodyPr>
          <a:lstStyle/>
          <a:p>
            <a:pPr algn="ctr">
              <a:lnSpc>
                <a:spcPts val="8268"/>
              </a:lnSpc>
            </a:pPr>
            <a:r>
              <a:rPr lang="en-US" sz="5906" b="1">
                <a:solidFill>
                  <a:srgbClr val="1800AD"/>
                </a:solidFill>
                <a:latin typeface="Archivo Narrow Bold"/>
                <a:ea typeface="Archivo Narrow Bold"/>
                <a:cs typeface="Archivo Narrow Bold"/>
                <a:sym typeface="Archivo Narrow Bold"/>
              </a:rPr>
              <a:t>6.3 Operaciones básicas y tipos de acceso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CFEC17B8-384D-6089-E338-6953537F3113}"/>
              </a:ext>
            </a:extLst>
          </p:cNvPr>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4" name="CuadroTexto 3">
            <a:extLst>
              <a:ext uri="{FF2B5EF4-FFF2-40B4-BE49-F238E27FC236}">
                <a16:creationId xmlns:a16="http://schemas.microsoft.com/office/drawing/2014/main" id="{441918DE-0342-B28C-81FE-B3EC98D93CB4}"/>
              </a:ext>
            </a:extLst>
          </p:cNvPr>
          <p:cNvSpPr txBox="1"/>
          <p:nvPr/>
        </p:nvSpPr>
        <p:spPr>
          <a:xfrm>
            <a:off x="4250647" y="1781770"/>
            <a:ext cx="10287000" cy="923330"/>
          </a:xfrm>
          <a:prstGeom prst="rect">
            <a:avLst/>
          </a:prstGeom>
          <a:noFill/>
        </p:spPr>
        <p:txBody>
          <a:bodyPr wrap="square">
            <a:spAutoFit/>
          </a:bodyPr>
          <a:lstStyle/>
          <a:p>
            <a:pPr algn="ctr"/>
            <a:r>
              <a:rPr lang="es-MX" sz="5400" b="1" dirty="0">
                <a:latin typeface="Archivo Narrow" panose="020B0604020202020204" charset="0"/>
              </a:rPr>
              <a:t>Operaciones básicas y tipos de acceso</a:t>
            </a:r>
          </a:p>
        </p:txBody>
      </p:sp>
      <p:sp>
        <p:nvSpPr>
          <p:cNvPr id="6" name="CuadroTexto 5">
            <a:extLst>
              <a:ext uri="{FF2B5EF4-FFF2-40B4-BE49-F238E27FC236}">
                <a16:creationId xmlns:a16="http://schemas.microsoft.com/office/drawing/2014/main" id="{373C6FC7-AFA2-0A5B-EB5D-574C63FF0B2F}"/>
              </a:ext>
            </a:extLst>
          </p:cNvPr>
          <p:cNvSpPr txBox="1"/>
          <p:nvPr/>
        </p:nvSpPr>
        <p:spPr>
          <a:xfrm>
            <a:off x="2438400" y="2705100"/>
            <a:ext cx="14020800" cy="2062103"/>
          </a:xfrm>
          <a:prstGeom prst="rect">
            <a:avLst/>
          </a:prstGeom>
          <a:noFill/>
        </p:spPr>
        <p:txBody>
          <a:bodyPr wrap="square">
            <a:spAutoFit/>
          </a:bodyPr>
          <a:lstStyle/>
          <a:p>
            <a:r>
              <a:rPr lang="es-MX" sz="3200" dirty="0">
                <a:latin typeface="Archivo Narrow" panose="020B0604020202020204" charset="0"/>
              </a:rPr>
              <a:t>El manejo de archivos en Java se basa en tres operaciones fundamentales:</a:t>
            </a:r>
          </a:p>
          <a:p>
            <a:pPr marL="514350" indent="-514350">
              <a:buFont typeface="+mj-lt"/>
              <a:buAutoNum type="arabicPeriod"/>
            </a:pPr>
            <a:r>
              <a:rPr lang="es-MX" sz="3200" dirty="0">
                <a:latin typeface="Archivo Narrow" panose="020B0604020202020204" charset="0"/>
              </a:rPr>
              <a:t>Apertura del archivo: se crea un flujo para conectarse con el archivo.</a:t>
            </a:r>
          </a:p>
          <a:p>
            <a:pPr marL="514350" indent="-514350">
              <a:buFont typeface="+mj-lt"/>
              <a:buAutoNum type="arabicPeriod"/>
            </a:pPr>
            <a:r>
              <a:rPr lang="es-MX" sz="3200" dirty="0">
                <a:latin typeface="Archivo Narrow" panose="020B0604020202020204" charset="0"/>
              </a:rPr>
              <a:t>Lectura o escritura: se transfieren los datos.</a:t>
            </a:r>
          </a:p>
          <a:p>
            <a:pPr marL="514350" indent="-514350">
              <a:buFont typeface="+mj-lt"/>
              <a:buAutoNum type="arabicPeriod"/>
            </a:pPr>
            <a:r>
              <a:rPr lang="es-MX" sz="3200" dirty="0">
                <a:latin typeface="Archivo Narrow" panose="020B0604020202020204" charset="0"/>
              </a:rPr>
              <a:t>Cierre del archivo: se libera el recurso para evitar errores o pérdida de datos.</a:t>
            </a:r>
          </a:p>
        </p:txBody>
      </p:sp>
      <p:pic>
        <p:nvPicPr>
          <p:cNvPr id="8" name="Imagen 7">
            <a:extLst>
              <a:ext uri="{FF2B5EF4-FFF2-40B4-BE49-F238E27FC236}">
                <a16:creationId xmlns:a16="http://schemas.microsoft.com/office/drawing/2014/main" id="{44F55BAB-AC8E-243A-3A3B-FB2FE5DBE718}"/>
              </a:ext>
            </a:extLst>
          </p:cNvPr>
          <p:cNvPicPr>
            <a:picLocks noChangeAspect="1"/>
          </p:cNvPicPr>
          <p:nvPr/>
        </p:nvPicPr>
        <p:blipFill>
          <a:blip r:embed="rId3"/>
          <a:stretch>
            <a:fillRect/>
          </a:stretch>
        </p:blipFill>
        <p:spPr>
          <a:xfrm>
            <a:off x="3124200" y="5981700"/>
            <a:ext cx="3927109" cy="1295400"/>
          </a:xfrm>
          <a:prstGeom prst="rect">
            <a:avLst/>
          </a:prstGeom>
        </p:spPr>
      </p:pic>
      <p:pic>
        <p:nvPicPr>
          <p:cNvPr id="10" name="Imagen 9">
            <a:extLst>
              <a:ext uri="{FF2B5EF4-FFF2-40B4-BE49-F238E27FC236}">
                <a16:creationId xmlns:a16="http://schemas.microsoft.com/office/drawing/2014/main" id="{BAE843C8-80CF-A692-B2EC-A9FC24E68CA7}"/>
              </a:ext>
            </a:extLst>
          </p:cNvPr>
          <p:cNvPicPr>
            <a:picLocks noChangeAspect="1"/>
          </p:cNvPicPr>
          <p:nvPr/>
        </p:nvPicPr>
        <p:blipFill>
          <a:blip r:embed="rId4"/>
          <a:stretch>
            <a:fillRect/>
          </a:stretch>
        </p:blipFill>
        <p:spPr>
          <a:xfrm>
            <a:off x="10825892" y="5878815"/>
            <a:ext cx="3942463" cy="1501169"/>
          </a:xfrm>
          <a:prstGeom prst="rect">
            <a:avLst/>
          </a:prstGeom>
        </p:spPr>
      </p:pic>
      <p:sp>
        <p:nvSpPr>
          <p:cNvPr id="11" name="CuadroTexto 10">
            <a:extLst>
              <a:ext uri="{FF2B5EF4-FFF2-40B4-BE49-F238E27FC236}">
                <a16:creationId xmlns:a16="http://schemas.microsoft.com/office/drawing/2014/main" id="{C59136B2-5C23-F91E-1331-A9280EFD3121}"/>
              </a:ext>
            </a:extLst>
          </p:cNvPr>
          <p:cNvSpPr txBox="1"/>
          <p:nvPr/>
        </p:nvSpPr>
        <p:spPr>
          <a:xfrm>
            <a:off x="6781800" y="8397329"/>
            <a:ext cx="2819400" cy="769441"/>
          </a:xfrm>
          <a:prstGeom prst="rect">
            <a:avLst/>
          </a:prstGeom>
          <a:noFill/>
        </p:spPr>
        <p:txBody>
          <a:bodyPr wrap="square">
            <a:spAutoFit/>
          </a:bodyPr>
          <a:lstStyle/>
          <a:p>
            <a:pPr algn="ctr"/>
            <a:r>
              <a:rPr lang="es-MX" sz="4400" b="1" dirty="0">
                <a:latin typeface="Archivo Narrow" panose="020B0604020202020204" charset="0"/>
              </a:rPr>
              <a:t>Ejemplo</a:t>
            </a:r>
          </a:p>
        </p:txBody>
      </p:sp>
      <p:pic>
        <p:nvPicPr>
          <p:cNvPr id="13" name="Imagen 12" descr="Icono&#10;&#10;El contenido generado por IA puede ser incorrecto.">
            <a:extLst>
              <a:ext uri="{FF2B5EF4-FFF2-40B4-BE49-F238E27FC236}">
                <a16:creationId xmlns:a16="http://schemas.microsoft.com/office/drawing/2014/main" id="{060ABB82-7602-DA88-1CC6-412017941441}"/>
              </a:ext>
            </a:extLst>
          </p:cNvPr>
          <p:cNvPicPr>
            <a:picLocks noChangeAspect="1"/>
          </p:cNvPicPr>
          <p:nvPr/>
        </p:nvPicPr>
        <p:blipFill>
          <a:blip r:embed="rId5" cstate="print">
            <a:extLst>
              <a:ext uri="{28A0092B-C50C-407E-A947-70E740481C1C}">
                <a14:useLocalDpi xmlns:a14="http://schemas.microsoft.com/office/drawing/2010/main" val="0"/>
              </a:ext>
            </a:extLst>
          </a:blip>
          <a:srcRect l="30377" t="16327" r="30874" b="16452"/>
          <a:stretch>
            <a:fillRect/>
          </a:stretch>
        </p:blipFill>
        <p:spPr>
          <a:xfrm>
            <a:off x="6895834" y="5616170"/>
            <a:ext cx="990049" cy="966096"/>
          </a:xfrm>
          <a:prstGeom prst="ellipse">
            <a:avLst/>
          </a:prstGeom>
        </p:spPr>
      </p:pic>
      <p:sp>
        <p:nvSpPr>
          <p:cNvPr id="14" name="CuadroTexto 13">
            <a:extLst>
              <a:ext uri="{FF2B5EF4-FFF2-40B4-BE49-F238E27FC236}">
                <a16:creationId xmlns:a16="http://schemas.microsoft.com/office/drawing/2014/main" id="{318A0F04-6FE7-7550-695A-BEF2623CA6E8}"/>
              </a:ext>
            </a:extLst>
          </p:cNvPr>
          <p:cNvSpPr txBox="1"/>
          <p:nvPr/>
        </p:nvSpPr>
        <p:spPr>
          <a:xfrm>
            <a:off x="3678054" y="5135077"/>
            <a:ext cx="2819400" cy="769441"/>
          </a:xfrm>
          <a:prstGeom prst="rect">
            <a:avLst/>
          </a:prstGeom>
          <a:noFill/>
        </p:spPr>
        <p:txBody>
          <a:bodyPr wrap="square">
            <a:spAutoFit/>
          </a:bodyPr>
          <a:lstStyle/>
          <a:p>
            <a:pPr algn="ctr"/>
            <a:r>
              <a:rPr lang="es-MX" sz="4400" b="1" dirty="0">
                <a:latin typeface="Archivo Narrow" panose="020B0604020202020204" charset="0"/>
              </a:rPr>
              <a:t>Secuencial</a:t>
            </a:r>
          </a:p>
        </p:txBody>
      </p:sp>
      <p:sp>
        <p:nvSpPr>
          <p:cNvPr id="15" name="CuadroTexto 14">
            <a:extLst>
              <a:ext uri="{FF2B5EF4-FFF2-40B4-BE49-F238E27FC236}">
                <a16:creationId xmlns:a16="http://schemas.microsoft.com/office/drawing/2014/main" id="{9E6F7C60-DD95-0F3A-A558-4A0FE71C9C7F}"/>
              </a:ext>
            </a:extLst>
          </p:cNvPr>
          <p:cNvSpPr txBox="1"/>
          <p:nvPr/>
        </p:nvSpPr>
        <p:spPr>
          <a:xfrm>
            <a:off x="11387423" y="5212259"/>
            <a:ext cx="2819400" cy="769441"/>
          </a:xfrm>
          <a:prstGeom prst="rect">
            <a:avLst/>
          </a:prstGeom>
          <a:noFill/>
        </p:spPr>
        <p:txBody>
          <a:bodyPr wrap="square">
            <a:spAutoFit/>
          </a:bodyPr>
          <a:lstStyle/>
          <a:p>
            <a:pPr algn="ctr"/>
            <a:r>
              <a:rPr lang="es-MX" sz="4400" b="1" dirty="0">
                <a:latin typeface="Archivo Narrow" panose="020B0604020202020204" charset="0"/>
              </a:rPr>
              <a:t>Aleatorio</a:t>
            </a:r>
          </a:p>
        </p:txBody>
      </p:sp>
      <p:pic>
        <p:nvPicPr>
          <p:cNvPr id="16" name="Imagen 15">
            <a:extLst>
              <a:ext uri="{FF2B5EF4-FFF2-40B4-BE49-F238E27FC236}">
                <a16:creationId xmlns:a16="http://schemas.microsoft.com/office/drawing/2014/main" id="{082BA6F8-8A50-5DCC-2B20-40031F44A3FD}"/>
              </a:ext>
            </a:extLst>
          </p:cNvPr>
          <p:cNvPicPr>
            <a:picLocks noChangeAspect="1"/>
          </p:cNvPicPr>
          <p:nvPr/>
        </p:nvPicPr>
        <p:blipFill>
          <a:blip r:embed="rId6"/>
          <a:stretch>
            <a:fillRect/>
          </a:stretch>
        </p:blipFill>
        <p:spPr>
          <a:xfrm>
            <a:off x="863803" y="3640510"/>
            <a:ext cx="8078636" cy="1655092"/>
          </a:xfrm>
          <a:prstGeom prst="rect">
            <a:avLst/>
          </a:prstGeom>
        </p:spPr>
      </p:pic>
      <p:pic>
        <p:nvPicPr>
          <p:cNvPr id="17" name="Picture 6" descr="X png cruzar png transparente antecedentes 38341441 PNG">
            <a:extLst>
              <a:ext uri="{FF2B5EF4-FFF2-40B4-BE49-F238E27FC236}">
                <a16:creationId xmlns:a16="http://schemas.microsoft.com/office/drawing/2014/main" id="{122D8573-4E22-17C5-71D8-4402C6D21AB7}"/>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1632" t="12307" r="12449" b="12307"/>
          <a:stretch>
            <a:fillRect/>
          </a:stretch>
        </p:blipFill>
        <p:spPr bwMode="auto">
          <a:xfrm>
            <a:off x="8523024" y="3431077"/>
            <a:ext cx="642523" cy="638026"/>
          </a:xfrm>
          <a:prstGeom prst="rect">
            <a:avLst/>
          </a:prstGeom>
          <a:noFill/>
          <a:extLst>
            <a:ext uri="{909E8E84-426E-40DD-AFC4-6F175D3DCCD1}">
              <a14:hiddenFill xmlns:a14="http://schemas.microsoft.com/office/drawing/2010/main">
                <a:solidFill>
                  <a:srgbClr val="FFFFFF"/>
                </a:solidFill>
              </a14:hiddenFill>
            </a:ext>
          </a:extLst>
        </p:spPr>
      </p:pic>
      <p:pic>
        <p:nvPicPr>
          <p:cNvPr id="18" name="Imagen 17" descr="Icono&#10;&#10;El contenido generado por IA puede ser incorrecto.">
            <a:extLst>
              <a:ext uri="{FF2B5EF4-FFF2-40B4-BE49-F238E27FC236}">
                <a16:creationId xmlns:a16="http://schemas.microsoft.com/office/drawing/2014/main" id="{284F5A9E-927B-0BFD-6A18-3BF08117F26A}"/>
              </a:ext>
            </a:extLst>
          </p:cNvPr>
          <p:cNvPicPr>
            <a:picLocks noChangeAspect="1"/>
          </p:cNvPicPr>
          <p:nvPr/>
        </p:nvPicPr>
        <p:blipFill>
          <a:blip r:embed="rId5" cstate="print">
            <a:extLst>
              <a:ext uri="{28A0092B-C50C-407E-A947-70E740481C1C}">
                <a14:useLocalDpi xmlns:a14="http://schemas.microsoft.com/office/drawing/2010/main" val="0"/>
              </a:ext>
            </a:extLst>
          </a:blip>
          <a:srcRect l="30377" t="16327" r="30874" b="16452"/>
          <a:stretch>
            <a:fillRect/>
          </a:stretch>
        </p:blipFill>
        <p:spPr>
          <a:xfrm>
            <a:off x="14273329" y="5498652"/>
            <a:ext cx="990049" cy="966096"/>
          </a:xfrm>
          <a:prstGeom prst="ellipse">
            <a:avLst/>
          </a:prstGeom>
        </p:spPr>
      </p:pic>
      <p:pic>
        <p:nvPicPr>
          <p:cNvPr id="19" name="Imagen 18">
            <a:extLst>
              <a:ext uri="{FF2B5EF4-FFF2-40B4-BE49-F238E27FC236}">
                <a16:creationId xmlns:a16="http://schemas.microsoft.com/office/drawing/2014/main" id="{BB6C7EA0-4381-C9CB-6BC2-A0193E1BE105}"/>
              </a:ext>
            </a:extLst>
          </p:cNvPr>
          <p:cNvPicPr>
            <a:picLocks noChangeAspect="1"/>
          </p:cNvPicPr>
          <p:nvPr/>
        </p:nvPicPr>
        <p:blipFill>
          <a:blip r:embed="rId8"/>
          <a:stretch>
            <a:fillRect/>
          </a:stretch>
        </p:blipFill>
        <p:spPr>
          <a:xfrm>
            <a:off x="9311705" y="3736151"/>
            <a:ext cx="7855678" cy="1609414"/>
          </a:xfrm>
          <a:prstGeom prst="rect">
            <a:avLst/>
          </a:prstGeom>
        </p:spPr>
      </p:pic>
      <p:pic>
        <p:nvPicPr>
          <p:cNvPr id="20" name="Picture 6" descr="X png cruzar png transparente antecedentes 38341441 PNG">
            <a:extLst>
              <a:ext uri="{FF2B5EF4-FFF2-40B4-BE49-F238E27FC236}">
                <a16:creationId xmlns:a16="http://schemas.microsoft.com/office/drawing/2014/main" id="{ABC6FC6A-2B69-79C2-106E-B8B64E03A40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1632" t="12307" r="12449" b="12307"/>
          <a:stretch>
            <a:fillRect/>
          </a:stretch>
        </p:blipFill>
        <p:spPr bwMode="auto">
          <a:xfrm>
            <a:off x="16799469" y="3431077"/>
            <a:ext cx="642523" cy="638026"/>
          </a:xfrm>
          <a:prstGeom prst="rect">
            <a:avLst/>
          </a:prstGeom>
          <a:noFill/>
          <a:extLst>
            <a:ext uri="{909E8E84-426E-40DD-AFC4-6F175D3DCCD1}">
              <a14:hiddenFill xmlns:a14="http://schemas.microsoft.com/office/drawing/2010/main">
                <a:solidFill>
                  <a:srgbClr val="FFFFFF"/>
                </a:solidFill>
              </a14:hiddenFill>
            </a:ext>
          </a:extLst>
        </p:spPr>
      </p:pic>
      <p:pic>
        <p:nvPicPr>
          <p:cNvPr id="21" name="Imagen 20" descr="Icono&#10;&#10;El contenido generado por IA puede ser incorrecto.">
            <a:extLst>
              <a:ext uri="{FF2B5EF4-FFF2-40B4-BE49-F238E27FC236}">
                <a16:creationId xmlns:a16="http://schemas.microsoft.com/office/drawing/2014/main" id="{74632900-5EDF-320C-E439-8F36BF4DE253}"/>
              </a:ext>
            </a:extLst>
          </p:cNvPr>
          <p:cNvPicPr>
            <a:picLocks noChangeAspect="1"/>
          </p:cNvPicPr>
          <p:nvPr/>
        </p:nvPicPr>
        <p:blipFill>
          <a:blip r:embed="rId5" cstate="print">
            <a:extLst>
              <a:ext uri="{28A0092B-C50C-407E-A947-70E740481C1C}">
                <a14:useLocalDpi xmlns:a14="http://schemas.microsoft.com/office/drawing/2010/main" val="0"/>
              </a:ext>
            </a:extLst>
          </a:blip>
          <a:srcRect l="30377" t="16327" r="30874" b="16452"/>
          <a:stretch>
            <a:fillRect/>
          </a:stretch>
        </p:blipFill>
        <p:spPr>
          <a:xfrm>
            <a:off x="9448800" y="8299001"/>
            <a:ext cx="990049" cy="966096"/>
          </a:xfrm>
          <a:prstGeom prst="ellipse">
            <a:avLst/>
          </a:prstGeom>
        </p:spPr>
      </p:pic>
      <p:pic>
        <p:nvPicPr>
          <p:cNvPr id="23" name="Imagen 22">
            <a:extLst>
              <a:ext uri="{FF2B5EF4-FFF2-40B4-BE49-F238E27FC236}">
                <a16:creationId xmlns:a16="http://schemas.microsoft.com/office/drawing/2014/main" id="{AEE74DA1-E4A0-9167-4114-8B3A99DE7EBD}"/>
              </a:ext>
            </a:extLst>
          </p:cNvPr>
          <p:cNvPicPr>
            <a:picLocks noChangeAspect="1"/>
          </p:cNvPicPr>
          <p:nvPr/>
        </p:nvPicPr>
        <p:blipFill>
          <a:blip r:embed="rId9"/>
          <a:stretch>
            <a:fillRect/>
          </a:stretch>
        </p:blipFill>
        <p:spPr>
          <a:xfrm>
            <a:off x="1120617" y="1587512"/>
            <a:ext cx="16807398" cy="5415717"/>
          </a:xfrm>
          <a:prstGeom prst="rect">
            <a:avLst/>
          </a:prstGeom>
        </p:spPr>
      </p:pic>
      <p:pic>
        <p:nvPicPr>
          <p:cNvPr id="24" name="Picture 6" descr="X png cruzar png transparente antecedentes 38341441 PNG">
            <a:extLst>
              <a:ext uri="{FF2B5EF4-FFF2-40B4-BE49-F238E27FC236}">
                <a16:creationId xmlns:a16="http://schemas.microsoft.com/office/drawing/2014/main" id="{64B729E1-F8A9-A840-A0EC-694E14A0A192}"/>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1632" t="12307" r="12449" b="12307"/>
          <a:stretch>
            <a:fillRect/>
          </a:stretch>
        </p:blipFill>
        <p:spPr bwMode="auto">
          <a:xfrm>
            <a:off x="17542306" y="1280723"/>
            <a:ext cx="642523" cy="6380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nextCondLst>
                <p:cond evt="onClick" delay="0">
                  <p:tgtEl>
                    <p:spTgt spid="13"/>
                  </p:tgtEl>
                </p:cond>
              </p:nextCondLst>
            </p:seq>
            <p:seq concurrent="1" nextAc="seek">
              <p:cTn id="11" restart="whenNotActive" fill="hold" evtFilter="cancelBubble" nodeType="interactiveSeq">
                <p:stCondLst>
                  <p:cond evt="onClick" delay="0">
                    <p:tgtEl>
                      <p:spTgt spid="17"/>
                    </p:tgtEl>
                  </p:cond>
                </p:stCondLst>
                <p:endSync evt="end" delay="0">
                  <p:rtn val="all"/>
                </p:endSync>
                <p:childTnLst>
                  <p:par>
                    <p:cTn id="12" fill="hold">
                      <p:stCondLst>
                        <p:cond delay="0"/>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17"/>
                                        </p:tgtEl>
                                      </p:cBhvr>
                                    </p:animEffect>
                                    <p:set>
                                      <p:cBhvr>
                                        <p:cTn id="16" dur="1" fill="hold">
                                          <p:stCondLst>
                                            <p:cond delay="499"/>
                                          </p:stCondLst>
                                        </p:cTn>
                                        <p:tgtEl>
                                          <p:spTgt spid="17"/>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16"/>
                                        </p:tgtEl>
                                      </p:cBhvr>
                                    </p:animEffect>
                                    <p:set>
                                      <p:cBhvr>
                                        <p:cTn id="19"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20" restart="whenNotActive" fill="hold" evtFilter="cancelBubble" nodeType="interactiveSeq">
                <p:stCondLst>
                  <p:cond evt="onClick" delay="0">
                    <p:tgtEl>
                      <p:spTgt spid="18"/>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childTnLst>
              </p:cTn>
              <p:nextCondLst>
                <p:cond evt="onClick" delay="0">
                  <p:tgtEl>
                    <p:spTgt spid="18"/>
                  </p:tgtEl>
                </p:cond>
              </p:nextCondLst>
            </p:seq>
            <p:seq concurrent="1" nextAc="seek">
              <p:cTn id="29" restart="whenNotActive" fill="hold" evtFilter="cancelBubble" nodeType="interactiveSeq">
                <p:stCondLst>
                  <p:cond evt="onClick" delay="0">
                    <p:tgtEl>
                      <p:spTgt spid="20"/>
                    </p:tgtEl>
                  </p:cond>
                </p:stCondLst>
                <p:endSync evt="end" delay="0">
                  <p:rtn val="all"/>
                </p:endSync>
                <p:childTnLst>
                  <p:par>
                    <p:cTn id="30" fill="hold">
                      <p:stCondLst>
                        <p:cond delay="0"/>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20"/>
                                        </p:tgtEl>
                                      </p:cBhvr>
                                    </p:animEffect>
                                    <p:set>
                                      <p:cBhvr>
                                        <p:cTn id="34" dur="1" fill="hold">
                                          <p:stCondLst>
                                            <p:cond delay="499"/>
                                          </p:stCondLst>
                                        </p:cTn>
                                        <p:tgtEl>
                                          <p:spTgt spid="20"/>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500"/>
                                        <p:tgtEl>
                                          <p:spTgt spid="19"/>
                                        </p:tgtEl>
                                      </p:cBhvr>
                                    </p:animEffect>
                                    <p:set>
                                      <p:cBhvr>
                                        <p:cTn id="37"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38" restart="whenNotActive" fill="hold" evtFilter="cancelBubble" nodeType="interactiveSeq">
                <p:stCondLst>
                  <p:cond evt="onClick" delay="0">
                    <p:tgtEl>
                      <p:spTgt spid="21"/>
                    </p:tgtEl>
                  </p:cond>
                </p:stCondLst>
                <p:endSync evt="end" delay="0">
                  <p:rtn val="all"/>
                </p:endSync>
                <p:childTnLst>
                  <p:par>
                    <p:cTn id="39" fill="hold">
                      <p:stCondLst>
                        <p:cond delay="0"/>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500"/>
                                        <p:tgtEl>
                                          <p:spTgt spid="23"/>
                                        </p:tgtEl>
                                      </p:cBhvr>
                                    </p:animEffect>
                                  </p:childTnLst>
                                </p:cTn>
                              </p:par>
                            </p:childTnLst>
                          </p:cTn>
                        </p:par>
                      </p:childTnLst>
                    </p:cTn>
                  </p:par>
                </p:childTnLst>
              </p:cTn>
              <p:nextCondLst>
                <p:cond evt="onClick" delay="0">
                  <p:tgtEl>
                    <p:spTgt spid="21"/>
                  </p:tgtEl>
                </p:cond>
              </p:nextCondLst>
            </p:seq>
            <p:seq concurrent="1" nextAc="seek">
              <p:cTn id="47" restart="whenNotActive" fill="hold" evtFilter="cancelBubble" nodeType="interactiveSeq">
                <p:stCondLst>
                  <p:cond evt="onClick" delay="0">
                    <p:tgtEl>
                      <p:spTgt spid="24"/>
                    </p:tgtEl>
                  </p:cond>
                </p:stCondLst>
                <p:endSync evt="end" delay="0">
                  <p:rtn val="all"/>
                </p:endSync>
                <p:childTnLst>
                  <p:par>
                    <p:cTn id="48" fill="hold">
                      <p:stCondLst>
                        <p:cond delay="0"/>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500"/>
                                        <p:tgtEl>
                                          <p:spTgt spid="24"/>
                                        </p:tgtEl>
                                      </p:cBhvr>
                                    </p:animEffect>
                                    <p:set>
                                      <p:cBhvr>
                                        <p:cTn id="52" dur="1" fill="hold">
                                          <p:stCondLst>
                                            <p:cond delay="499"/>
                                          </p:stCondLst>
                                        </p:cTn>
                                        <p:tgtEl>
                                          <p:spTgt spid="24"/>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23"/>
                                        </p:tgtEl>
                                      </p:cBhvr>
                                    </p:animEffect>
                                    <p:set>
                                      <p:cBhvr>
                                        <p:cTn id="55"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05" b="-13405"/>
            </a:stretch>
          </a:blipFill>
        </p:spPr>
        <p:txBody>
          <a:bodyPr/>
          <a:lstStyle/>
          <a:p>
            <a:endParaRPr lang="es-MX"/>
          </a:p>
        </p:txBody>
      </p:sp>
      <p:sp>
        <p:nvSpPr>
          <p:cNvPr id="3" name="Freeform 3"/>
          <p:cNvSpPr/>
          <p:nvPr/>
        </p:nvSpPr>
        <p:spPr>
          <a:xfrm>
            <a:off x="4737519" y="260409"/>
            <a:ext cx="8812963" cy="2037998"/>
          </a:xfrm>
          <a:custGeom>
            <a:avLst/>
            <a:gdLst/>
            <a:ahLst/>
            <a:cxnLst/>
            <a:rect l="l" t="t" r="r" b="b"/>
            <a:pathLst>
              <a:path w="8812963" h="2037998">
                <a:moveTo>
                  <a:pt x="0" y="0"/>
                </a:moveTo>
                <a:lnTo>
                  <a:pt x="8812962" y="0"/>
                </a:lnTo>
                <a:lnTo>
                  <a:pt x="8812962" y="2037998"/>
                </a:lnTo>
                <a:lnTo>
                  <a:pt x="0" y="2037998"/>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3067527" y="4570807"/>
            <a:ext cx="12152946" cy="1021561"/>
          </a:xfrm>
          <a:prstGeom prst="rect">
            <a:avLst/>
          </a:prstGeom>
        </p:spPr>
        <p:txBody>
          <a:bodyPr lIns="0" tIns="0" rIns="0" bIns="0" rtlCol="0" anchor="t">
            <a:spAutoFit/>
          </a:bodyPr>
          <a:lstStyle/>
          <a:p>
            <a:pPr algn="ctr">
              <a:lnSpc>
                <a:spcPts val="8268"/>
              </a:lnSpc>
            </a:pPr>
            <a:r>
              <a:rPr lang="en-US" sz="5906" b="1">
                <a:solidFill>
                  <a:srgbClr val="1800AD"/>
                </a:solidFill>
                <a:latin typeface="Archivo Narrow Bold"/>
                <a:ea typeface="Archivo Narrow Bold"/>
                <a:cs typeface="Archivo Narrow Bold"/>
                <a:sym typeface="Archivo Narrow Bold"/>
              </a:rPr>
              <a:t>6.4 Manejo de objetos persistentes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3C78FBF8-F63E-43F0-BFA3-F43A487D7AFA}"/>
              </a:ext>
            </a:extLst>
          </p:cNvPr>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4" name="CuadroTexto 3">
            <a:extLst>
              <a:ext uri="{FF2B5EF4-FFF2-40B4-BE49-F238E27FC236}">
                <a16:creationId xmlns:a16="http://schemas.microsoft.com/office/drawing/2014/main" id="{5355115B-5014-49FE-75BD-CA750846197C}"/>
              </a:ext>
            </a:extLst>
          </p:cNvPr>
          <p:cNvSpPr txBox="1"/>
          <p:nvPr/>
        </p:nvSpPr>
        <p:spPr>
          <a:xfrm>
            <a:off x="2117047" y="2857500"/>
            <a:ext cx="14097000" cy="1815882"/>
          </a:xfrm>
          <a:prstGeom prst="rect">
            <a:avLst/>
          </a:prstGeom>
          <a:noFill/>
        </p:spPr>
        <p:txBody>
          <a:bodyPr wrap="square">
            <a:spAutoFit/>
          </a:bodyPr>
          <a:lstStyle/>
          <a:p>
            <a:pPr algn="just"/>
            <a:r>
              <a:rPr lang="es-MX" sz="2800">
                <a:latin typeface="Archivo Narrow" panose="020B0604020202020204" charset="0"/>
              </a:rPr>
              <a:t>La persistencia de objetos consiste en guardar el estado de los objetos en un archivo, de manera que puedan recuperarse más tarde. En Java, esto se realiza mediante el proceso de serialización, que convierte un objeto en una secuencia de bytes para almacenarlo o enviarlo. Para ello, la clase debe implementar la interfaz Serializable del paquete java.io.</a:t>
            </a:r>
            <a:endParaRPr lang="es-MX" sz="2800" dirty="0">
              <a:latin typeface="Archivo Narrow" panose="020B0604020202020204" charset="0"/>
            </a:endParaRPr>
          </a:p>
        </p:txBody>
      </p:sp>
      <p:sp>
        <p:nvSpPr>
          <p:cNvPr id="6" name="CuadroTexto 5">
            <a:extLst>
              <a:ext uri="{FF2B5EF4-FFF2-40B4-BE49-F238E27FC236}">
                <a16:creationId xmlns:a16="http://schemas.microsoft.com/office/drawing/2014/main" id="{42E76357-FAD2-9C8B-9CA3-4135EFFC2A7A}"/>
              </a:ext>
            </a:extLst>
          </p:cNvPr>
          <p:cNvSpPr txBox="1"/>
          <p:nvPr/>
        </p:nvSpPr>
        <p:spPr>
          <a:xfrm>
            <a:off x="5410200" y="1714500"/>
            <a:ext cx="8305800" cy="923330"/>
          </a:xfrm>
          <a:prstGeom prst="rect">
            <a:avLst/>
          </a:prstGeom>
          <a:noFill/>
        </p:spPr>
        <p:txBody>
          <a:bodyPr wrap="square">
            <a:spAutoFit/>
          </a:bodyPr>
          <a:lstStyle/>
          <a:p>
            <a:pPr algn="ctr"/>
            <a:r>
              <a:rPr lang="es-MX" sz="5400" b="1" dirty="0">
                <a:latin typeface="Archivo Narrow" panose="020B0604020202020204" charset="0"/>
              </a:rPr>
              <a:t>Manejo de objetos persistentes</a:t>
            </a:r>
          </a:p>
        </p:txBody>
      </p:sp>
      <p:sp>
        <p:nvSpPr>
          <p:cNvPr id="10" name="CuadroTexto 9">
            <a:extLst>
              <a:ext uri="{FF2B5EF4-FFF2-40B4-BE49-F238E27FC236}">
                <a16:creationId xmlns:a16="http://schemas.microsoft.com/office/drawing/2014/main" id="{A65A106D-E2F1-4CB3-CAC6-909691E82849}"/>
              </a:ext>
            </a:extLst>
          </p:cNvPr>
          <p:cNvSpPr txBox="1"/>
          <p:nvPr/>
        </p:nvSpPr>
        <p:spPr>
          <a:xfrm>
            <a:off x="4038600" y="5143500"/>
            <a:ext cx="3876907" cy="1323439"/>
          </a:xfrm>
          <a:prstGeom prst="rect">
            <a:avLst/>
          </a:prstGeom>
          <a:noFill/>
        </p:spPr>
        <p:txBody>
          <a:bodyPr wrap="square">
            <a:spAutoFit/>
          </a:bodyPr>
          <a:lstStyle/>
          <a:p>
            <a:pPr algn="ctr"/>
            <a:r>
              <a:rPr lang="es-MX" sz="4000" b="1" dirty="0">
                <a:latin typeface="Archivo Narrow" panose="020B0604020202020204" charset="0"/>
              </a:rPr>
              <a:t>Ejemplo de serialización</a:t>
            </a:r>
          </a:p>
        </p:txBody>
      </p:sp>
      <p:sp>
        <p:nvSpPr>
          <p:cNvPr id="12" name="CuadroTexto 11">
            <a:extLst>
              <a:ext uri="{FF2B5EF4-FFF2-40B4-BE49-F238E27FC236}">
                <a16:creationId xmlns:a16="http://schemas.microsoft.com/office/drawing/2014/main" id="{8AC5E4B0-8CCE-8D82-0837-A90F01148CD9}"/>
              </a:ext>
            </a:extLst>
          </p:cNvPr>
          <p:cNvSpPr txBox="1"/>
          <p:nvPr/>
        </p:nvSpPr>
        <p:spPr>
          <a:xfrm>
            <a:off x="10129954" y="5143499"/>
            <a:ext cx="4638907" cy="1323439"/>
          </a:xfrm>
          <a:prstGeom prst="rect">
            <a:avLst/>
          </a:prstGeom>
          <a:noFill/>
        </p:spPr>
        <p:txBody>
          <a:bodyPr wrap="square">
            <a:spAutoFit/>
          </a:bodyPr>
          <a:lstStyle/>
          <a:p>
            <a:pPr algn="ctr"/>
            <a:r>
              <a:rPr lang="es-MX" sz="4000" b="1" dirty="0">
                <a:latin typeface="Archivo Narrow" panose="020B0604020202020204" charset="0"/>
              </a:rPr>
              <a:t>Ejemplo de deserialización</a:t>
            </a:r>
          </a:p>
        </p:txBody>
      </p:sp>
      <p:pic>
        <p:nvPicPr>
          <p:cNvPr id="13" name="Imagen 12" descr="Icono&#10;&#10;El contenido generado por IA puede ser incorrecto.">
            <a:extLst>
              <a:ext uri="{FF2B5EF4-FFF2-40B4-BE49-F238E27FC236}">
                <a16:creationId xmlns:a16="http://schemas.microsoft.com/office/drawing/2014/main" id="{2E379C61-72A0-5B95-4BC2-CB5415EDD4D4}"/>
              </a:ext>
            </a:extLst>
          </p:cNvPr>
          <p:cNvPicPr>
            <a:picLocks noChangeAspect="1"/>
          </p:cNvPicPr>
          <p:nvPr/>
        </p:nvPicPr>
        <p:blipFill>
          <a:blip r:embed="rId3" cstate="print">
            <a:extLst>
              <a:ext uri="{28A0092B-C50C-407E-A947-70E740481C1C}">
                <a14:useLocalDpi xmlns:a14="http://schemas.microsoft.com/office/drawing/2010/main" val="0"/>
              </a:ext>
            </a:extLst>
          </a:blip>
          <a:srcRect l="30377" t="16327" r="30874" b="16452"/>
          <a:stretch>
            <a:fillRect/>
          </a:stretch>
        </p:blipFill>
        <p:spPr>
          <a:xfrm>
            <a:off x="5482028" y="6586217"/>
            <a:ext cx="990049" cy="966096"/>
          </a:xfrm>
          <a:prstGeom prst="ellipse">
            <a:avLst/>
          </a:prstGeom>
        </p:spPr>
      </p:pic>
      <p:pic>
        <p:nvPicPr>
          <p:cNvPr id="17" name="Imagen 16" descr="Icono&#10;&#10;El contenido generado por IA puede ser incorrecto.">
            <a:extLst>
              <a:ext uri="{FF2B5EF4-FFF2-40B4-BE49-F238E27FC236}">
                <a16:creationId xmlns:a16="http://schemas.microsoft.com/office/drawing/2014/main" id="{C1B281E8-F569-6AE7-E68C-36CEE3A0FFA7}"/>
              </a:ext>
            </a:extLst>
          </p:cNvPr>
          <p:cNvPicPr>
            <a:picLocks noChangeAspect="1"/>
          </p:cNvPicPr>
          <p:nvPr/>
        </p:nvPicPr>
        <p:blipFill>
          <a:blip r:embed="rId3" cstate="print">
            <a:extLst>
              <a:ext uri="{28A0092B-C50C-407E-A947-70E740481C1C}">
                <a14:useLocalDpi xmlns:a14="http://schemas.microsoft.com/office/drawing/2010/main" val="0"/>
              </a:ext>
            </a:extLst>
          </a:blip>
          <a:srcRect l="30377" t="16327" r="30874" b="16452"/>
          <a:stretch>
            <a:fillRect/>
          </a:stretch>
        </p:blipFill>
        <p:spPr>
          <a:xfrm>
            <a:off x="11964161" y="6615024"/>
            <a:ext cx="990049" cy="966096"/>
          </a:xfrm>
          <a:prstGeom prst="ellipse">
            <a:avLst/>
          </a:prstGeom>
        </p:spPr>
      </p:pic>
      <p:pic>
        <p:nvPicPr>
          <p:cNvPr id="15" name="Imagen 14">
            <a:extLst>
              <a:ext uri="{FF2B5EF4-FFF2-40B4-BE49-F238E27FC236}">
                <a16:creationId xmlns:a16="http://schemas.microsoft.com/office/drawing/2014/main" id="{C7C484B6-4C98-9D06-CE92-E243F69FE9FD}"/>
              </a:ext>
            </a:extLst>
          </p:cNvPr>
          <p:cNvPicPr>
            <a:picLocks noChangeAspect="1"/>
          </p:cNvPicPr>
          <p:nvPr/>
        </p:nvPicPr>
        <p:blipFill>
          <a:blip r:embed="rId4"/>
          <a:stretch>
            <a:fillRect/>
          </a:stretch>
        </p:blipFill>
        <p:spPr>
          <a:xfrm>
            <a:off x="1014982" y="2224594"/>
            <a:ext cx="16258036" cy="5620808"/>
          </a:xfrm>
          <a:prstGeom prst="rect">
            <a:avLst/>
          </a:prstGeom>
        </p:spPr>
      </p:pic>
      <p:pic>
        <p:nvPicPr>
          <p:cNvPr id="16" name="Picture 6" descr="X png cruzar png transparente antecedentes 38341441 PNG">
            <a:extLst>
              <a:ext uri="{FF2B5EF4-FFF2-40B4-BE49-F238E27FC236}">
                <a16:creationId xmlns:a16="http://schemas.microsoft.com/office/drawing/2014/main" id="{2BBC7B3A-4F83-06E1-01D9-E078AE11E7E2}"/>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1632" t="12307" r="12449" b="12307"/>
          <a:stretch>
            <a:fillRect/>
          </a:stretch>
        </p:blipFill>
        <p:spPr bwMode="auto">
          <a:xfrm>
            <a:off x="17000520" y="2007589"/>
            <a:ext cx="642523" cy="638026"/>
          </a:xfrm>
          <a:prstGeom prst="rect">
            <a:avLst/>
          </a:prstGeom>
          <a:noFill/>
          <a:extLst>
            <a:ext uri="{909E8E84-426E-40DD-AFC4-6F175D3DCCD1}">
              <a14:hiddenFill xmlns:a14="http://schemas.microsoft.com/office/drawing/2010/main">
                <a:solidFill>
                  <a:srgbClr val="FFFFFF"/>
                </a:solidFill>
              </a14:hiddenFill>
            </a:ext>
          </a:extLst>
        </p:spPr>
      </p:pic>
      <p:pic>
        <p:nvPicPr>
          <p:cNvPr id="19" name="Imagen 18">
            <a:extLst>
              <a:ext uri="{FF2B5EF4-FFF2-40B4-BE49-F238E27FC236}">
                <a16:creationId xmlns:a16="http://schemas.microsoft.com/office/drawing/2014/main" id="{0F18940A-E791-58B0-C34B-C36013B04414}"/>
              </a:ext>
            </a:extLst>
          </p:cNvPr>
          <p:cNvPicPr>
            <a:picLocks noChangeAspect="1"/>
          </p:cNvPicPr>
          <p:nvPr/>
        </p:nvPicPr>
        <p:blipFill>
          <a:blip r:embed="rId6"/>
          <a:stretch>
            <a:fillRect/>
          </a:stretch>
        </p:blipFill>
        <p:spPr>
          <a:xfrm>
            <a:off x="1039487" y="2895258"/>
            <a:ext cx="16603556" cy="4279480"/>
          </a:xfrm>
          <a:prstGeom prst="rect">
            <a:avLst/>
          </a:prstGeom>
        </p:spPr>
      </p:pic>
      <p:pic>
        <p:nvPicPr>
          <p:cNvPr id="20" name="Picture 6" descr="X png cruzar png transparente antecedentes 38341441 PNG">
            <a:extLst>
              <a:ext uri="{FF2B5EF4-FFF2-40B4-BE49-F238E27FC236}">
                <a16:creationId xmlns:a16="http://schemas.microsoft.com/office/drawing/2014/main" id="{10A0C30B-963E-16D9-7E15-0E5238220CAC}"/>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1632" t="12307" r="12449" b="12307"/>
          <a:stretch>
            <a:fillRect/>
          </a:stretch>
        </p:blipFill>
        <p:spPr bwMode="auto">
          <a:xfrm>
            <a:off x="17346286" y="2683373"/>
            <a:ext cx="642523" cy="6380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childTnLst>
              </p:cTn>
              <p:nextCondLst>
                <p:cond evt="onClick" delay="0">
                  <p:tgtEl>
                    <p:spTgt spid="13"/>
                  </p:tgtEl>
                </p:cond>
              </p:nextCondLst>
            </p:seq>
            <p:seq concurrent="1" nextAc="seek">
              <p:cTn id="11" restart="whenNotActive" fill="hold" evtFilter="cancelBubble" nodeType="interactiveSeq">
                <p:stCondLst>
                  <p:cond evt="onClick" delay="0">
                    <p:tgtEl>
                      <p:spTgt spid="16"/>
                    </p:tgtEl>
                  </p:cond>
                </p:stCondLst>
                <p:endSync evt="end" delay="0">
                  <p:rtn val="all"/>
                </p:endSync>
                <p:childTnLst>
                  <p:par>
                    <p:cTn id="12" fill="hold">
                      <p:stCondLst>
                        <p:cond delay="0"/>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16"/>
                                        </p:tgtEl>
                                      </p:cBhvr>
                                    </p:animEffect>
                                    <p:set>
                                      <p:cBhvr>
                                        <p:cTn id="16" dur="1" fill="hold">
                                          <p:stCondLst>
                                            <p:cond delay="499"/>
                                          </p:stCondLst>
                                        </p:cTn>
                                        <p:tgtEl>
                                          <p:spTgt spid="16"/>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15"/>
                                        </p:tgtEl>
                                      </p:cBhvr>
                                    </p:animEffect>
                                    <p:set>
                                      <p:cBhvr>
                                        <p:cTn id="19"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20" restart="whenNotActive" fill="hold" evtFilter="cancelBubble" nodeType="interactiveSeq">
                <p:stCondLst>
                  <p:cond evt="onClick" delay="0">
                    <p:tgtEl>
                      <p:spTgt spid="17"/>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childTnLst>
              </p:cTn>
              <p:nextCondLst>
                <p:cond evt="onClick" delay="0">
                  <p:tgtEl>
                    <p:spTgt spid="17"/>
                  </p:tgtEl>
                </p:cond>
              </p:nextCondLst>
            </p:seq>
            <p:seq concurrent="1" nextAc="seek">
              <p:cTn id="29" restart="whenNotActive" fill="hold" evtFilter="cancelBubble" nodeType="interactiveSeq">
                <p:stCondLst>
                  <p:cond evt="onClick" delay="0">
                    <p:tgtEl>
                      <p:spTgt spid="20"/>
                    </p:tgtEl>
                  </p:cond>
                </p:stCondLst>
                <p:endSync evt="end" delay="0">
                  <p:rtn val="all"/>
                </p:endSync>
                <p:childTnLst>
                  <p:par>
                    <p:cTn id="30" fill="hold">
                      <p:stCondLst>
                        <p:cond delay="0"/>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20"/>
                                        </p:tgtEl>
                                      </p:cBhvr>
                                    </p:animEffect>
                                    <p:set>
                                      <p:cBhvr>
                                        <p:cTn id="34" dur="1" fill="hold">
                                          <p:stCondLst>
                                            <p:cond delay="499"/>
                                          </p:stCondLst>
                                        </p:cTn>
                                        <p:tgtEl>
                                          <p:spTgt spid="20"/>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500"/>
                                        <p:tgtEl>
                                          <p:spTgt spid="19"/>
                                        </p:tgtEl>
                                      </p:cBhvr>
                                    </p:animEffect>
                                    <p:set>
                                      <p:cBhvr>
                                        <p:cTn id="37"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05" b="-13405"/>
            </a:stretch>
          </a:blipFill>
        </p:spPr>
        <p:txBody>
          <a:bodyPr/>
          <a:lstStyle/>
          <a:p>
            <a:endParaRPr lang="es-MX"/>
          </a:p>
        </p:txBody>
      </p:sp>
      <p:sp>
        <p:nvSpPr>
          <p:cNvPr id="3" name="Freeform 3"/>
          <p:cNvSpPr/>
          <p:nvPr/>
        </p:nvSpPr>
        <p:spPr>
          <a:xfrm>
            <a:off x="4737519" y="260409"/>
            <a:ext cx="8812963" cy="2037998"/>
          </a:xfrm>
          <a:custGeom>
            <a:avLst/>
            <a:gdLst/>
            <a:ahLst/>
            <a:cxnLst/>
            <a:rect l="l" t="t" r="r" b="b"/>
            <a:pathLst>
              <a:path w="8812963" h="2037998">
                <a:moveTo>
                  <a:pt x="0" y="0"/>
                </a:moveTo>
                <a:lnTo>
                  <a:pt x="8812962" y="0"/>
                </a:lnTo>
                <a:lnTo>
                  <a:pt x="8812962" y="2037998"/>
                </a:lnTo>
                <a:lnTo>
                  <a:pt x="0" y="2037998"/>
                </a:lnTo>
                <a:lnTo>
                  <a:pt x="0" y="0"/>
                </a:lnTo>
                <a:close/>
              </a:path>
            </a:pathLst>
          </a:custGeom>
          <a:blipFill>
            <a:blip r:embed="rId3"/>
            <a:stretch>
              <a:fillRect/>
            </a:stretch>
          </a:blipFill>
        </p:spPr>
        <p:txBody>
          <a:bodyPr/>
          <a:lstStyle/>
          <a:p>
            <a:endParaRPr lang="es-MX"/>
          </a:p>
        </p:txBody>
      </p:sp>
      <p:sp>
        <p:nvSpPr>
          <p:cNvPr id="4" name="Freeform 4"/>
          <p:cNvSpPr/>
          <p:nvPr/>
        </p:nvSpPr>
        <p:spPr>
          <a:xfrm>
            <a:off x="6805806" y="4444414"/>
            <a:ext cx="3994713" cy="3442831"/>
          </a:xfrm>
          <a:custGeom>
            <a:avLst/>
            <a:gdLst/>
            <a:ahLst/>
            <a:cxnLst/>
            <a:rect l="l" t="t" r="r" b="b"/>
            <a:pathLst>
              <a:path w="3994713" h="3442831">
                <a:moveTo>
                  <a:pt x="0" y="0"/>
                </a:moveTo>
                <a:lnTo>
                  <a:pt x="3994713" y="0"/>
                </a:lnTo>
                <a:lnTo>
                  <a:pt x="3994713" y="3442831"/>
                </a:lnTo>
                <a:lnTo>
                  <a:pt x="0" y="3442831"/>
                </a:lnTo>
                <a:lnTo>
                  <a:pt x="0" y="0"/>
                </a:lnTo>
                <a:close/>
              </a:path>
            </a:pathLst>
          </a:custGeom>
          <a:blipFill>
            <a:blip r:embed="rId4"/>
            <a:stretch>
              <a:fillRect t="-16029"/>
            </a:stretch>
          </a:blipFill>
        </p:spPr>
        <p:txBody>
          <a:bodyPr/>
          <a:lstStyle/>
          <a:p>
            <a:endParaRPr lang="es-MX"/>
          </a:p>
        </p:txBody>
      </p:sp>
      <p:sp>
        <p:nvSpPr>
          <p:cNvPr id="5" name="TextBox 5"/>
          <p:cNvSpPr txBox="1"/>
          <p:nvPr/>
        </p:nvSpPr>
        <p:spPr>
          <a:xfrm>
            <a:off x="3820026" y="2146007"/>
            <a:ext cx="9966275" cy="1212838"/>
          </a:xfrm>
          <a:prstGeom prst="rect">
            <a:avLst/>
          </a:prstGeom>
        </p:spPr>
        <p:txBody>
          <a:bodyPr lIns="0" tIns="0" rIns="0" bIns="0" rtlCol="0" anchor="t">
            <a:spAutoFit/>
          </a:bodyPr>
          <a:lstStyle/>
          <a:p>
            <a:pPr algn="ctr">
              <a:lnSpc>
                <a:spcPts val="9800"/>
              </a:lnSpc>
            </a:pPr>
            <a:r>
              <a:rPr lang="en-US" sz="7000" b="1">
                <a:solidFill>
                  <a:srgbClr val="1800AD"/>
                </a:solidFill>
                <a:latin typeface="Archivo Narrow Bold"/>
                <a:ea typeface="Archivo Narrow Bold"/>
                <a:cs typeface="Archivo Narrow Bold"/>
                <a:sym typeface="Archivo Narrow Bold"/>
              </a:rPr>
              <a:t>Planteamiento de Problemas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TotalTime>
  <Words>286</Words>
  <Application>Microsoft Office PowerPoint</Application>
  <PresentationFormat>Personalizado</PresentationFormat>
  <Paragraphs>26</Paragraphs>
  <Slides>10</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vt:i4>
      </vt:variant>
    </vt:vector>
  </HeadingPairs>
  <TitlesOfParts>
    <vt:vector size="16" baseType="lpstr">
      <vt:lpstr>Arial</vt:lpstr>
      <vt:lpstr>Aptos</vt:lpstr>
      <vt:lpstr>Archivo Narrow</vt:lpstr>
      <vt:lpstr>Archivo Narrow Bold</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6 POO</dc:title>
  <cp:lastModifiedBy>a16576</cp:lastModifiedBy>
  <cp:revision>3</cp:revision>
  <dcterms:created xsi:type="dcterms:W3CDTF">2006-08-16T00:00:00Z</dcterms:created>
  <dcterms:modified xsi:type="dcterms:W3CDTF">2025-11-14T06:38:08Z</dcterms:modified>
  <dc:identifier>DAG35Wy5ryc</dc:identifier>
</cp:coreProperties>
</file>