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5" r:id="rId20"/>
  </p:sldIdLst>
  <p:sldSz cx="18288000" cy="10287000"/>
  <p:notesSz cx="6858000" cy="9144000"/>
  <p:embeddedFontLst>
    <p:embeddedFont>
      <p:font typeface="Archivo Narrow" panose="020B0604020202020204" charset="0"/>
      <p:regular r:id="rId22"/>
    </p:embeddedFont>
    <p:embeddedFont>
      <p:font typeface="Archivo Narrow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3" d="100"/>
          <a:sy n="43" d="100"/>
        </p:scale>
        <p:origin x="936" y="6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778819B-656B-4106-B653-640870A95A9D}" type="datetimeFigureOut">
              <a:rPr lang="es-MX" smtClean="0"/>
              <a:t>18/11/2025</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C1682BD-3CDE-4E8B-A07A-4AA13566CAD4}" type="slidenum">
              <a:rPr lang="es-MX" smtClean="0"/>
              <a:t>‹Nº›</a:t>
            </a:fld>
            <a:endParaRPr lang="es-MX"/>
          </a:p>
        </p:txBody>
      </p:sp>
    </p:spTree>
    <p:extLst>
      <p:ext uri="{BB962C8B-B14F-4D97-AF65-F5344CB8AC3E}">
        <p14:creationId xmlns:p14="http://schemas.microsoft.com/office/powerpoint/2010/main" val="7395251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3C1682BD-3CDE-4E8B-A07A-4AA13566CAD4}" type="slidenum">
              <a:rPr lang="es-MX" smtClean="0"/>
              <a:t>5</a:t>
            </a:fld>
            <a:endParaRPr lang="es-MX"/>
          </a:p>
        </p:txBody>
      </p:sp>
    </p:spTree>
    <p:extLst>
      <p:ext uri="{BB962C8B-B14F-4D97-AF65-F5344CB8AC3E}">
        <p14:creationId xmlns:p14="http://schemas.microsoft.com/office/powerpoint/2010/main" val="30839451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5"/>
          </p:nvPr>
        </p:nvSpPr>
        <p:spPr/>
        <p:txBody>
          <a:bodyPr/>
          <a:lstStyle/>
          <a:p>
            <a:fld id="{3C1682BD-3CDE-4E8B-A07A-4AA13566CAD4}" type="slidenum">
              <a:rPr lang="es-MX" smtClean="0"/>
              <a:t>9</a:t>
            </a:fld>
            <a:endParaRPr lang="es-MX"/>
          </a:p>
        </p:txBody>
      </p:sp>
    </p:spTree>
    <p:extLst>
      <p:ext uri="{BB962C8B-B14F-4D97-AF65-F5344CB8AC3E}">
        <p14:creationId xmlns:p14="http://schemas.microsoft.com/office/powerpoint/2010/main" val="22590375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11/18/2025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7.jpeg"/><Relationship Id="rId7" Type="http://schemas.openxmlformats.org/officeDocument/2006/relationships/image" Target="../media/image13.svg"/><Relationship Id="rId12" Type="http://schemas.openxmlformats.org/officeDocument/2006/relationships/image" Target="../media/image18.gi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7.jpeg"/><Relationship Id="rId7" Type="http://schemas.openxmlformats.org/officeDocument/2006/relationships/image" Target="../media/image22.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gif"/><Relationship Id="rId5" Type="http://schemas.openxmlformats.org/officeDocument/2006/relationships/image" Target="../media/image21.svg"/><Relationship Id="rId10" Type="http://schemas.openxmlformats.org/officeDocument/2006/relationships/image" Target="../media/image25.png"/><Relationship Id="rId4" Type="http://schemas.openxmlformats.org/officeDocument/2006/relationships/image" Target="../media/image20.png"/><Relationship Id="rId9"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7.jpeg"/><Relationship Id="rId1" Type="http://schemas.openxmlformats.org/officeDocument/2006/relationships/slideLayout" Target="../slideLayouts/slideLayout7.xml"/><Relationship Id="rId5" Type="http://schemas.openxmlformats.org/officeDocument/2006/relationships/image" Target="../media/image18.gif"/><Relationship Id="rId4" Type="http://schemas.openxmlformats.org/officeDocument/2006/relationships/image" Target="../media/image21.sv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png"/><Relationship Id="rId18" Type="http://schemas.openxmlformats.org/officeDocument/2006/relationships/image" Target="../media/image39.png"/><Relationship Id="rId3" Type="http://schemas.openxmlformats.org/officeDocument/2006/relationships/image" Target="../media/image16.png"/><Relationship Id="rId7" Type="http://schemas.openxmlformats.org/officeDocument/2006/relationships/image" Target="../media/image28.png"/><Relationship Id="rId12" Type="http://schemas.openxmlformats.org/officeDocument/2006/relationships/image" Target="../media/image33.png"/><Relationship Id="rId17" Type="http://schemas.openxmlformats.org/officeDocument/2006/relationships/image" Target="../media/image38.png"/><Relationship Id="rId2" Type="http://schemas.openxmlformats.org/officeDocument/2006/relationships/image" Target="../media/image7.jpeg"/><Relationship Id="rId16"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11.svg"/><Relationship Id="rId11" Type="http://schemas.openxmlformats.org/officeDocument/2006/relationships/image" Target="../media/image32.png"/><Relationship Id="rId5" Type="http://schemas.openxmlformats.org/officeDocument/2006/relationships/image" Target="../media/image10.png"/><Relationship Id="rId15" Type="http://schemas.openxmlformats.org/officeDocument/2006/relationships/image" Target="../media/image36.png"/><Relationship Id="rId10" Type="http://schemas.openxmlformats.org/officeDocument/2006/relationships/image" Target="../media/image31.png"/><Relationship Id="rId19" Type="http://schemas.openxmlformats.org/officeDocument/2006/relationships/image" Target="../media/image40.png"/><Relationship Id="rId4" Type="http://schemas.openxmlformats.org/officeDocument/2006/relationships/image" Target="../media/image17.svg"/><Relationship Id="rId9" Type="http://schemas.openxmlformats.org/officeDocument/2006/relationships/image" Target="../media/image30.png"/><Relationship Id="rId14" Type="http://schemas.openxmlformats.org/officeDocument/2006/relationships/image" Target="../media/image35.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4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353" b="-9353"/>
            </a:stretch>
          </a:blipFill>
        </p:spPr>
        <p:txBody>
          <a:bodyPr/>
          <a:lstStyle/>
          <a:p>
            <a:endParaRPr lang="es-MX"/>
          </a:p>
        </p:txBody>
      </p:sp>
      <p:sp>
        <p:nvSpPr>
          <p:cNvPr id="3" name="Freeform 3"/>
          <p:cNvSpPr/>
          <p:nvPr/>
        </p:nvSpPr>
        <p:spPr>
          <a:xfrm>
            <a:off x="7434748" y="1724995"/>
            <a:ext cx="3945933" cy="3945933"/>
          </a:xfrm>
          <a:custGeom>
            <a:avLst/>
            <a:gdLst/>
            <a:ahLst/>
            <a:cxnLst/>
            <a:rect l="l" t="t" r="r" b="b"/>
            <a:pathLst>
              <a:path w="3945933" h="3945933">
                <a:moveTo>
                  <a:pt x="0" y="0"/>
                </a:moveTo>
                <a:lnTo>
                  <a:pt x="3945932" y="0"/>
                </a:lnTo>
                <a:lnTo>
                  <a:pt x="3945932" y="3945933"/>
                </a:lnTo>
                <a:lnTo>
                  <a:pt x="0" y="3945933"/>
                </a:lnTo>
                <a:lnTo>
                  <a:pt x="0" y="0"/>
                </a:lnTo>
                <a:close/>
              </a:path>
            </a:pathLst>
          </a:custGeom>
          <a:blipFill>
            <a:blip r:embed="rId3"/>
            <a:stretch>
              <a:fillRect/>
            </a:stretch>
          </a:blipFill>
        </p:spPr>
        <p:txBody>
          <a:bodyPr/>
          <a:lstStyle/>
          <a:p>
            <a:endParaRPr lang="es-MX"/>
          </a:p>
        </p:txBody>
      </p:sp>
      <p:grpSp>
        <p:nvGrpSpPr>
          <p:cNvPr id="4" name="Group 4"/>
          <p:cNvGrpSpPr/>
          <p:nvPr/>
        </p:nvGrpSpPr>
        <p:grpSpPr>
          <a:xfrm>
            <a:off x="13758112" y="-4102512"/>
            <a:ext cx="10689723" cy="10262424"/>
            <a:chOff x="0" y="0"/>
            <a:chExt cx="752667" cy="722581"/>
          </a:xfrm>
        </p:grpSpPr>
        <p:sp>
          <p:nvSpPr>
            <p:cNvPr id="5" name="Freeform 5"/>
            <p:cNvSpPr/>
            <p:nvPr/>
          </p:nvSpPr>
          <p:spPr>
            <a:xfrm>
              <a:off x="-575" y="-575"/>
              <a:ext cx="753818" cy="723731"/>
            </a:xfrm>
            <a:custGeom>
              <a:avLst/>
              <a:gdLst/>
              <a:ahLst/>
              <a:cxnLst/>
              <a:rect l="l" t="t" r="r" b="b"/>
              <a:pathLst>
                <a:path w="753818" h="723731">
                  <a:moveTo>
                    <a:pt x="413303" y="2268"/>
                  </a:moveTo>
                  <a:lnTo>
                    <a:pt x="425291" y="58308"/>
                  </a:lnTo>
                  <a:cubicBezTo>
                    <a:pt x="448494" y="61714"/>
                    <a:pt x="471236" y="67554"/>
                    <a:pt x="493103" y="75748"/>
                  </a:cubicBezTo>
                  <a:lnTo>
                    <a:pt x="532670" y="32976"/>
                  </a:lnTo>
                  <a:cubicBezTo>
                    <a:pt x="554811" y="42633"/>
                    <a:pt x="575924" y="54341"/>
                    <a:pt x="595713" y="67910"/>
                  </a:cubicBezTo>
                  <a:lnTo>
                    <a:pt x="576912" y="122200"/>
                  </a:lnTo>
                  <a:cubicBezTo>
                    <a:pt x="595230" y="136288"/>
                    <a:pt x="611877" y="152265"/>
                    <a:pt x="626554" y="169856"/>
                  </a:cubicBezTo>
                  <a:lnTo>
                    <a:pt x="683095" y="151800"/>
                  </a:lnTo>
                  <a:cubicBezTo>
                    <a:pt x="697237" y="170799"/>
                    <a:pt x="709426" y="191071"/>
                    <a:pt x="719494" y="212326"/>
                  </a:cubicBezTo>
                  <a:lnTo>
                    <a:pt x="674940" y="250311"/>
                  </a:lnTo>
                  <a:cubicBezTo>
                    <a:pt x="683467" y="271307"/>
                    <a:pt x="689560" y="293138"/>
                    <a:pt x="693110" y="315407"/>
                  </a:cubicBezTo>
                  <a:lnTo>
                    <a:pt x="751477" y="326924"/>
                  </a:lnTo>
                  <a:cubicBezTo>
                    <a:pt x="753817" y="350163"/>
                    <a:pt x="753817" y="373567"/>
                    <a:pt x="751477" y="396807"/>
                  </a:cubicBezTo>
                  <a:lnTo>
                    <a:pt x="693110" y="408310"/>
                  </a:lnTo>
                  <a:cubicBezTo>
                    <a:pt x="689560" y="430593"/>
                    <a:pt x="683467" y="452423"/>
                    <a:pt x="674940" y="473419"/>
                  </a:cubicBezTo>
                  <a:lnTo>
                    <a:pt x="719494" y="511405"/>
                  </a:lnTo>
                  <a:cubicBezTo>
                    <a:pt x="709426" y="532660"/>
                    <a:pt x="697237" y="552918"/>
                    <a:pt x="683095" y="571917"/>
                  </a:cubicBezTo>
                  <a:lnTo>
                    <a:pt x="626554" y="553875"/>
                  </a:lnTo>
                  <a:cubicBezTo>
                    <a:pt x="611877" y="571452"/>
                    <a:pt x="595230" y="587443"/>
                    <a:pt x="576912" y="601532"/>
                  </a:cubicBezTo>
                  <a:lnTo>
                    <a:pt x="595713" y="655808"/>
                  </a:lnTo>
                  <a:cubicBezTo>
                    <a:pt x="575924" y="669390"/>
                    <a:pt x="554811" y="681084"/>
                    <a:pt x="532670" y="690755"/>
                  </a:cubicBezTo>
                  <a:lnTo>
                    <a:pt x="493103" y="647982"/>
                  </a:lnTo>
                  <a:cubicBezTo>
                    <a:pt x="471236" y="656163"/>
                    <a:pt x="448494" y="662017"/>
                    <a:pt x="425291" y="665423"/>
                  </a:cubicBezTo>
                  <a:lnTo>
                    <a:pt x="413303" y="721463"/>
                  </a:lnTo>
                  <a:cubicBezTo>
                    <a:pt x="389095" y="723731"/>
                    <a:pt x="364717" y="723731"/>
                    <a:pt x="340508" y="721463"/>
                  </a:cubicBezTo>
                  <a:lnTo>
                    <a:pt x="328520" y="665423"/>
                  </a:lnTo>
                  <a:cubicBezTo>
                    <a:pt x="305316" y="662017"/>
                    <a:pt x="282576" y="656163"/>
                    <a:pt x="260707" y="647982"/>
                  </a:cubicBezTo>
                  <a:lnTo>
                    <a:pt x="221132" y="690755"/>
                  </a:lnTo>
                  <a:cubicBezTo>
                    <a:pt x="199005" y="681084"/>
                    <a:pt x="177889" y="669390"/>
                    <a:pt x="158099" y="655808"/>
                  </a:cubicBezTo>
                  <a:lnTo>
                    <a:pt x="176907" y="601532"/>
                  </a:lnTo>
                  <a:cubicBezTo>
                    <a:pt x="158583" y="587443"/>
                    <a:pt x="141927" y="571452"/>
                    <a:pt x="127252" y="553875"/>
                  </a:cubicBezTo>
                  <a:lnTo>
                    <a:pt x="70715" y="571917"/>
                  </a:lnTo>
                  <a:cubicBezTo>
                    <a:pt x="56581" y="552918"/>
                    <a:pt x="44384" y="532660"/>
                    <a:pt x="34311" y="511405"/>
                  </a:cubicBezTo>
                  <a:lnTo>
                    <a:pt x="78865" y="473419"/>
                  </a:lnTo>
                  <a:cubicBezTo>
                    <a:pt x="70345" y="452423"/>
                    <a:pt x="64246" y="430593"/>
                    <a:pt x="60698" y="408310"/>
                  </a:cubicBezTo>
                  <a:lnTo>
                    <a:pt x="2338" y="396807"/>
                  </a:lnTo>
                  <a:cubicBezTo>
                    <a:pt x="0" y="373567"/>
                    <a:pt x="0" y="350163"/>
                    <a:pt x="2338" y="326924"/>
                  </a:cubicBezTo>
                  <a:lnTo>
                    <a:pt x="60698" y="315407"/>
                  </a:lnTo>
                  <a:cubicBezTo>
                    <a:pt x="64246" y="293138"/>
                    <a:pt x="70345" y="271307"/>
                    <a:pt x="78865" y="250311"/>
                  </a:cubicBezTo>
                  <a:lnTo>
                    <a:pt x="34311" y="212326"/>
                  </a:lnTo>
                  <a:cubicBezTo>
                    <a:pt x="44384" y="191071"/>
                    <a:pt x="56581" y="170799"/>
                    <a:pt x="70715" y="151800"/>
                  </a:cubicBezTo>
                  <a:lnTo>
                    <a:pt x="127252" y="169856"/>
                  </a:lnTo>
                  <a:cubicBezTo>
                    <a:pt x="141927" y="152265"/>
                    <a:pt x="158583" y="136288"/>
                    <a:pt x="176907" y="122200"/>
                  </a:cubicBezTo>
                  <a:lnTo>
                    <a:pt x="158099" y="67910"/>
                  </a:lnTo>
                  <a:cubicBezTo>
                    <a:pt x="177889" y="54341"/>
                    <a:pt x="199005" y="42633"/>
                    <a:pt x="221132" y="32976"/>
                  </a:cubicBezTo>
                  <a:lnTo>
                    <a:pt x="260707" y="75748"/>
                  </a:lnTo>
                  <a:cubicBezTo>
                    <a:pt x="282576" y="67554"/>
                    <a:pt x="305316" y="61714"/>
                    <a:pt x="328520" y="58308"/>
                  </a:cubicBezTo>
                  <a:lnTo>
                    <a:pt x="340508" y="2268"/>
                  </a:lnTo>
                  <a:cubicBezTo>
                    <a:pt x="364717" y="0"/>
                    <a:pt x="389095" y="0"/>
                    <a:pt x="413303" y="2268"/>
                  </a:cubicBezTo>
                  <a:close/>
                  <a:moveTo>
                    <a:pt x="376906" y="136070"/>
                  </a:moveTo>
                  <a:cubicBezTo>
                    <a:pt x="247093" y="136070"/>
                    <a:pt x="141713" y="237249"/>
                    <a:pt x="141713" y="361859"/>
                  </a:cubicBezTo>
                  <a:cubicBezTo>
                    <a:pt x="141713" y="486482"/>
                    <a:pt x="247093" y="587661"/>
                    <a:pt x="376906" y="587661"/>
                  </a:cubicBezTo>
                  <a:cubicBezTo>
                    <a:pt x="506714" y="587661"/>
                    <a:pt x="612101" y="486482"/>
                    <a:pt x="612101" y="361859"/>
                  </a:cubicBezTo>
                  <a:cubicBezTo>
                    <a:pt x="612101" y="237249"/>
                    <a:pt x="506714" y="136070"/>
                    <a:pt x="376906" y="136070"/>
                  </a:cubicBezTo>
                  <a:close/>
                </a:path>
              </a:pathLst>
            </a:custGeom>
            <a:solidFill>
              <a:srgbClr val="1800AD"/>
            </a:solidFill>
          </p:spPr>
          <p:txBody>
            <a:bodyPr/>
            <a:lstStyle/>
            <a:p>
              <a:endParaRPr lang="es-MX"/>
            </a:p>
          </p:txBody>
        </p:sp>
        <p:sp>
          <p:nvSpPr>
            <p:cNvPr id="6" name="TextBox 6"/>
            <p:cNvSpPr txBox="1"/>
            <p:nvPr/>
          </p:nvSpPr>
          <p:spPr>
            <a:xfrm>
              <a:off x="149236" y="95645"/>
              <a:ext cx="454196" cy="483665"/>
            </a:xfrm>
            <a:prstGeom prst="rect">
              <a:avLst/>
            </a:prstGeom>
          </p:spPr>
          <p:txBody>
            <a:bodyPr lIns="50800" tIns="50800" rIns="50800" bIns="50800" rtlCol="0" anchor="ctr"/>
            <a:lstStyle/>
            <a:p>
              <a:pPr algn="ctr">
                <a:lnSpc>
                  <a:spcPts val="2659"/>
                </a:lnSpc>
                <a:spcBef>
                  <a:spcPct val="0"/>
                </a:spcBef>
              </a:pPr>
              <a:endParaRPr/>
            </a:p>
          </p:txBody>
        </p:sp>
      </p:grpSp>
      <p:sp>
        <p:nvSpPr>
          <p:cNvPr id="7" name="Freeform 7"/>
          <p:cNvSpPr/>
          <p:nvPr/>
        </p:nvSpPr>
        <p:spPr>
          <a:xfrm rot="5400000">
            <a:off x="-132820" y="1701236"/>
            <a:ext cx="5131212" cy="2808172"/>
          </a:xfrm>
          <a:custGeom>
            <a:avLst/>
            <a:gdLst/>
            <a:ahLst/>
            <a:cxnLst/>
            <a:rect l="l" t="t" r="r" b="b"/>
            <a:pathLst>
              <a:path w="5131212" h="2808172">
                <a:moveTo>
                  <a:pt x="0" y="0"/>
                </a:moveTo>
                <a:lnTo>
                  <a:pt x="5131212" y="0"/>
                </a:lnTo>
                <a:lnTo>
                  <a:pt x="5131212" y="2808172"/>
                </a:lnTo>
                <a:lnTo>
                  <a:pt x="0" y="28081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grpSp>
        <p:nvGrpSpPr>
          <p:cNvPr id="8" name="Group 8"/>
          <p:cNvGrpSpPr/>
          <p:nvPr/>
        </p:nvGrpSpPr>
        <p:grpSpPr>
          <a:xfrm rot="5400000">
            <a:off x="15719854" y="8005434"/>
            <a:ext cx="1482905" cy="1297542"/>
            <a:chOff x="0" y="0"/>
            <a:chExt cx="812800" cy="711200"/>
          </a:xfrm>
        </p:grpSpPr>
        <p:sp>
          <p:nvSpPr>
            <p:cNvPr id="9" name="Freeform 9"/>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0" name="TextBox 10"/>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3836872" y="7554930"/>
            <a:ext cx="11975663" cy="639445"/>
          </a:xfrm>
          <a:prstGeom prst="rect">
            <a:avLst/>
          </a:prstGeom>
        </p:spPr>
        <p:txBody>
          <a:bodyPr lIns="0" tIns="0" rIns="0" bIns="0" rtlCol="0" anchor="t">
            <a:spAutoFit/>
          </a:bodyPr>
          <a:lstStyle/>
          <a:p>
            <a:pPr algn="l">
              <a:lnSpc>
                <a:spcPts val="5179"/>
              </a:lnSpc>
            </a:pPr>
            <a:r>
              <a:rPr lang="en-US" sz="3699">
                <a:solidFill>
                  <a:srgbClr val="1800AD"/>
                </a:solidFill>
                <a:latin typeface="Archivo Narrow"/>
                <a:ea typeface="Archivo Narrow"/>
                <a:cs typeface="Archivo Narrow"/>
                <a:sym typeface="Archivo Narrow"/>
              </a:rPr>
              <a:t>Tema 4:  Organización de datos</a:t>
            </a:r>
          </a:p>
        </p:txBody>
      </p:sp>
      <p:grpSp>
        <p:nvGrpSpPr>
          <p:cNvPr id="12" name="Group 12"/>
          <p:cNvGrpSpPr/>
          <p:nvPr/>
        </p:nvGrpSpPr>
        <p:grpSpPr>
          <a:xfrm rot="5400000">
            <a:off x="14422312" y="8005434"/>
            <a:ext cx="1482905" cy="1297542"/>
            <a:chOff x="0" y="0"/>
            <a:chExt cx="812800" cy="711200"/>
          </a:xfrm>
        </p:grpSpPr>
        <p:sp>
          <p:nvSpPr>
            <p:cNvPr id="13" name="Freeform 13"/>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4" name="TextBox 14"/>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grpSp>
        <p:nvGrpSpPr>
          <p:cNvPr id="15" name="Group 15"/>
          <p:cNvGrpSpPr/>
          <p:nvPr/>
        </p:nvGrpSpPr>
        <p:grpSpPr>
          <a:xfrm rot="5400000">
            <a:off x="13124770" y="8005434"/>
            <a:ext cx="1482905" cy="1297542"/>
            <a:chOff x="0" y="0"/>
            <a:chExt cx="812800" cy="711200"/>
          </a:xfrm>
        </p:grpSpPr>
        <p:sp>
          <p:nvSpPr>
            <p:cNvPr id="16" name="Freeform 16"/>
            <p:cNvSpPr/>
            <p:nvPr/>
          </p:nvSpPr>
          <p:spPr>
            <a:xfrm>
              <a:off x="0" y="0"/>
              <a:ext cx="812800" cy="711200"/>
            </a:xfrm>
            <a:custGeom>
              <a:avLst/>
              <a:gdLst/>
              <a:ahLst/>
              <a:cxnLst/>
              <a:rect l="l" t="t" r="r" b="b"/>
              <a:pathLst>
                <a:path w="812800" h="711200">
                  <a:moveTo>
                    <a:pt x="406400" y="0"/>
                  </a:moveTo>
                  <a:lnTo>
                    <a:pt x="812800" y="711200"/>
                  </a:lnTo>
                  <a:lnTo>
                    <a:pt x="0" y="711200"/>
                  </a:lnTo>
                  <a:lnTo>
                    <a:pt x="406400" y="0"/>
                  </a:lnTo>
                  <a:close/>
                </a:path>
              </a:pathLst>
            </a:custGeom>
            <a:solidFill>
              <a:srgbClr val="1800AD"/>
            </a:solidFill>
          </p:spPr>
          <p:txBody>
            <a:bodyPr/>
            <a:lstStyle/>
            <a:p>
              <a:endParaRPr lang="es-MX"/>
            </a:p>
          </p:txBody>
        </p:sp>
        <p:sp>
          <p:nvSpPr>
            <p:cNvPr id="17" name="TextBox 17"/>
            <p:cNvSpPr txBox="1"/>
            <p:nvPr/>
          </p:nvSpPr>
          <p:spPr>
            <a:xfrm>
              <a:off x="127000" y="282575"/>
              <a:ext cx="558800" cy="377825"/>
            </a:xfrm>
            <a:prstGeom prst="rect">
              <a:avLst/>
            </a:prstGeom>
          </p:spPr>
          <p:txBody>
            <a:bodyPr lIns="50800" tIns="50800" rIns="50800" bIns="50800" rtlCol="0" anchor="ctr"/>
            <a:lstStyle/>
            <a:p>
              <a:pPr algn="ctr">
                <a:lnSpc>
                  <a:spcPts val="2659"/>
                </a:lnSpc>
              </a:pPr>
              <a:endParaRPr/>
            </a:p>
          </p:txBody>
        </p:sp>
      </p:grpSp>
      <p:sp>
        <p:nvSpPr>
          <p:cNvPr id="18" name="TextBox 18"/>
          <p:cNvSpPr txBox="1"/>
          <p:nvPr/>
        </p:nvSpPr>
        <p:spPr>
          <a:xfrm>
            <a:off x="3836872" y="6552899"/>
            <a:ext cx="11975663" cy="1078231"/>
          </a:xfrm>
          <a:prstGeom prst="rect">
            <a:avLst/>
          </a:prstGeom>
        </p:spPr>
        <p:txBody>
          <a:bodyPr lIns="0" tIns="0" rIns="0" bIns="0" rtlCol="0" anchor="t">
            <a:spAutoFit/>
          </a:bodyPr>
          <a:lstStyle/>
          <a:p>
            <a:pPr algn="l">
              <a:lnSpc>
                <a:spcPts val="8819"/>
              </a:lnSpc>
            </a:pPr>
            <a:r>
              <a:rPr lang="en-US" sz="6299">
                <a:solidFill>
                  <a:srgbClr val="1800AD"/>
                </a:solidFill>
                <a:latin typeface="Archivo Narrow"/>
                <a:ea typeface="Archivo Narrow"/>
                <a:cs typeface="Archivo Narrow"/>
                <a:sym typeface="Archivo Narrow"/>
              </a:rPr>
              <a:t>Instituto Tecnologico de Orizaba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6244270" y="3920237"/>
            <a:ext cx="5799460" cy="1576069"/>
          </a:xfrm>
          <a:prstGeom prst="rect">
            <a:avLst/>
          </a:prstGeom>
        </p:spPr>
        <p:txBody>
          <a:bodyPr wrap="square" lIns="0" tIns="0" rIns="0" bIns="0" rtlCol="0" anchor="t">
            <a:spAutoFit/>
          </a:bodyPr>
          <a:lstStyle/>
          <a:p>
            <a:pPr algn="ctr">
              <a:lnSpc>
                <a:spcPts val="12880"/>
              </a:lnSpc>
            </a:pPr>
            <a:r>
              <a:rPr lang="en-US" sz="9200" b="1" dirty="0">
                <a:solidFill>
                  <a:srgbClr val="1800AD"/>
                </a:solidFill>
                <a:latin typeface="Archivo Narrow Bold"/>
                <a:ea typeface="Archivo Narrow Bold"/>
                <a:cs typeface="Archivo Narrow Bold"/>
                <a:sym typeface="Archivo Narrow Bold"/>
              </a:rPr>
              <a:t>4.1 </a:t>
            </a:r>
            <a:r>
              <a:rPr lang="en-US" sz="9200" b="1" dirty="0" err="1">
                <a:solidFill>
                  <a:srgbClr val="1800AD"/>
                </a:solidFill>
                <a:latin typeface="Archivo Narrow Bold"/>
                <a:ea typeface="Archivo Narrow Bold"/>
                <a:cs typeface="Archivo Narrow Bold"/>
                <a:sym typeface="Archivo Narrow Bold"/>
              </a:rPr>
              <a:t>Arreglos</a:t>
            </a:r>
            <a:endParaRPr lang="en-US" sz="9200" b="1" dirty="0">
              <a:solidFill>
                <a:srgbClr val="1800AD"/>
              </a:solidFill>
              <a:latin typeface="Archivo Narrow Bold"/>
              <a:ea typeface="Archivo Narrow Bold"/>
              <a:cs typeface="Archivo Narrow Bold"/>
              <a:sym typeface="Archivo Narrow Bold"/>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1753738" y="3621104"/>
            <a:ext cx="5034720" cy="2588042"/>
          </a:xfrm>
          <a:custGeom>
            <a:avLst/>
            <a:gdLst/>
            <a:ahLst/>
            <a:cxnLst/>
            <a:rect l="l" t="t" r="r" b="b"/>
            <a:pathLst>
              <a:path w="5034720" h="2588042">
                <a:moveTo>
                  <a:pt x="0" y="0"/>
                </a:moveTo>
                <a:lnTo>
                  <a:pt x="5034720" y="0"/>
                </a:lnTo>
                <a:lnTo>
                  <a:pt x="5034720" y="2588042"/>
                </a:lnTo>
                <a:lnTo>
                  <a:pt x="0" y="2588042"/>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2220848" y="3873500"/>
            <a:ext cx="9285009" cy="2463800"/>
          </a:xfrm>
          <a:prstGeom prst="rect">
            <a:avLst/>
          </a:prstGeom>
        </p:spPr>
        <p:txBody>
          <a:bodyPr lIns="0" tIns="0" rIns="0" bIns="0" rtlCol="0" anchor="t">
            <a:spAutoFit/>
          </a:bodyPr>
          <a:lstStyle/>
          <a:p>
            <a:pPr algn="just">
              <a:lnSpc>
                <a:spcPts val="4899"/>
              </a:lnSpc>
            </a:pPr>
            <a:r>
              <a:rPr lang="en-US" sz="3499">
                <a:solidFill>
                  <a:srgbClr val="000000"/>
                </a:solidFill>
                <a:latin typeface="Archivo Narrow"/>
                <a:ea typeface="Archivo Narrow"/>
                <a:cs typeface="Archivo Narrow"/>
                <a:sym typeface="Archivo Narrow"/>
              </a:rPr>
              <a:t>Un array es una secuencia de valores; los valores del array se llaman elementos. Puedes crear un array de enteros, dobles o cualquier otro tipo, pero todos los valores del array deben ser del mismo tipo.</a:t>
            </a:r>
          </a:p>
        </p:txBody>
      </p:sp>
      <p:sp>
        <p:nvSpPr>
          <p:cNvPr id="5" name="TextBox 5"/>
          <p:cNvSpPr txBox="1"/>
          <p:nvPr/>
        </p:nvSpPr>
        <p:spPr>
          <a:xfrm>
            <a:off x="3369313" y="2714959"/>
            <a:ext cx="5266581" cy="906145"/>
          </a:xfrm>
          <a:prstGeom prst="rect">
            <a:avLst/>
          </a:prstGeom>
        </p:spPr>
        <p:txBody>
          <a:bodyPr lIns="0" tIns="0" rIns="0" bIns="0" rtlCol="0" anchor="t">
            <a:spAutoFit/>
          </a:bodyPr>
          <a:lstStyle/>
          <a:p>
            <a:pPr algn="ctr">
              <a:lnSpc>
                <a:spcPts val="7279"/>
              </a:lnSpc>
            </a:pPr>
            <a:r>
              <a:rPr lang="en-US" sz="5199" b="1">
                <a:solidFill>
                  <a:srgbClr val="000000"/>
                </a:solidFill>
                <a:latin typeface="Archivo Narrow Bold"/>
                <a:ea typeface="Archivo Narrow Bold"/>
                <a:cs typeface="Archivo Narrow Bold"/>
                <a:sym typeface="Archivo Narrow Bold"/>
              </a:rPr>
              <a:t>¿Que es un arreglo?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6460600" y="5143500"/>
            <a:ext cx="4742358" cy="1473005"/>
          </a:xfrm>
          <a:custGeom>
            <a:avLst/>
            <a:gdLst/>
            <a:ahLst/>
            <a:cxnLst/>
            <a:rect l="l" t="t" r="r" b="b"/>
            <a:pathLst>
              <a:path w="4742358" h="1473005">
                <a:moveTo>
                  <a:pt x="0" y="0"/>
                </a:moveTo>
                <a:lnTo>
                  <a:pt x="4742358" y="0"/>
                </a:lnTo>
                <a:lnTo>
                  <a:pt x="4742358" y="1473005"/>
                </a:lnTo>
                <a:lnTo>
                  <a:pt x="0" y="1473005"/>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2168174" y="2753360"/>
            <a:ext cx="13994747" cy="1790065"/>
          </a:xfrm>
          <a:prstGeom prst="rect">
            <a:avLst/>
          </a:prstGeom>
        </p:spPr>
        <p:txBody>
          <a:bodyPr lIns="0" tIns="0" rIns="0" bIns="0" rtlCol="0" anchor="t">
            <a:spAutoFit/>
          </a:bodyPr>
          <a:lstStyle/>
          <a:p>
            <a:pPr algn="just">
              <a:lnSpc>
                <a:spcPts val="4759"/>
              </a:lnSpc>
            </a:pPr>
            <a:r>
              <a:rPr lang="en-US" sz="3399">
                <a:solidFill>
                  <a:srgbClr val="000000"/>
                </a:solidFill>
                <a:latin typeface="Archivo Narrow"/>
                <a:ea typeface="Archivo Narrow"/>
                <a:cs typeface="Archivo Narrow"/>
                <a:sym typeface="Archivo Narrow"/>
              </a:rPr>
              <a:t>Para crear un array, debes declarar una variable con un tipo array y luego crear el array. Los tipos array se parecen a otros tipos de Java, excepto que van seguidos de corchetes ([]).</a:t>
            </a:r>
          </a:p>
        </p:txBody>
      </p:sp>
      <p:sp>
        <p:nvSpPr>
          <p:cNvPr id="5" name="TextBox 5"/>
          <p:cNvSpPr txBox="1"/>
          <p:nvPr/>
        </p:nvSpPr>
        <p:spPr>
          <a:xfrm>
            <a:off x="6858000" y="1537525"/>
            <a:ext cx="3824829" cy="90614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Crear un array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3"/>
            <a:stretch>
              <a:fillRect t="-905" b="-905"/>
            </a:stretch>
          </a:blipFill>
        </p:spPr>
        <p:txBody>
          <a:bodyPr/>
          <a:lstStyle/>
          <a:p>
            <a:endParaRPr lang="es-MX"/>
          </a:p>
        </p:txBody>
      </p:sp>
      <p:sp>
        <p:nvSpPr>
          <p:cNvPr id="3" name="Freeform 3"/>
          <p:cNvSpPr/>
          <p:nvPr/>
        </p:nvSpPr>
        <p:spPr>
          <a:xfrm rot="5400000">
            <a:off x="-531174" y="4693633"/>
            <a:ext cx="7326923" cy="3780294"/>
          </a:xfrm>
          <a:custGeom>
            <a:avLst/>
            <a:gdLst/>
            <a:ahLst/>
            <a:cxnLst/>
            <a:rect l="l" t="t" r="r" b="b"/>
            <a:pathLst>
              <a:path w="11361540" h="3780294">
                <a:moveTo>
                  <a:pt x="0" y="0"/>
                </a:moveTo>
                <a:lnTo>
                  <a:pt x="11361540" y="0"/>
                </a:lnTo>
                <a:lnTo>
                  <a:pt x="11361540" y="3780295"/>
                </a:lnTo>
                <a:lnTo>
                  <a:pt x="0" y="378029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dirty="0"/>
          </a:p>
        </p:txBody>
      </p:sp>
      <p:sp>
        <p:nvSpPr>
          <p:cNvPr id="4" name="Freeform 4"/>
          <p:cNvSpPr/>
          <p:nvPr/>
        </p:nvSpPr>
        <p:spPr>
          <a:xfrm rot="5400000">
            <a:off x="7485229" y="4693634"/>
            <a:ext cx="7326923" cy="3780294"/>
          </a:xfrm>
          <a:custGeom>
            <a:avLst/>
            <a:gdLst/>
            <a:ahLst/>
            <a:cxnLst/>
            <a:rect l="l" t="t" r="r" b="b"/>
            <a:pathLst>
              <a:path w="11361540" h="3780294">
                <a:moveTo>
                  <a:pt x="0" y="0"/>
                </a:moveTo>
                <a:lnTo>
                  <a:pt x="11361540" y="0"/>
                </a:lnTo>
                <a:lnTo>
                  <a:pt x="11361540" y="3780295"/>
                </a:lnTo>
                <a:lnTo>
                  <a:pt x="0" y="3780295"/>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s-MX"/>
          </a:p>
        </p:txBody>
      </p:sp>
      <p:sp>
        <p:nvSpPr>
          <p:cNvPr id="5" name="Freeform 5"/>
          <p:cNvSpPr/>
          <p:nvPr/>
        </p:nvSpPr>
        <p:spPr>
          <a:xfrm rot="5400000">
            <a:off x="11492250" y="4693634"/>
            <a:ext cx="7326923" cy="3780294"/>
          </a:xfrm>
          <a:custGeom>
            <a:avLst/>
            <a:gdLst/>
            <a:ahLst/>
            <a:cxnLst/>
            <a:rect l="l" t="t" r="r" b="b"/>
            <a:pathLst>
              <a:path w="11361540" h="3780294">
                <a:moveTo>
                  <a:pt x="0" y="0"/>
                </a:moveTo>
                <a:lnTo>
                  <a:pt x="11361540" y="0"/>
                </a:lnTo>
                <a:lnTo>
                  <a:pt x="11361540" y="3780295"/>
                </a:lnTo>
                <a:lnTo>
                  <a:pt x="0" y="3780295"/>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s-MX"/>
          </a:p>
        </p:txBody>
      </p:sp>
      <p:sp>
        <p:nvSpPr>
          <p:cNvPr id="6" name="Freeform 6"/>
          <p:cNvSpPr/>
          <p:nvPr/>
        </p:nvSpPr>
        <p:spPr>
          <a:xfrm rot="5400000">
            <a:off x="3475847" y="4693634"/>
            <a:ext cx="7326923" cy="3780294"/>
          </a:xfrm>
          <a:custGeom>
            <a:avLst/>
            <a:gdLst/>
            <a:ahLst/>
            <a:cxnLst/>
            <a:rect l="l" t="t" r="r" b="b"/>
            <a:pathLst>
              <a:path w="11361540" h="3780294">
                <a:moveTo>
                  <a:pt x="0" y="0"/>
                </a:moveTo>
                <a:lnTo>
                  <a:pt x="11361540" y="0"/>
                </a:lnTo>
                <a:lnTo>
                  <a:pt x="11361540" y="3780295"/>
                </a:lnTo>
                <a:lnTo>
                  <a:pt x="0" y="378029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s-MX"/>
          </a:p>
        </p:txBody>
      </p:sp>
      <p:sp>
        <p:nvSpPr>
          <p:cNvPr id="7" name="TextBox 7"/>
          <p:cNvSpPr txBox="1"/>
          <p:nvPr/>
        </p:nvSpPr>
        <p:spPr>
          <a:xfrm>
            <a:off x="1143244" y="39758"/>
            <a:ext cx="16230600" cy="1336167"/>
          </a:xfrm>
          <a:prstGeom prst="rect">
            <a:avLst/>
          </a:prstGeom>
        </p:spPr>
        <p:txBody>
          <a:bodyPr lIns="0" tIns="0" rIns="0" bIns="0" rtlCol="0" anchor="t">
            <a:spAutoFit/>
          </a:bodyPr>
          <a:lstStyle/>
          <a:p>
            <a:pPr algn="ctr">
              <a:lnSpc>
                <a:spcPts val="10877"/>
              </a:lnSpc>
            </a:pPr>
            <a:r>
              <a:rPr lang="en-US" sz="7769" dirty="0">
                <a:solidFill>
                  <a:srgbClr val="303030"/>
                </a:solidFill>
                <a:latin typeface="Archivo Narrow"/>
                <a:ea typeface="Archivo Narrow"/>
                <a:cs typeface="Archivo Narrow"/>
                <a:sym typeface="Archivo Narrow"/>
              </a:rPr>
              <a:t>Arrays</a:t>
            </a:r>
          </a:p>
        </p:txBody>
      </p:sp>
      <p:sp>
        <p:nvSpPr>
          <p:cNvPr id="8" name="TextBox 8"/>
          <p:cNvSpPr txBox="1"/>
          <p:nvPr/>
        </p:nvSpPr>
        <p:spPr>
          <a:xfrm>
            <a:off x="1532513" y="4380649"/>
            <a:ext cx="3199551" cy="655005"/>
          </a:xfrm>
          <a:prstGeom prst="rect">
            <a:avLst/>
          </a:prstGeom>
        </p:spPr>
        <p:txBody>
          <a:bodyPr lIns="0" tIns="0" rIns="0" bIns="0" rtlCol="0" anchor="t">
            <a:spAutoFit/>
          </a:bodyPr>
          <a:lstStyle/>
          <a:p>
            <a:pPr algn="ctr">
              <a:lnSpc>
                <a:spcPts val="5372"/>
              </a:lnSpc>
            </a:pPr>
            <a:r>
              <a:rPr lang="en-US" sz="3837">
                <a:solidFill>
                  <a:srgbClr val="303030"/>
                </a:solidFill>
                <a:latin typeface="Archivo Narrow"/>
                <a:ea typeface="Archivo Narrow"/>
                <a:cs typeface="Archivo Narrow"/>
                <a:sym typeface="Archivo Narrow"/>
              </a:rPr>
              <a:t>ACCESO</a:t>
            </a:r>
          </a:p>
        </p:txBody>
      </p:sp>
      <p:sp>
        <p:nvSpPr>
          <p:cNvPr id="9" name="TextBox 9"/>
          <p:cNvSpPr txBox="1"/>
          <p:nvPr/>
        </p:nvSpPr>
        <p:spPr>
          <a:xfrm>
            <a:off x="5535694" y="4391893"/>
            <a:ext cx="3199551" cy="654926"/>
          </a:xfrm>
          <a:prstGeom prst="rect">
            <a:avLst/>
          </a:prstGeom>
        </p:spPr>
        <p:txBody>
          <a:bodyPr lIns="0" tIns="0" rIns="0" bIns="0" rtlCol="0" anchor="t">
            <a:spAutoFit/>
          </a:bodyPr>
          <a:lstStyle/>
          <a:p>
            <a:pPr algn="ctr">
              <a:lnSpc>
                <a:spcPts val="5372"/>
              </a:lnSpc>
            </a:pPr>
            <a:r>
              <a:rPr lang="en-US" sz="3837">
                <a:solidFill>
                  <a:srgbClr val="303030"/>
                </a:solidFill>
                <a:latin typeface="Archivo Narrow"/>
                <a:ea typeface="Archivo Narrow"/>
                <a:cs typeface="Archivo Narrow"/>
                <a:sym typeface="Archivo Narrow"/>
              </a:rPr>
              <a:t>MOSTRAR</a:t>
            </a:r>
          </a:p>
        </p:txBody>
      </p:sp>
      <p:sp>
        <p:nvSpPr>
          <p:cNvPr id="10" name="TextBox 10"/>
          <p:cNvSpPr txBox="1"/>
          <p:nvPr/>
        </p:nvSpPr>
        <p:spPr>
          <a:xfrm>
            <a:off x="9494512" y="4391893"/>
            <a:ext cx="3309681" cy="654926"/>
          </a:xfrm>
          <a:prstGeom prst="rect">
            <a:avLst/>
          </a:prstGeom>
        </p:spPr>
        <p:txBody>
          <a:bodyPr lIns="0" tIns="0" rIns="0" bIns="0" rtlCol="0" anchor="t">
            <a:spAutoFit/>
          </a:bodyPr>
          <a:lstStyle/>
          <a:p>
            <a:pPr algn="ctr">
              <a:lnSpc>
                <a:spcPts val="5372"/>
              </a:lnSpc>
            </a:pPr>
            <a:r>
              <a:rPr lang="en-US" sz="3837">
                <a:solidFill>
                  <a:srgbClr val="303030"/>
                </a:solidFill>
                <a:latin typeface="Archivo Narrow"/>
                <a:ea typeface="Archivo Narrow"/>
                <a:cs typeface="Archivo Narrow"/>
                <a:sym typeface="Archivo Narrow"/>
              </a:rPr>
              <a:t>COPIAR</a:t>
            </a:r>
          </a:p>
        </p:txBody>
      </p:sp>
      <p:sp>
        <p:nvSpPr>
          <p:cNvPr id="11" name="TextBox 11"/>
          <p:cNvSpPr txBox="1"/>
          <p:nvPr/>
        </p:nvSpPr>
        <p:spPr>
          <a:xfrm>
            <a:off x="13497013" y="4391893"/>
            <a:ext cx="3323930" cy="654926"/>
          </a:xfrm>
          <a:prstGeom prst="rect">
            <a:avLst/>
          </a:prstGeom>
        </p:spPr>
        <p:txBody>
          <a:bodyPr lIns="0" tIns="0" rIns="0" bIns="0" rtlCol="0" anchor="t">
            <a:spAutoFit/>
          </a:bodyPr>
          <a:lstStyle/>
          <a:p>
            <a:pPr algn="ctr">
              <a:lnSpc>
                <a:spcPts val="5372"/>
              </a:lnSpc>
            </a:pPr>
            <a:r>
              <a:rPr lang="en-US" sz="3837">
                <a:solidFill>
                  <a:srgbClr val="303030"/>
                </a:solidFill>
                <a:latin typeface="Archivo Narrow"/>
                <a:ea typeface="Archivo Narrow"/>
                <a:cs typeface="Archivo Narrow"/>
                <a:sym typeface="Archivo Narrow"/>
              </a:rPr>
              <a:t>TAMAÑO</a:t>
            </a:r>
          </a:p>
        </p:txBody>
      </p:sp>
      <p:sp>
        <p:nvSpPr>
          <p:cNvPr id="12" name="TextBox 12"/>
          <p:cNvSpPr txBox="1"/>
          <p:nvPr/>
        </p:nvSpPr>
        <p:spPr>
          <a:xfrm>
            <a:off x="1532513" y="5276844"/>
            <a:ext cx="3199551" cy="2110693"/>
          </a:xfrm>
          <a:prstGeom prst="rect">
            <a:avLst/>
          </a:prstGeom>
        </p:spPr>
        <p:txBody>
          <a:bodyPr lIns="0" tIns="0" rIns="0" bIns="0" rtlCol="0" anchor="t">
            <a:spAutoFit/>
          </a:bodyPr>
          <a:lstStyle/>
          <a:p>
            <a:pPr algn="l">
              <a:lnSpc>
                <a:spcPts val="2837"/>
              </a:lnSpc>
              <a:spcBef>
                <a:spcPct val="0"/>
              </a:spcBef>
            </a:pPr>
            <a:r>
              <a:rPr lang="en-US" sz="2026">
                <a:solidFill>
                  <a:srgbClr val="000000"/>
                </a:solidFill>
                <a:latin typeface="Archivo Narrow"/>
                <a:ea typeface="Archivo Narrow"/>
                <a:cs typeface="Archivo Narrow"/>
                <a:sym typeface="Archivo Narrow"/>
              </a:rPr>
              <a:t>Al crear un array de enteros, sus elementos se inicializan en cero y la variable guarda una referencia en memoria. Cada elemento se identifica por un índice que inicia en 0.</a:t>
            </a:r>
          </a:p>
        </p:txBody>
      </p:sp>
      <p:sp>
        <p:nvSpPr>
          <p:cNvPr id="13" name="TextBox 13"/>
          <p:cNvSpPr txBox="1"/>
          <p:nvPr/>
        </p:nvSpPr>
        <p:spPr>
          <a:xfrm>
            <a:off x="5540714" y="5312040"/>
            <a:ext cx="3199551" cy="2094400"/>
          </a:xfrm>
          <a:prstGeom prst="rect">
            <a:avLst/>
          </a:prstGeom>
        </p:spPr>
        <p:txBody>
          <a:bodyPr lIns="0" tIns="0" rIns="0" bIns="0" rtlCol="0" anchor="t">
            <a:spAutoFit/>
          </a:bodyPr>
          <a:lstStyle/>
          <a:p>
            <a:pPr algn="l">
              <a:lnSpc>
                <a:spcPts val="2417"/>
              </a:lnSpc>
              <a:spcBef>
                <a:spcPct val="0"/>
              </a:spcBef>
            </a:pPr>
            <a:r>
              <a:rPr lang="en-US" sz="1726">
                <a:solidFill>
                  <a:srgbClr val="000000"/>
                </a:solidFill>
                <a:latin typeface="Archivo Narrow"/>
                <a:ea typeface="Archivo Narrow"/>
                <a:cs typeface="Archivo Narrow"/>
                <a:sym typeface="Archivo Narrow"/>
              </a:rPr>
              <a:t>Mostrar un array consiste en presentar sus elementos en pantalla. En Java, esto puede hacerse recorriéndolo manualmente o utilizando la clase java.util.Arrays, cuyo método toString() genera una representación en forma de cadena con todos los valores del array.</a:t>
            </a:r>
          </a:p>
        </p:txBody>
      </p:sp>
      <p:sp>
        <p:nvSpPr>
          <p:cNvPr id="14" name="TextBox 14"/>
          <p:cNvSpPr txBox="1"/>
          <p:nvPr/>
        </p:nvSpPr>
        <p:spPr>
          <a:xfrm>
            <a:off x="9548915" y="5347236"/>
            <a:ext cx="3199551" cy="2691725"/>
          </a:xfrm>
          <a:prstGeom prst="rect">
            <a:avLst/>
          </a:prstGeom>
        </p:spPr>
        <p:txBody>
          <a:bodyPr lIns="0" tIns="0" rIns="0" bIns="0" rtlCol="0" anchor="t">
            <a:spAutoFit/>
          </a:bodyPr>
          <a:lstStyle/>
          <a:p>
            <a:pPr algn="l">
              <a:lnSpc>
                <a:spcPts val="2417"/>
              </a:lnSpc>
              <a:spcBef>
                <a:spcPct val="0"/>
              </a:spcBef>
            </a:pPr>
            <a:r>
              <a:rPr lang="en-US" sz="1726">
                <a:solidFill>
                  <a:srgbClr val="000000"/>
                </a:solidFill>
                <a:latin typeface="Archivo Narrow"/>
                <a:ea typeface="Archivo Narrow"/>
                <a:cs typeface="Archivo Narrow"/>
                <a:sym typeface="Archivo Narrow"/>
              </a:rPr>
              <a:t>El recorrido de un array consiste en acceder de forma secuencial a cada uno de sus elementos mediante un índice, generalmente dentro de un ciclo como for o while. Este proceso permite leer, modificar o mostrar los valores almacenados en el array, recorriendo desde el índice 0 hasta el último elemento.</a:t>
            </a:r>
          </a:p>
        </p:txBody>
      </p:sp>
      <p:sp>
        <p:nvSpPr>
          <p:cNvPr id="15" name="TextBox 15"/>
          <p:cNvSpPr txBox="1"/>
          <p:nvPr/>
        </p:nvSpPr>
        <p:spPr>
          <a:xfrm>
            <a:off x="13557117" y="5382432"/>
            <a:ext cx="3199551" cy="2393062"/>
          </a:xfrm>
          <a:prstGeom prst="rect">
            <a:avLst/>
          </a:prstGeom>
        </p:spPr>
        <p:txBody>
          <a:bodyPr lIns="0" tIns="0" rIns="0" bIns="0" rtlCol="0" anchor="t">
            <a:spAutoFit/>
          </a:bodyPr>
          <a:lstStyle/>
          <a:p>
            <a:pPr algn="l">
              <a:lnSpc>
                <a:spcPts val="2417"/>
              </a:lnSpc>
              <a:spcBef>
                <a:spcPct val="0"/>
              </a:spcBef>
            </a:pPr>
            <a:r>
              <a:rPr lang="en-US" sz="1726">
                <a:solidFill>
                  <a:srgbClr val="000000"/>
                </a:solidFill>
                <a:latin typeface="Archivo Narrow"/>
                <a:ea typeface="Archivo Narrow"/>
                <a:cs typeface="Archivo Narrow"/>
                <a:sym typeface="Archivo Narrow"/>
              </a:rPr>
              <a:t>length es una propiedad integrada de los arrays en Java que indica la cantidad de elementos que contiene. Se utiliza para recorrer o controlar los límites del array, evitando errores al acceder a posiciones inexistentes. Su valor va de 0 hasta length - 1, que corresponde al último índice.</a:t>
            </a:r>
          </a:p>
        </p:txBody>
      </p:sp>
      <p:pic>
        <p:nvPicPr>
          <p:cNvPr id="16" name="Imagen 15" descr="Icono&#10;&#10;El contenido generado por IA puede ser incorrecto.">
            <a:extLst>
              <a:ext uri="{FF2B5EF4-FFF2-40B4-BE49-F238E27FC236}">
                <a16:creationId xmlns:a16="http://schemas.microsoft.com/office/drawing/2014/main" id="{98765E7B-B354-0DB0-82EC-5CDAB53FD05E}"/>
              </a:ext>
            </a:extLst>
          </p:cNvPr>
          <p:cNvPicPr>
            <a:picLocks noChangeAspect="1"/>
          </p:cNvPicPr>
          <p:nvPr/>
        </p:nvPicPr>
        <p:blipFill>
          <a:blip r:embed="rId12" cstate="print">
            <a:extLst>
              <a:ext uri="{28A0092B-C50C-407E-A947-70E740481C1C}">
                <a14:useLocalDpi xmlns:a14="http://schemas.microsoft.com/office/drawing/2010/main" val="0"/>
              </a:ext>
            </a:extLst>
          </a:blip>
          <a:srcRect l="30377" t="16327" r="30874" b="16452"/>
          <a:stretch>
            <a:fillRect/>
          </a:stretch>
        </p:blipFill>
        <p:spPr>
          <a:xfrm rot="21315163">
            <a:off x="8783990" y="1305527"/>
            <a:ext cx="949104" cy="926142"/>
          </a:xfrm>
          <a:prstGeom prst="ellipse">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6"/>
                    </p:tgtEl>
                  </p:cond>
                </p:stCondLst>
                <p:endSync evt="end" delay="0">
                  <p:rtn val="all"/>
                </p:endSync>
                <p:childTnLst>
                  <p:par>
                    <p:cTn id="3" fill="hold">
                      <p:stCondLst>
                        <p:cond delay="0"/>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 calcmode="lin" valueType="num">
                                      <p:cBhvr additive="base">
                                        <p:cTn id="19" dur="500" fill="hold"/>
                                        <p:tgtEl>
                                          <p:spTgt spid="6"/>
                                        </p:tgtEl>
                                        <p:attrNameLst>
                                          <p:attrName>ppt_x</p:attrName>
                                        </p:attrNameLst>
                                      </p:cBhvr>
                                      <p:tavLst>
                                        <p:tav tm="0">
                                          <p:val>
                                            <p:strVal val="#ppt_x"/>
                                          </p:val>
                                        </p:tav>
                                        <p:tav tm="100000">
                                          <p:val>
                                            <p:strVal val="#ppt_x"/>
                                          </p:val>
                                        </p:tav>
                                      </p:tavLst>
                                    </p:anim>
                                    <p:anim calcmode="lin" valueType="num">
                                      <p:cBhvr additive="base">
                                        <p:cTn id="20" dur="500" fill="hold"/>
                                        <p:tgtEl>
                                          <p:spTgt spid="6"/>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ppt_x"/>
                                          </p:val>
                                        </p:tav>
                                        <p:tav tm="100000">
                                          <p:val>
                                            <p:strVal val="#ppt_x"/>
                                          </p:val>
                                        </p:tav>
                                      </p:tavLst>
                                    </p:anim>
                                    <p:anim calcmode="lin" valueType="num">
                                      <p:cBhvr additive="base">
                                        <p:cTn id="24" dur="500" fill="hold"/>
                                        <p:tgtEl>
                                          <p:spTgt spid="8"/>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10"/>
                                        </p:tgtEl>
                                        <p:attrNameLst>
                                          <p:attrName>style.visibility</p:attrName>
                                        </p:attrNameLst>
                                      </p:cBhvr>
                                      <p:to>
                                        <p:strVal val="visible"/>
                                      </p:to>
                                    </p:set>
                                    <p:anim calcmode="lin" valueType="num">
                                      <p:cBhvr additive="base">
                                        <p:cTn id="31" dur="500" fill="hold"/>
                                        <p:tgtEl>
                                          <p:spTgt spid="10"/>
                                        </p:tgtEl>
                                        <p:attrNameLst>
                                          <p:attrName>ppt_x</p:attrName>
                                        </p:attrNameLst>
                                      </p:cBhvr>
                                      <p:tavLst>
                                        <p:tav tm="0">
                                          <p:val>
                                            <p:strVal val="#ppt_x"/>
                                          </p:val>
                                        </p:tav>
                                        <p:tav tm="100000">
                                          <p:val>
                                            <p:strVal val="#ppt_x"/>
                                          </p:val>
                                        </p:tav>
                                      </p:tavLst>
                                    </p:anim>
                                    <p:anim calcmode="lin" valueType="num">
                                      <p:cBhvr additive="base">
                                        <p:cTn id="32" dur="500" fill="hold"/>
                                        <p:tgtEl>
                                          <p:spTgt spid="10"/>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11"/>
                                        </p:tgtEl>
                                        <p:attrNameLst>
                                          <p:attrName>style.visibility</p:attrName>
                                        </p:attrNameLst>
                                      </p:cBhvr>
                                      <p:to>
                                        <p:strVal val="visible"/>
                                      </p:to>
                                    </p:set>
                                    <p:anim calcmode="lin" valueType="num">
                                      <p:cBhvr additive="base">
                                        <p:cTn id="35" dur="500" fill="hold"/>
                                        <p:tgtEl>
                                          <p:spTgt spid="11"/>
                                        </p:tgtEl>
                                        <p:attrNameLst>
                                          <p:attrName>ppt_x</p:attrName>
                                        </p:attrNameLst>
                                      </p:cBhvr>
                                      <p:tavLst>
                                        <p:tav tm="0">
                                          <p:val>
                                            <p:strVal val="#ppt_x"/>
                                          </p:val>
                                        </p:tav>
                                        <p:tav tm="100000">
                                          <p:val>
                                            <p:strVal val="#ppt_x"/>
                                          </p:val>
                                        </p:tav>
                                      </p:tavLst>
                                    </p:anim>
                                    <p:anim calcmode="lin" valueType="num">
                                      <p:cBhvr additive="base">
                                        <p:cTn id="36" dur="500" fill="hold"/>
                                        <p:tgtEl>
                                          <p:spTgt spid="1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12"/>
                                        </p:tgtEl>
                                        <p:attrNameLst>
                                          <p:attrName>style.visibility</p:attrName>
                                        </p:attrNameLst>
                                      </p:cBhvr>
                                      <p:to>
                                        <p:strVal val="visible"/>
                                      </p:to>
                                    </p:set>
                                    <p:anim calcmode="lin" valueType="num">
                                      <p:cBhvr additive="base">
                                        <p:cTn id="39" dur="500" fill="hold"/>
                                        <p:tgtEl>
                                          <p:spTgt spid="12"/>
                                        </p:tgtEl>
                                        <p:attrNameLst>
                                          <p:attrName>ppt_x</p:attrName>
                                        </p:attrNameLst>
                                      </p:cBhvr>
                                      <p:tavLst>
                                        <p:tav tm="0">
                                          <p:val>
                                            <p:strVal val="#ppt_x"/>
                                          </p:val>
                                        </p:tav>
                                        <p:tav tm="100000">
                                          <p:val>
                                            <p:strVal val="#ppt_x"/>
                                          </p:val>
                                        </p:tav>
                                      </p:tavLst>
                                    </p:anim>
                                    <p:anim calcmode="lin" valueType="num">
                                      <p:cBhvr additive="base">
                                        <p:cTn id="40" dur="500" fill="hold"/>
                                        <p:tgtEl>
                                          <p:spTgt spid="12"/>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par>
                                <p:cTn id="45" presetID="2" presetClass="entr" presetSubtype="4" fill="hold" grpId="0" nodeType="withEffect">
                                  <p:stCondLst>
                                    <p:cond delay="0"/>
                                  </p:stCondLst>
                                  <p:childTnLst>
                                    <p:set>
                                      <p:cBhvr>
                                        <p:cTn id="46" dur="1" fill="hold">
                                          <p:stCondLst>
                                            <p:cond delay="0"/>
                                          </p:stCondLst>
                                        </p:cTn>
                                        <p:tgtEl>
                                          <p:spTgt spid="14"/>
                                        </p:tgtEl>
                                        <p:attrNameLst>
                                          <p:attrName>style.visibility</p:attrName>
                                        </p:attrNameLst>
                                      </p:cBhvr>
                                      <p:to>
                                        <p:strVal val="visible"/>
                                      </p:to>
                                    </p:set>
                                    <p:anim calcmode="lin" valueType="num">
                                      <p:cBhvr additive="base">
                                        <p:cTn id="47" dur="500" fill="hold"/>
                                        <p:tgtEl>
                                          <p:spTgt spid="14"/>
                                        </p:tgtEl>
                                        <p:attrNameLst>
                                          <p:attrName>ppt_x</p:attrName>
                                        </p:attrNameLst>
                                      </p:cBhvr>
                                      <p:tavLst>
                                        <p:tav tm="0">
                                          <p:val>
                                            <p:strVal val="#ppt_x"/>
                                          </p:val>
                                        </p:tav>
                                        <p:tav tm="100000">
                                          <p:val>
                                            <p:strVal val="#ppt_x"/>
                                          </p:val>
                                        </p:tav>
                                      </p:tavLst>
                                    </p:anim>
                                    <p:anim calcmode="lin" valueType="num">
                                      <p:cBhvr additive="base">
                                        <p:cTn id="48" dur="500" fill="hold"/>
                                        <p:tgtEl>
                                          <p:spTgt spid="14"/>
                                        </p:tgtEl>
                                        <p:attrNameLst>
                                          <p:attrName>ppt_y</p:attrName>
                                        </p:attrNameLst>
                                      </p:cBhvr>
                                      <p:tavLst>
                                        <p:tav tm="0">
                                          <p:val>
                                            <p:strVal val="1+#ppt_h/2"/>
                                          </p:val>
                                        </p:tav>
                                        <p:tav tm="100000">
                                          <p:val>
                                            <p:strVal val="#ppt_y"/>
                                          </p:val>
                                        </p:tav>
                                      </p:tavLst>
                                    </p:anim>
                                  </p:childTnLst>
                                </p:cTn>
                              </p:par>
                              <p:par>
                                <p:cTn id="49" presetID="2" presetClass="entr" presetSubtype="4" fill="hold" grpId="0" nodeType="withEffect">
                                  <p:stCondLst>
                                    <p:cond delay="0"/>
                                  </p:stCondLst>
                                  <p:childTnLst>
                                    <p:set>
                                      <p:cBhvr>
                                        <p:cTn id="50" dur="1" fill="hold">
                                          <p:stCondLst>
                                            <p:cond delay="0"/>
                                          </p:stCondLst>
                                        </p:cTn>
                                        <p:tgtEl>
                                          <p:spTgt spid="15"/>
                                        </p:tgtEl>
                                        <p:attrNameLst>
                                          <p:attrName>style.visibility</p:attrName>
                                        </p:attrNameLst>
                                      </p:cBhvr>
                                      <p:to>
                                        <p:strVal val="visible"/>
                                      </p:to>
                                    </p:set>
                                    <p:anim calcmode="lin" valueType="num">
                                      <p:cBhvr additive="base">
                                        <p:cTn id="51" dur="500" fill="hold"/>
                                        <p:tgtEl>
                                          <p:spTgt spid="15"/>
                                        </p:tgtEl>
                                        <p:attrNameLst>
                                          <p:attrName>ppt_x</p:attrName>
                                        </p:attrNameLst>
                                      </p:cBhvr>
                                      <p:tavLst>
                                        <p:tav tm="0">
                                          <p:val>
                                            <p:strVal val="#ppt_x"/>
                                          </p:val>
                                        </p:tav>
                                        <p:tav tm="100000">
                                          <p:val>
                                            <p:strVal val="#ppt_x"/>
                                          </p:val>
                                        </p:tav>
                                      </p:tavLst>
                                    </p:anim>
                                    <p:anim calcmode="lin" valueType="num">
                                      <p:cBhvr additive="base">
                                        <p:cTn id="52"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nextCondLst>
                <p:cond evt="onClick" delay="0">
                  <p:tgtEl>
                    <p:spTgt spid="16"/>
                  </p:tgtEl>
                </p:cond>
              </p:nextCondLst>
            </p:seq>
          </p:childTnLst>
        </p:cTn>
      </p:par>
    </p:tnLst>
    <p:bldLst>
      <p:bldP spid="3" grpId="0" animBg="1"/>
      <p:bldP spid="4" grpId="0" animBg="1"/>
      <p:bldP spid="5" grpId="0" animBg="1"/>
      <p:bldP spid="6" grpId="0" animBg="1"/>
      <p:bldP spid="8" grpId="0"/>
      <p:bldP spid="9" grpId="0"/>
      <p:bldP spid="10" grpId="0"/>
      <p:bldP spid="11" grpId="0"/>
      <p:bldP spid="12" grpId="0"/>
      <p:bldP spid="13" grpId="0"/>
      <p:bldP spid="14" grpId="0"/>
      <p:bldP spid="15"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TextBox 3"/>
          <p:cNvSpPr txBox="1"/>
          <p:nvPr/>
        </p:nvSpPr>
        <p:spPr>
          <a:xfrm>
            <a:off x="2168174" y="3164241"/>
            <a:ext cx="13994747" cy="4790440"/>
          </a:xfrm>
          <a:prstGeom prst="rect">
            <a:avLst/>
          </a:prstGeom>
        </p:spPr>
        <p:txBody>
          <a:bodyPr lIns="0" tIns="0" rIns="0" bIns="0" rtlCol="0" anchor="t">
            <a:spAutoFit/>
          </a:bodyPr>
          <a:lstStyle/>
          <a:p>
            <a:pPr algn="just">
              <a:lnSpc>
                <a:spcPts val="4759"/>
              </a:lnSpc>
            </a:pPr>
            <a:r>
              <a:rPr lang="en-US" sz="3399">
                <a:solidFill>
                  <a:srgbClr val="000000"/>
                </a:solidFill>
                <a:latin typeface="Archivo Narrow"/>
                <a:ea typeface="Archivo Narrow"/>
                <a:cs typeface="Archivo Narrow"/>
                <a:sym typeface="Archivo Narrow"/>
              </a:rPr>
              <a:t>El recorrido de un array es el proceso de examinar cada elemento de forma secuencial mediante un ciclo, generalmente usando un índice. Permite realizar operaciones sobre los elementos, como cálculos, búsquedas o acumulaciones de valores. Es una técnica fundamental para procesar la información almacenada en un array.</a:t>
            </a:r>
          </a:p>
          <a:p>
            <a:pPr algn="just">
              <a:lnSpc>
                <a:spcPts val="4759"/>
              </a:lnSpc>
            </a:pPr>
            <a:endParaRPr lang="en-US" sz="3399">
              <a:solidFill>
                <a:srgbClr val="000000"/>
              </a:solidFill>
              <a:latin typeface="Archivo Narrow"/>
              <a:ea typeface="Archivo Narrow"/>
              <a:cs typeface="Archivo Narrow"/>
              <a:sym typeface="Archivo Narrow"/>
            </a:endParaRPr>
          </a:p>
          <a:p>
            <a:pPr algn="just">
              <a:lnSpc>
                <a:spcPts val="4759"/>
              </a:lnSpc>
            </a:pPr>
            <a:endParaRPr lang="en-US" sz="3399">
              <a:solidFill>
                <a:srgbClr val="000000"/>
              </a:solidFill>
              <a:latin typeface="Archivo Narrow"/>
              <a:ea typeface="Archivo Narrow"/>
              <a:cs typeface="Archivo Narrow"/>
              <a:sym typeface="Archivo Narrow"/>
            </a:endParaRPr>
          </a:p>
          <a:p>
            <a:pPr algn="just">
              <a:lnSpc>
                <a:spcPts val="4759"/>
              </a:lnSpc>
            </a:pPr>
            <a:endParaRPr lang="en-US" sz="3399">
              <a:solidFill>
                <a:srgbClr val="000000"/>
              </a:solidFill>
              <a:latin typeface="Archivo Narrow"/>
              <a:ea typeface="Archivo Narrow"/>
              <a:cs typeface="Archivo Narrow"/>
              <a:sym typeface="Archivo Narrow"/>
            </a:endParaRPr>
          </a:p>
          <a:p>
            <a:pPr algn="just">
              <a:lnSpc>
                <a:spcPts val="4759"/>
              </a:lnSpc>
            </a:pPr>
            <a:endParaRPr lang="en-US" sz="3399">
              <a:solidFill>
                <a:srgbClr val="000000"/>
              </a:solidFill>
              <a:latin typeface="Archivo Narrow"/>
              <a:ea typeface="Archivo Narrow"/>
              <a:cs typeface="Archivo Narrow"/>
              <a:sym typeface="Archivo Narrow"/>
            </a:endParaRPr>
          </a:p>
        </p:txBody>
      </p:sp>
      <p:sp>
        <p:nvSpPr>
          <p:cNvPr id="4" name="TextBox 4"/>
          <p:cNvSpPr txBox="1"/>
          <p:nvPr/>
        </p:nvSpPr>
        <p:spPr>
          <a:xfrm>
            <a:off x="6400800" y="1408518"/>
            <a:ext cx="4885432" cy="906145"/>
          </a:xfrm>
          <a:prstGeom prst="rect">
            <a:avLst/>
          </a:prstGeom>
        </p:spPr>
        <p:txBody>
          <a:bodyPr lIns="0" tIns="0" rIns="0" bIns="0" rtlCol="0" anchor="t">
            <a:spAutoFit/>
          </a:bodyPr>
          <a:lstStyle/>
          <a:p>
            <a:pPr algn="ctr">
              <a:lnSpc>
                <a:spcPts val="7279"/>
              </a:lnSpc>
            </a:pPr>
            <a:r>
              <a:rPr lang="en-US" sz="5199" b="1" dirty="0" err="1">
                <a:solidFill>
                  <a:srgbClr val="000000"/>
                </a:solidFill>
                <a:latin typeface="Archivo Narrow Bold"/>
                <a:ea typeface="Archivo Narrow Bold"/>
                <a:cs typeface="Archivo Narrow Bold"/>
                <a:sym typeface="Archivo Narrow Bold"/>
              </a:rPr>
              <a:t>Recorrido</a:t>
            </a:r>
            <a:r>
              <a:rPr lang="en-US" sz="5199" b="1" dirty="0">
                <a:solidFill>
                  <a:srgbClr val="000000"/>
                </a:solidFill>
                <a:latin typeface="Archivo Narrow Bold"/>
                <a:ea typeface="Archivo Narrow Bold"/>
                <a:cs typeface="Archivo Narrow Bold"/>
                <a:sym typeface="Archivo Narrow Bold"/>
              </a:rPr>
              <a:t> de Array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010447" y="3802319"/>
            <a:ext cx="11523464" cy="1917687"/>
          </a:xfrm>
          <a:prstGeom prst="rect">
            <a:avLst/>
          </a:prstGeom>
        </p:spPr>
        <p:txBody>
          <a:bodyPr lIns="0" tIns="0" rIns="0" bIns="0" rtlCol="0" anchor="t">
            <a:spAutoFit/>
          </a:bodyPr>
          <a:lstStyle/>
          <a:p>
            <a:pPr algn="ctr">
              <a:lnSpc>
                <a:spcPts val="7700"/>
              </a:lnSpc>
            </a:pPr>
            <a:r>
              <a:rPr lang="en-US" sz="5500" b="1">
                <a:solidFill>
                  <a:srgbClr val="1800AD"/>
                </a:solidFill>
                <a:latin typeface="Archivo Narrow Bold"/>
                <a:ea typeface="Archivo Narrow Bold"/>
                <a:cs typeface="Archivo Narrow Bold"/>
                <a:sym typeface="Archivo Narrow Bold"/>
              </a:rPr>
              <a:t>4.2 Unidimensionales: conceptos básicos,</a:t>
            </a:r>
          </a:p>
          <a:p>
            <a:pPr algn="ctr">
              <a:lnSpc>
                <a:spcPts val="7700"/>
              </a:lnSpc>
            </a:pPr>
            <a:r>
              <a:rPr lang="en-US" sz="5500" b="1">
                <a:solidFill>
                  <a:srgbClr val="1800AD"/>
                </a:solidFill>
                <a:latin typeface="Archivo Narrow Bold"/>
                <a:ea typeface="Archivo Narrow Bold"/>
                <a:cs typeface="Archivo Narrow Bold"/>
                <a:sym typeface="Archivo Narrow Bold"/>
              </a:rPr>
              <a:t>operaciones y aplicaciones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7096996" y="4816376"/>
            <a:ext cx="4137103" cy="4441924"/>
          </a:xfrm>
          <a:custGeom>
            <a:avLst/>
            <a:gdLst/>
            <a:ahLst/>
            <a:cxnLst/>
            <a:rect l="l" t="t" r="r" b="b"/>
            <a:pathLst>
              <a:path w="4137103" h="4441924">
                <a:moveTo>
                  <a:pt x="0" y="0"/>
                </a:moveTo>
                <a:lnTo>
                  <a:pt x="4137103" y="0"/>
                </a:lnTo>
                <a:lnTo>
                  <a:pt x="4137103" y="4441924"/>
                </a:lnTo>
                <a:lnTo>
                  <a:pt x="0" y="4441924"/>
                </a:lnTo>
                <a:lnTo>
                  <a:pt x="0" y="0"/>
                </a:lnTo>
                <a:close/>
              </a:path>
            </a:pathLst>
          </a:custGeom>
          <a:blipFill>
            <a:blip r:embed="rId3"/>
            <a:stretch>
              <a:fillRect l="-3683" r="-3683"/>
            </a:stretch>
          </a:blipFill>
        </p:spPr>
        <p:txBody>
          <a:bodyPr/>
          <a:lstStyle/>
          <a:p>
            <a:endParaRPr lang="es-MX"/>
          </a:p>
        </p:txBody>
      </p:sp>
      <p:sp>
        <p:nvSpPr>
          <p:cNvPr id="4" name="TextBox 4"/>
          <p:cNvSpPr txBox="1"/>
          <p:nvPr/>
        </p:nvSpPr>
        <p:spPr>
          <a:xfrm>
            <a:off x="6300118" y="1326194"/>
            <a:ext cx="5687764" cy="906145"/>
          </a:xfrm>
          <a:prstGeom prst="rect">
            <a:avLst/>
          </a:prstGeom>
        </p:spPr>
        <p:txBody>
          <a:bodyPr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Array </a:t>
            </a:r>
            <a:r>
              <a:rPr lang="en-US" sz="5199" b="1" dirty="0" err="1">
                <a:solidFill>
                  <a:srgbClr val="000000"/>
                </a:solidFill>
                <a:latin typeface="Archivo Narrow Bold"/>
                <a:ea typeface="Archivo Narrow Bold"/>
                <a:cs typeface="Archivo Narrow Bold"/>
                <a:sym typeface="Archivo Narrow Bold"/>
              </a:rPr>
              <a:t>unidemensional</a:t>
            </a:r>
            <a:endParaRPr lang="en-US" sz="5199" b="1" dirty="0">
              <a:solidFill>
                <a:srgbClr val="000000"/>
              </a:solidFill>
              <a:latin typeface="Archivo Narrow Bold"/>
              <a:ea typeface="Archivo Narrow Bold"/>
              <a:cs typeface="Archivo Narrow Bold"/>
              <a:sym typeface="Archivo Narrow Bold"/>
            </a:endParaRPr>
          </a:p>
        </p:txBody>
      </p:sp>
      <p:sp>
        <p:nvSpPr>
          <p:cNvPr id="5" name="TextBox 5"/>
          <p:cNvSpPr txBox="1"/>
          <p:nvPr/>
        </p:nvSpPr>
        <p:spPr>
          <a:xfrm>
            <a:off x="2146577" y="3261039"/>
            <a:ext cx="14037941" cy="1244011"/>
          </a:xfrm>
          <a:prstGeom prst="rect">
            <a:avLst/>
          </a:prstGeom>
        </p:spPr>
        <p:txBody>
          <a:bodyPr lIns="0" tIns="0" rIns="0" bIns="0" rtlCol="0" anchor="t">
            <a:spAutoFit/>
          </a:bodyPr>
          <a:lstStyle/>
          <a:p>
            <a:pPr algn="just">
              <a:lnSpc>
                <a:spcPts val="3357"/>
              </a:lnSpc>
              <a:spcBef>
                <a:spcPct val="0"/>
              </a:spcBef>
            </a:pPr>
            <a:r>
              <a:rPr lang="en-US" sz="2398">
                <a:solidFill>
                  <a:srgbClr val="000000"/>
                </a:solidFill>
                <a:latin typeface="Archivo Narrow"/>
                <a:ea typeface="Archivo Narrow"/>
                <a:cs typeface="Archivo Narrow"/>
                <a:sym typeface="Archivo Narrow"/>
              </a:rPr>
              <a:t>La declaración de un array consiste en definir su tipo y nombre antes de usarlo en un algoritmo. Como los arrays son tipos estructurados, su declaración depende de un tipo base, que indica el tipo de dato que contendrán todos sus elementos (por ejemplo, enteros, reales o caracteres). Esto permite reservar espacio y establecer la forma en que se almacenarán los datos.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3"/>
            <a:stretch>
              <a:fillRect t="-905" b="-905"/>
            </a:stretch>
          </a:blipFill>
        </p:spPr>
        <p:txBody>
          <a:bodyPr/>
          <a:lstStyle/>
          <a:p>
            <a:endParaRPr lang="es-MX"/>
          </a:p>
        </p:txBody>
      </p:sp>
      <p:sp>
        <p:nvSpPr>
          <p:cNvPr id="6" name="AutoShape 6"/>
          <p:cNvSpPr/>
          <p:nvPr/>
        </p:nvSpPr>
        <p:spPr>
          <a:xfrm>
            <a:off x="3219678" y="5954748"/>
            <a:ext cx="11631707" cy="0"/>
          </a:xfrm>
          <a:prstGeom prst="line">
            <a:avLst/>
          </a:prstGeom>
          <a:ln w="38100" cap="flat">
            <a:solidFill>
              <a:srgbClr val="4B4B4B"/>
            </a:solidFill>
            <a:prstDash val="solid"/>
            <a:headEnd type="none" w="sm" len="sm"/>
            <a:tailEnd type="none" w="sm" len="sm"/>
          </a:ln>
        </p:spPr>
        <p:txBody>
          <a:bodyPr/>
          <a:lstStyle/>
          <a:p>
            <a:endParaRPr lang="es-MX"/>
          </a:p>
        </p:txBody>
      </p:sp>
      <p:sp>
        <p:nvSpPr>
          <p:cNvPr id="8" name="Freeform 8"/>
          <p:cNvSpPr/>
          <p:nvPr/>
        </p:nvSpPr>
        <p:spPr>
          <a:xfrm>
            <a:off x="5652949" y="5472573"/>
            <a:ext cx="1058996" cy="1058996"/>
          </a:xfrm>
          <a:custGeom>
            <a:avLst/>
            <a:gdLst/>
            <a:ahLst/>
            <a:cxnLst/>
            <a:rect l="l" t="t" r="r" b="b"/>
            <a:pathLst>
              <a:path w="1058996" h="1058996">
                <a:moveTo>
                  <a:pt x="0" y="0"/>
                </a:moveTo>
                <a:lnTo>
                  <a:pt x="1058996" y="0"/>
                </a:lnTo>
                <a:lnTo>
                  <a:pt x="1058996" y="1058996"/>
                </a:lnTo>
                <a:lnTo>
                  <a:pt x="0" y="10589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sp>
        <p:nvSpPr>
          <p:cNvPr id="9" name="Freeform 9"/>
          <p:cNvSpPr/>
          <p:nvPr/>
        </p:nvSpPr>
        <p:spPr>
          <a:xfrm>
            <a:off x="2690180" y="5472573"/>
            <a:ext cx="1058996" cy="1058996"/>
          </a:xfrm>
          <a:custGeom>
            <a:avLst/>
            <a:gdLst/>
            <a:ahLst/>
            <a:cxnLst/>
            <a:rect l="l" t="t" r="r" b="b"/>
            <a:pathLst>
              <a:path w="1058996" h="1058996">
                <a:moveTo>
                  <a:pt x="0" y="0"/>
                </a:moveTo>
                <a:lnTo>
                  <a:pt x="1058997" y="0"/>
                </a:lnTo>
                <a:lnTo>
                  <a:pt x="1058997" y="1058996"/>
                </a:lnTo>
                <a:lnTo>
                  <a:pt x="0" y="10589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1" name="Freeform 11"/>
          <p:cNvSpPr/>
          <p:nvPr/>
        </p:nvSpPr>
        <p:spPr>
          <a:xfrm>
            <a:off x="8615717" y="5472573"/>
            <a:ext cx="1058996" cy="1058996"/>
          </a:xfrm>
          <a:custGeom>
            <a:avLst/>
            <a:gdLst/>
            <a:ahLst/>
            <a:cxnLst/>
            <a:rect l="l" t="t" r="r" b="b"/>
            <a:pathLst>
              <a:path w="1058996" h="1058996">
                <a:moveTo>
                  <a:pt x="0" y="0"/>
                </a:moveTo>
                <a:lnTo>
                  <a:pt x="1058996" y="0"/>
                </a:lnTo>
                <a:lnTo>
                  <a:pt x="1058996" y="1058996"/>
                </a:lnTo>
                <a:lnTo>
                  <a:pt x="0" y="10589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3" name="Freeform 13"/>
          <p:cNvSpPr/>
          <p:nvPr/>
        </p:nvSpPr>
        <p:spPr>
          <a:xfrm>
            <a:off x="11637159" y="5472573"/>
            <a:ext cx="1058996" cy="1058996"/>
          </a:xfrm>
          <a:custGeom>
            <a:avLst/>
            <a:gdLst/>
            <a:ahLst/>
            <a:cxnLst/>
            <a:rect l="l" t="t" r="r" b="b"/>
            <a:pathLst>
              <a:path w="1058996" h="1058996">
                <a:moveTo>
                  <a:pt x="0" y="0"/>
                </a:moveTo>
                <a:lnTo>
                  <a:pt x="1058997" y="0"/>
                </a:lnTo>
                <a:lnTo>
                  <a:pt x="1058997" y="1058996"/>
                </a:lnTo>
                <a:lnTo>
                  <a:pt x="0" y="10589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5" name="Freeform 15"/>
          <p:cNvSpPr/>
          <p:nvPr/>
        </p:nvSpPr>
        <p:spPr>
          <a:xfrm>
            <a:off x="14541253" y="5425250"/>
            <a:ext cx="1058996" cy="1058996"/>
          </a:xfrm>
          <a:custGeom>
            <a:avLst/>
            <a:gdLst/>
            <a:ahLst/>
            <a:cxnLst/>
            <a:rect l="l" t="t" r="r" b="b"/>
            <a:pathLst>
              <a:path w="1058996" h="1058996">
                <a:moveTo>
                  <a:pt x="0" y="0"/>
                </a:moveTo>
                <a:lnTo>
                  <a:pt x="1058997" y="0"/>
                </a:lnTo>
                <a:lnTo>
                  <a:pt x="1058997" y="1058996"/>
                </a:lnTo>
                <a:lnTo>
                  <a:pt x="0" y="105899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s-MX"/>
          </a:p>
        </p:txBody>
      </p:sp>
      <p:sp>
        <p:nvSpPr>
          <p:cNvPr id="17" name="TextBox 17"/>
          <p:cNvSpPr txBox="1"/>
          <p:nvPr/>
        </p:nvSpPr>
        <p:spPr>
          <a:xfrm>
            <a:off x="1025128" y="1264108"/>
            <a:ext cx="16230600" cy="1135875"/>
          </a:xfrm>
          <a:prstGeom prst="rect">
            <a:avLst/>
          </a:prstGeom>
        </p:spPr>
        <p:txBody>
          <a:bodyPr lIns="0" tIns="0" rIns="0" bIns="0" rtlCol="0" anchor="t">
            <a:spAutoFit/>
          </a:bodyPr>
          <a:lstStyle/>
          <a:p>
            <a:pPr algn="ctr">
              <a:lnSpc>
                <a:spcPts val="8780"/>
              </a:lnSpc>
            </a:pPr>
            <a:r>
              <a:rPr lang="en-US" sz="7769" spc="124">
                <a:solidFill>
                  <a:srgbClr val="000000"/>
                </a:solidFill>
                <a:latin typeface="Archivo Narrow"/>
                <a:ea typeface="Archivo Narrow"/>
                <a:cs typeface="Archivo Narrow"/>
                <a:sym typeface="Archivo Narrow"/>
              </a:rPr>
              <a:t>Operaciones</a:t>
            </a:r>
          </a:p>
        </p:txBody>
      </p:sp>
      <p:grpSp>
        <p:nvGrpSpPr>
          <p:cNvPr id="21" name="Group 21"/>
          <p:cNvGrpSpPr/>
          <p:nvPr/>
        </p:nvGrpSpPr>
        <p:grpSpPr>
          <a:xfrm>
            <a:off x="12873771" y="6932508"/>
            <a:ext cx="4381957" cy="2411517"/>
            <a:chOff x="0" y="0"/>
            <a:chExt cx="4892275" cy="2692359"/>
          </a:xfrm>
        </p:grpSpPr>
        <p:sp>
          <p:nvSpPr>
            <p:cNvPr id="22" name="Freeform 22"/>
            <p:cNvSpPr/>
            <p:nvPr/>
          </p:nvSpPr>
          <p:spPr>
            <a:xfrm>
              <a:off x="0" y="0"/>
              <a:ext cx="4892275" cy="2692359"/>
            </a:xfrm>
            <a:custGeom>
              <a:avLst/>
              <a:gdLst/>
              <a:ahLst/>
              <a:cxnLst/>
              <a:rect l="l" t="t" r="r" b="b"/>
              <a:pathLst>
                <a:path w="4892275" h="2692359">
                  <a:moveTo>
                    <a:pt x="4767815" y="2692359"/>
                  </a:moveTo>
                  <a:lnTo>
                    <a:pt x="124460" y="2692359"/>
                  </a:lnTo>
                  <a:cubicBezTo>
                    <a:pt x="55880" y="2692359"/>
                    <a:pt x="0" y="2636479"/>
                    <a:pt x="0" y="2567899"/>
                  </a:cubicBezTo>
                  <a:lnTo>
                    <a:pt x="0" y="124460"/>
                  </a:lnTo>
                  <a:cubicBezTo>
                    <a:pt x="0" y="55880"/>
                    <a:pt x="55880" y="0"/>
                    <a:pt x="124460" y="0"/>
                  </a:cubicBezTo>
                  <a:lnTo>
                    <a:pt x="4767815" y="0"/>
                  </a:lnTo>
                  <a:cubicBezTo>
                    <a:pt x="4836395" y="0"/>
                    <a:pt x="4892275" y="55880"/>
                    <a:pt x="4892275" y="124460"/>
                  </a:cubicBezTo>
                  <a:lnTo>
                    <a:pt x="4892275" y="2567899"/>
                  </a:lnTo>
                  <a:cubicBezTo>
                    <a:pt x="4892275" y="2636479"/>
                    <a:pt x="4836395" y="2692359"/>
                    <a:pt x="4767815" y="2692359"/>
                  </a:cubicBezTo>
                  <a:close/>
                </a:path>
              </a:pathLst>
            </a:custGeom>
            <a:solidFill>
              <a:srgbClr val="A4BAB5"/>
            </a:solidFill>
          </p:spPr>
          <p:txBody>
            <a:bodyPr/>
            <a:lstStyle/>
            <a:p>
              <a:endParaRPr lang="es-MX"/>
            </a:p>
          </p:txBody>
        </p:sp>
      </p:grpSp>
      <p:sp>
        <p:nvSpPr>
          <p:cNvPr id="23" name="TextBox 23"/>
          <p:cNvSpPr txBox="1"/>
          <p:nvPr/>
        </p:nvSpPr>
        <p:spPr>
          <a:xfrm>
            <a:off x="13281669" y="7923322"/>
            <a:ext cx="3773994" cy="491510"/>
          </a:xfrm>
          <a:prstGeom prst="rect">
            <a:avLst/>
          </a:prstGeom>
        </p:spPr>
        <p:txBody>
          <a:bodyPr lIns="0" tIns="0" rIns="0" bIns="0" rtlCol="0" anchor="t">
            <a:spAutoFit/>
          </a:bodyPr>
          <a:lstStyle/>
          <a:p>
            <a:pPr algn="l">
              <a:lnSpc>
                <a:spcPts val="1978"/>
              </a:lnSpc>
            </a:pPr>
            <a:r>
              <a:rPr lang="en-US" sz="1498" spc="62">
                <a:solidFill>
                  <a:srgbClr val="000000"/>
                </a:solidFill>
                <a:latin typeface="Archivo Narrow"/>
                <a:ea typeface="Archivo Narrow"/>
                <a:cs typeface="Archivo Narrow"/>
                <a:sym typeface="Archivo Narrow"/>
              </a:rPr>
              <a:t>Permite acceder a todos los elementos usando un bucle</a:t>
            </a:r>
          </a:p>
        </p:txBody>
      </p:sp>
      <p:sp>
        <p:nvSpPr>
          <p:cNvPr id="34" name="TextBox 34"/>
          <p:cNvSpPr txBox="1"/>
          <p:nvPr/>
        </p:nvSpPr>
        <p:spPr>
          <a:xfrm>
            <a:off x="13278007" y="7380219"/>
            <a:ext cx="4216351" cy="395249"/>
          </a:xfrm>
          <a:prstGeom prst="rect">
            <a:avLst/>
          </a:prstGeom>
        </p:spPr>
        <p:txBody>
          <a:bodyPr lIns="0" tIns="0" rIns="0" bIns="0" rtlCol="0" anchor="t">
            <a:spAutoFit/>
          </a:bodyPr>
          <a:lstStyle/>
          <a:p>
            <a:pPr algn="l">
              <a:lnSpc>
                <a:spcPts val="3021"/>
              </a:lnSpc>
            </a:pPr>
            <a:r>
              <a:rPr lang="en-US" sz="2674" spc="42">
                <a:solidFill>
                  <a:srgbClr val="000000"/>
                </a:solidFill>
                <a:latin typeface="Archivo Narrow"/>
                <a:ea typeface="Archivo Narrow"/>
                <a:cs typeface="Archivo Narrow"/>
                <a:sym typeface="Archivo Narrow"/>
              </a:rPr>
              <a:t>Recorrido</a:t>
            </a:r>
          </a:p>
        </p:txBody>
      </p:sp>
      <p:sp>
        <p:nvSpPr>
          <p:cNvPr id="44" name="TextBox 44"/>
          <p:cNvSpPr txBox="1"/>
          <p:nvPr/>
        </p:nvSpPr>
        <p:spPr>
          <a:xfrm>
            <a:off x="13285818" y="8424357"/>
            <a:ext cx="2619970" cy="863074"/>
          </a:xfrm>
          <a:prstGeom prst="rect">
            <a:avLst/>
          </a:prstGeom>
        </p:spPr>
        <p:txBody>
          <a:bodyPr lIns="0" tIns="0" rIns="0" bIns="0" rtlCol="0" anchor="t">
            <a:spAutoFit/>
          </a:bodyPr>
          <a:lstStyle/>
          <a:p>
            <a:pPr algn="l">
              <a:lnSpc>
                <a:spcPts val="2303"/>
              </a:lnSpc>
              <a:spcBef>
                <a:spcPct val="0"/>
              </a:spcBef>
            </a:pPr>
            <a:r>
              <a:rPr lang="en-US" sz="1645">
                <a:solidFill>
                  <a:srgbClr val="000000"/>
                </a:solidFill>
                <a:latin typeface="Archivo Narrow"/>
                <a:ea typeface="Archivo Narrow"/>
                <a:cs typeface="Archivo Narrow"/>
                <a:sym typeface="Archivo Narrow"/>
              </a:rPr>
              <a:t>for (int i = 0; i &lt; datos.length; i++) {</a:t>
            </a:r>
          </a:p>
          <a:p>
            <a:pPr algn="l">
              <a:lnSpc>
                <a:spcPts val="2303"/>
              </a:lnSpc>
              <a:spcBef>
                <a:spcPct val="0"/>
              </a:spcBef>
            </a:pPr>
            <a:r>
              <a:rPr lang="en-US" sz="1645">
                <a:solidFill>
                  <a:srgbClr val="000000"/>
                </a:solidFill>
                <a:latin typeface="Archivo Narrow"/>
                <a:ea typeface="Archivo Narrow"/>
                <a:cs typeface="Archivo Narrow"/>
                <a:sym typeface="Archivo Narrow"/>
              </a:rPr>
              <a:t>    System.out.println(datos[i]);</a:t>
            </a:r>
          </a:p>
          <a:p>
            <a:pPr algn="l">
              <a:lnSpc>
                <a:spcPts val="2303"/>
              </a:lnSpc>
              <a:spcBef>
                <a:spcPct val="0"/>
              </a:spcBef>
            </a:pPr>
            <a:r>
              <a:rPr lang="en-US" sz="1645">
                <a:solidFill>
                  <a:srgbClr val="000000"/>
                </a:solidFill>
                <a:latin typeface="Archivo Narrow"/>
                <a:ea typeface="Archivo Narrow"/>
                <a:cs typeface="Archivo Narrow"/>
                <a:sym typeface="Archivo Narrow"/>
              </a:rPr>
              <a:t>}</a:t>
            </a:r>
          </a:p>
        </p:txBody>
      </p:sp>
      <p:pic>
        <p:nvPicPr>
          <p:cNvPr id="45" name="Imagen 44" descr="Icono&#10;&#10;El contenido generado por IA puede ser incorrecto.">
            <a:extLst>
              <a:ext uri="{FF2B5EF4-FFF2-40B4-BE49-F238E27FC236}">
                <a16:creationId xmlns:a16="http://schemas.microsoft.com/office/drawing/2014/main" id="{78E8F5D9-CFF1-5C71-DCA1-731966BDC2C1}"/>
              </a:ext>
            </a:extLst>
          </p:cNvPr>
          <p:cNvPicPr>
            <a:picLocks noChangeAspect="1"/>
          </p:cNvPicPr>
          <p:nvPr/>
        </p:nvPicPr>
        <p:blipFill>
          <a:blip r:embed="rId6" cstate="print">
            <a:extLst>
              <a:ext uri="{28A0092B-C50C-407E-A947-70E740481C1C}">
                <a14:useLocalDpi xmlns:a14="http://schemas.microsoft.com/office/drawing/2010/main" val="0"/>
              </a:ext>
            </a:extLst>
          </a:blip>
          <a:srcRect l="30377" t="16327" r="30874" b="16452"/>
          <a:stretch>
            <a:fillRect/>
          </a:stretch>
        </p:blipFill>
        <p:spPr>
          <a:xfrm rot="21315163">
            <a:off x="2739552" y="5526463"/>
            <a:ext cx="949104" cy="926142"/>
          </a:xfrm>
          <a:prstGeom prst="ellipse">
            <a:avLst/>
          </a:prstGeom>
        </p:spPr>
      </p:pic>
      <p:pic>
        <p:nvPicPr>
          <p:cNvPr id="53" name="Imagen 52">
            <a:extLst>
              <a:ext uri="{FF2B5EF4-FFF2-40B4-BE49-F238E27FC236}">
                <a16:creationId xmlns:a16="http://schemas.microsoft.com/office/drawing/2014/main" id="{8CB7BE62-F6A8-A8E1-1E74-6C016465A984}"/>
              </a:ext>
            </a:extLst>
          </p:cNvPr>
          <p:cNvPicPr>
            <a:picLocks noChangeAspect="1"/>
          </p:cNvPicPr>
          <p:nvPr/>
        </p:nvPicPr>
        <p:blipFill>
          <a:blip r:embed="rId7"/>
          <a:stretch>
            <a:fillRect/>
          </a:stretch>
        </p:blipFill>
        <p:spPr>
          <a:xfrm>
            <a:off x="1873358" y="6979735"/>
            <a:ext cx="4615072" cy="2426418"/>
          </a:xfrm>
          <a:prstGeom prst="rect">
            <a:avLst/>
          </a:prstGeom>
        </p:spPr>
      </p:pic>
      <p:pic>
        <p:nvPicPr>
          <p:cNvPr id="59" name="Imagen 58">
            <a:extLst>
              <a:ext uri="{FF2B5EF4-FFF2-40B4-BE49-F238E27FC236}">
                <a16:creationId xmlns:a16="http://schemas.microsoft.com/office/drawing/2014/main" id="{86629480-D8F6-3C51-7DBA-907113F5A56D}"/>
              </a:ext>
            </a:extLst>
          </p:cNvPr>
          <p:cNvPicPr>
            <a:picLocks noChangeAspect="1"/>
          </p:cNvPicPr>
          <p:nvPr/>
        </p:nvPicPr>
        <p:blipFill>
          <a:blip r:embed="rId8"/>
          <a:stretch>
            <a:fillRect/>
          </a:stretch>
        </p:blipFill>
        <p:spPr>
          <a:xfrm>
            <a:off x="4093350" y="2511532"/>
            <a:ext cx="4645555" cy="2554445"/>
          </a:xfrm>
          <a:prstGeom prst="rect">
            <a:avLst/>
          </a:prstGeom>
        </p:spPr>
      </p:pic>
      <p:pic>
        <p:nvPicPr>
          <p:cNvPr id="60" name="Imagen 59" descr="Icono&#10;&#10;El contenido generado por IA puede ser incorrecto.">
            <a:extLst>
              <a:ext uri="{FF2B5EF4-FFF2-40B4-BE49-F238E27FC236}">
                <a16:creationId xmlns:a16="http://schemas.microsoft.com/office/drawing/2014/main" id="{F8BA3704-16BA-640F-CEC8-7D5001B3B491}"/>
              </a:ext>
            </a:extLst>
          </p:cNvPr>
          <p:cNvPicPr>
            <a:picLocks noChangeAspect="1"/>
          </p:cNvPicPr>
          <p:nvPr/>
        </p:nvPicPr>
        <p:blipFill>
          <a:blip r:embed="rId6" cstate="print">
            <a:extLst>
              <a:ext uri="{28A0092B-C50C-407E-A947-70E740481C1C}">
                <a14:useLocalDpi xmlns:a14="http://schemas.microsoft.com/office/drawing/2010/main" val="0"/>
              </a:ext>
            </a:extLst>
          </a:blip>
          <a:srcRect l="30377" t="16327" r="30874" b="16452"/>
          <a:stretch>
            <a:fillRect/>
          </a:stretch>
        </p:blipFill>
        <p:spPr>
          <a:xfrm rot="21315163">
            <a:off x="5707895" y="5503413"/>
            <a:ext cx="949104" cy="926142"/>
          </a:xfrm>
          <a:prstGeom prst="ellipse">
            <a:avLst/>
          </a:prstGeom>
        </p:spPr>
      </p:pic>
      <p:pic>
        <p:nvPicPr>
          <p:cNvPr id="61" name="Imagen 60" descr="Icono&#10;&#10;El contenido generado por IA puede ser incorrecto.">
            <a:extLst>
              <a:ext uri="{FF2B5EF4-FFF2-40B4-BE49-F238E27FC236}">
                <a16:creationId xmlns:a16="http://schemas.microsoft.com/office/drawing/2014/main" id="{6334BF44-5C8D-953F-6A02-8F898A4EFD2A}"/>
              </a:ext>
            </a:extLst>
          </p:cNvPr>
          <p:cNvPicPr>
            <a:picLocks noChangeAspect="1"/>
          </p:cNvPicPr>
          <p:nvPr/>
        </p:nvPicPr>
        <p:blipFill>
          <a:blip r:embed="rId6" cstate="print">
            <a:extLst>
              <a:ext uri="{28A0092B-C50C-407E-A947-70E740481C1C}">
                <a14:useLocalDpi xmlns:a14="http://schemas.microsoft.com/office/drawing/2010/main" val="0"/>
              </a:ext>
            </a:extLst>
          </a:blip>
          <a:srcRect l="30377" t="16327" r="30874" b="16452"/>
          <a:stretch>
            <a:fillRect/>
          </a:stretch>
        </p:blipFill>
        <p:spPr>
          <a:xfrm rot="21315163">
            <a:off x="8691956" y="5527620"/>
            <a:ext cx="949104" cy="926142"/>
          </a:xfrm>
          <a:prstGeom prst="ellipse">
            <a:avLst/>
          </a:prstGeom>
        </p:spPr>
      </p:pic>
      <p:pic>
        <p:nvPicPr>
          <p:cNvPr id="67" name="Imagen 66">
            <a:extLst>
              <a:ext uri="{FF2B5EF4-FFF2-40B4-BE49-F238E27FC236}">
                <a16:creationId xmlns:a16="http://schemas.microsoft.com/office/drawing/2014/main" id="{BD56E2C3-5E33-7D06-B007-D6BA7C12F2CF}"/>
              </a:ext>
            </a:extLst>
          </p:cNvPr>
          <p:cNvPicPr>
            <a:picLocks noChangeAspect="1"/>
          </p:cNvPicPr>
          <p:nvPr/>
        </p:nvPicPr>
        <p:blipFill>
          <a:blip r:embed="rId9"/>
          <a:stretch>
            <a:fillRect/>
          </a:stretch>
        </p:blipFill>
        <p:spPr>
          <a:xfrm>
            <a:off x="6958536" y="6907257"/>
            <a:ext cx="4621169" cy="2414225"/>
          </a:xfrm>
          <a:prstGeom prst="rect">
            <a:avLst/>
          </a:prstGeom>
        </p:spPr>
      </p:pic>
      <p:pic>
        <p:nvPicPr>
          <p:cNvPr id="73" name="Imagen 72">
            <a:extLst>
              <a:ext uri="{FF2B5EF4-FFF2-40B4-BE49-F238E27FC236}">
                <a16:creationId xmlns:a16="http://schemas.microsoft.com/office/drawing/2014/main" id="{71BC2A80-175F-E89B-45C8-4722E5356ED9}"/>
              </a:ext>
            </a:extLst>
          </p:cNvPr>
          <p:cNvPicPr>
            <a:picLocks noChangeAspect="1"/>
          </p:cNvPicPr>
          <p:nvPr/>
        </p:nvPicPr>
        <p:blipFill>
          <a:blip r:embed="rId10"/>
          <a:stretch>
            <a:fillRect/>
          </a:stretch>
        </p:blipFill>
        <p:spPr>
          <a:xfrm>
            <a:off x="9956345" y="2490663"/>
            <a:ext cx="4639458" cy="2408129"/>
          </a:xfrm>
          <a:prstGeom prst="rect">
            <a:avLst/>
          </a:prstGeom>
        </p:spPr>
      </p:pic>
      <p:pic>
        <p:nvPicPr>
          <p:cNvPr id="74" name="Imagen 73" descr="Icono&#10;&#10;El contenido generado por IA puede ser incorrecto.">
            <a:extLst>
              <a:ext uri="{FF2B5EF4-FFF2-40B4-BE49-F238E27FC236}">
                <a16:creationId xmlns:a16="http://schemas.microsoft.com/office/drawing/2014/main" id="{2716481E-9A70-AA9A-3B8E-771568A4C4B6}"/>
              </a:ext>
            </a:extLst>
          </p:cNvPr>
          <p:cNvPicPr>
            <a:picLocks noChangeAspect="1"/>
          </p:cNvPicPr>
          <p:nvPr/>
        </p:nvPicPr>
        <p:blipFill>
          <a:blip r:embed="rId6" cstate="print">
            <a:extLst>
              <a:ext uri="{28A0092B-C50C-407E-A947-70E740481C1C}">
                <a14:useLocalDpi xmlns:a14="http://schemas.microsoft.com/office/drawing/2010/main" val="0"/>
              </a:ext>
            </a:extLst>
          </a:blip>
          <a:srcRect l="30377" t="16327" r="30874" b="16452"/>
          <a:stretch>
            <a:fillRect/>
          </a:stretch>
        </p:blipFill>
        <p:spPr>
          <a:xfrm rot="21315163">
            <a:off x="11710355" y="5539000"/>
            <a:ext cx="949104" cy="926142"/>
          </a:xfrm>
          <a:prstGeom prst="ellipse">
            <a:avLst/>
          </a:prstGeom>
        </p:spPr>
      </p:pic>
      <p:pic>
        <p:nvPicPr>
          <p:cNvPr id="81" name="Imagen 80" descr="Icono&#10;&#10;El contenido generado por IA puede ser incorrecto.">
            <a:extLst>
              <a:ext uri="{FF2B5EF4-FFF2-40B4-BE49-F238E27FC236}">
                <a16:creationId xmlns:a16="http://schemas.microsoft.com/office/drawing/2014/main" id="{B83DECD8-4C7F-AB03-2289-45FF3390A236}"/>
              </a:ext>
            </a:extLst>
          </p:cNvPr>
          <p:cNvPicPr>
            <a:picLocks noChangeAspect="1"/>
          </p:cNvPicPr>
          <p:nvPr/>
        </p:nvPicPr>
        <p:blipFill>
          <a:blip r:embed="rId6" cstate="print">
            <a:extLst>
              <a:ext uri="{28A0092B-C50C-407E-A947-70E740481C1C}">
                <a14:useLocalDpi xmlns:a14="http://schemas.microsoft.com/office/drawing/2010/main" val="0"/>
              </a:ext>
            </a:extLst>
          </a:blip>
          <a:srcRect l="30377" t="16327" r="30874" b="16452"/>
          <a:stretch>
            <a:fillRect/>
          </a:stretch>
        </p:blipFill>
        <p:spPr>
          <a:xfrm rot="21315163">
            <a:off x="14609584" y="5491150"/>
            <a:ext cx="949104" cy="926142"/>
          </a:xfrm>
          <a:prstGeom prst="ellipse">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5"/>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500"/>
                                        <p:tgtEl>
                                          <p:spTgt spid="53"/>
                                        </p:tgtEl>
                                      </p:cBhvr>
                                    </p:animEffect>
                                  </p:childTnLst>
                                </p:cTn>
                              </p:par>
                            </p:childTnLst>
                          </p:cTn>
                        </p:par>
                      </p:childTnLst>
                    </p:cTn>
                  </p:par>
                </p:childTnLst>
              </p:cTn>
              <p:nextCondLst>
                <p:cond evt="onClick" delay="0">
                  <p:tgtEl>
                    <p:spTgt spid="45"/>
                  </p:tgtEl>
                </p:cond>
              </p:nextCondLst>
            </p:seq>
            <p:seq concurrent="1" nextAc="seek">
              <p:cTn id="8" restart="whenNotActive" fill="hold" evtFilter="cancelBubble" nodeType="interactiveSeq">
                <p:stCondLst>
                  <p:cond evt="onClick" delay="0">
                    <p:tgtEl>
                      <p:spTgt spid="60"/>
                    </p:tgtEl>
                  </p:cond>
                </p:stCondLst>
                <p:endSync evt="end" delay="0">
                  <p:rtn val="all"/>
                </p:endSync>
                <p:childTnLst>
                  <p:par>
                    <p:cTn id="9" fill="hold">
                      <p:stCondLst>
                        <p:cond delay="0"/>
                      </p:stCondLst>
                      <p:childTnLst>
                        <p:par>
                          <p:cTn id="10" fill="hold">
                            <p:stCondLst>
                              <p:cond delay="0"/>
                            </p:stCondLst>
                            <p:childTnLst>
                              <p:par>
                                <p:cTn id="11" presetID="10" presetClass="entr" presetSubtype="0" fill="hold" nodeType="clickEffect">
                                  <p:stCondLst>
                                    <p:cond delay="0"/>
                                  </p:stCondLst>
                                  <p:childTnLst>
                                    <p:set>
                                      <p:cBhvr>
                                        <p:cTn id="12" dur="1" fill="hold">
                                          <p:stCondLst>
                                            <p:cond delay="0"/>
                                          </p:stCondLst>
                                        </p:cTn>
                                        <p:tgtEl>
                                          <p:spTgt spid="59"/>
                                        </p:tgtEl>
                                        <p:attrNameLst>
                                          <p:attrName>style.visibility</p:attrName>
                                        </p:attrNameLst>
                                      </p:cBhvr>
                                      <p:to>
                                        <p:strVal val="visible"/>
                                      </p:to>
                                    </p:set>
                                    <p:animEffect transition="in" filter="fade">
                                      <p:cBhvr>
                                        <p:cTn id="13" dur="500"/>
                                        <p:tgtEl>
                                          <p:spTgt spid="59"/>
                                        </p:tgtEl>
                                      </p:cBhvr>
                                    </p:animEffect>
                                  </p:childTnLst>
                                </p:cTn>
                              </p:par>
                            </p:childTnLst>
                          </p:cTn>
                        </p:par>
                      </p:childTnLst>
                    </p:cTn>
                  </p:par>
                </p:childTnLst>
              </p:cTn>
              <p:nextCondLst>
                <p:cond evt="onClick" delay="0">
                  <p:tgtEl>
                    <p:spTgt spid="60"/>
                  </p:tgtEl>
                </p:cond>
              </p:nextCondLst>
            </p:seq>
            <p:seq concurrent="1" nextAc="seek">
              <p:cTn id="14" restart="whenNotActive" fill="hold" evtFilter="cancelBubble" nodeType="interactiveSeq">
                <p:stCondLst>
                  <p:cond evt="onClick" delay="0">
                    <p:tgtEl>
                      <p:spTgt spid="61"/>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67"/>
                                        </p:tgtEl>
                                        <p:attrNameLst>
                                          <p:attrName>style.visibility</p:attrName>
                                        </p:attrNameLst>
                                      </p:cBhvr>
                                      <p:to>
                                        <p:strVal val="visible"/>
                                      </p:to>
                                    </p:set>
                                    <p:animEffect transition="in" filter="fade">
                                      <p:cBhvr>
                                        <p:cTn id="19" dur="500"/>
                                        <p:tgtEl>
                                          <p:spTgt spid="67"/>
                                        </p:tgtEl>
                                      </p:cBhvr>
                                    </p:animEffect>
                                  </p:childTnLst>
                                </p:cTn>
                              </p:par>
                            </p:childTnLst>
                          </p:cTn>
                        </p:par>
                      </p:childTnLst>
                    </p:cTn>
                  </p:par>
                </p:childTnLst>
              </p:cTn>
              <p:nextCondLst>
                <p:cond evt="onClick" delay="0">
                  <p:tgtEl>
                    <p:spTgt spid="61"/>
                  </p:tgtEl>
                </p:cond>
              </p:nextCondLst>
            </p:seq>
            <p:seq concurrent="1" nextAc="seek">
              <p:cTn id="20" restart="whenNotActive" fill="hold" evtFilter="cancelBubble" nodeType="interactiveSeq">
                <p:stCondLst>
                  <p:cond evt="onClick" delay="0">
                    <p:tgtEl>
                      <p:spTgt spid="74"/>
                    </p:tgtEl>
                  </p:cond>
                </p:stCondLst>
                <p:endSync evt="end" delay="0">
                  <p:rtn val="all"/>
                </p:endSync>
                <p:childTnLst>
                  <p:par>
                    <p:cTn id="21" fill="hold">
                      <p:stCondLst>
                        <p:cond delay="0"/>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fade">
                                      <p:cBhvr>
                                        <p:cTn id="25" dur="500"/>
                                        <p:tgtEl>
                                          <p:spTgt spid="73"/>
                                        </p:tgtEl>
                                      </p:cBhvr>
                                    </p:animEffect>
                                  </p:childTnLst>
                                </p:cTn>
                              </p:par>
                            </p:childTnLst>
                          </p:cTn>
                        </p:par>
                      </p:childTnLst>
                    </p:cTn>
                  </p:par>
                </p:childTnLst>
              </p:cTn>
              <p:nextCondLst>
                <p:cond evt="onClick" delay="0">
                  <p:tgtEl>
                    <p:spTgt spid="74"/>
                  </p:tgtEl>
                </p:cond>
              </p:nextCondLst>
            </p:seq>
            <p:seq concurrent="1" nextAc="seek">
              <p:cTn id="26" restart="whenNotActive" fill="hold" evtFilter="cancelBubble" nodeType="interactiveSeq">
                <p:stCondLst>
                  <p:cond evt="onClick" delay="0">
                    <p:tgtEl>
                      <p:spTgt spid="81"/>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00"/>
                                        <p:tgtEl>
                                          <p:spTgt spid="21"/>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3"/>
                                        </p:tgtEl>
                                        <p:attrNameLst>
                                          <p:attrName>style.visibility</p:attrName>
                                        </p:attrNameLst>
                                      </p:cBhvr>
                                      <p:to>
                                        <p:strVal val="visible"/>
                                      </p:to>
                                    </p:set>
                                    <p:animEffect transition="in" filter="fade">
                                      <p:cBhvr>
                                        <p:cTn id="34" dur="500"/>
                                        <p:tgtEl>
                                          <p:spTgt spid="2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fade">
                                      <p:cBhvr>
                                        <p:cTn id="37" dur="500"/>
                                        <p:tgtEl>
                                          <p:spTgt spid="34"/>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44"/>
                                        </p:tgtEl>
                                        <p:attrNameLst>
                                          <p:attrName>style.visibility</p:attrName>
                                        </p:attrNameLst>
                                      </p:cBhvr>
                                      <p:to>
                                        <p:strVal val="visible"/>
                                      </p:to>
                                    </p:set>
                                    <p:animEffect transition="in" filter="fade">
                                      <p:cBhvr>
                                        <p:cTn id="40" dur="500"/>
                                        <p:tgtEl>
                                          <p:spTgt spid="44"/>
                                        </p:tgtEl>
                                      </p:cBhvr>
                                    </p:animEffect>
                                  </p:childTnLst>
                                </p:cTn>
                              </p:par>
                            </p:childTnLst>
                          </p:cTn>
                        </p:par>
                      </p:childTnLst>
                    </p:cTn>
                  </p:par>
                </p:childTnLst>
              </p:cTn>
              <p:nextCondLst>
                <p:cond evt="onClick" delay="0">
                  <p:tgtEl>
                    <p:spTgt spid="81"/>
                  </p:tgtEl>
                </p:cond>
              </p:nextCondLst>
            </p:seq>
          </p:childTnLst>
        </p:cTn>
      </p:par>
    </p:tnLst>
    <p:bldLst>
      <p:bldP spid="23" grpId="0"/>
      <p:bldP spid="34" grpId="0"/>
      <p:bldP spid="44"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grpSp>
        <p:nvGrpSpPr>
          <p:cNvPr id="3" name="Group 3"/>
          <p:cNvGrpSpPr/>
          <p:nvPr/>
        </p:nvGrpSpPr>
        <p:grpSpPr>
          <a:xfrm>
            <a:off x="2628130" y="7063968"/>
            <a:ext cx="4381957" cy="2411517"/>
            <a:chOff x="0" y="0"/>
            <a:chExt cx="4892275" cy="2692359"/>
          </a:xfrm>
        </p:grpSpPr>
        <p:sp>
          <p:nvSpPr>
            <p:cNvPr id="4" name="Freeform 4"/>
            <p:cNvSpPr/>
            <p:nvPr/>
          </p:nvSpPr>
          <p:spPr>
            <a:xfrm>
              <a:off x="0" y="0"/>
              <a:ext cx="4892275" cy="2692359"/>
            </a:xfrm>
            <a:custGeom>
              <a:avLst/>
              <a:gdLst/>
              <a:ahLst/>
              <a:cxnLst/>
              <a:rect l="l" t="t" r="r" b="b"/>
              <a:pathLst>
                <a:path w="4892275" h="2692359">
                  <a:moveTo>
                    <a:pt x="4767815" y="2692359"/>
                  </a:moveTo>
                  <a:lnTo>
                    <a:pt x="124460" y="2692359"/>
                  </a:lnTo>
                  <a:cubicBezTo>
                    <a:pt x="55880" y="2692359"/>
                    <a:pt x="0" y="2636479"/>
                    <a:pt x="0" y="2567899"/>
                  </a:cubicBezTo>
                  <a:lnTo>
                    <a:pt x="0" y="124460"/>
                  </a:lnTo>
                  <a:cubicBezTo>
                    <a:pt x="0" y="55880"/>
                    <a:pt x="55880" y="0"/>
                    <a:pt x="124460" y="0"/>
                  </a:cubicBezTo>
                  <a:lnTo>
                    <a:pt x="4767815" y="0"/>
                  </a:lnTo>
                  <a:cubicBezTo>
                    <a:pt x="4836395" y="0"/>
                    <a:pt x="4892275" y="55880"/>
                    <a:pt x="4892275" y="124460"/>
                  </a:cubicBezTo>
                  <a:lnTo>
                    <a:pt x="4892275" y="2567899"/>
                  </a:lnTo>
                  <a:cubicBezTo>
                    <a:pt x="4892275" y="2636479"/>
                    <a:pt x="4836395" y="2692359"/>
                    <a:pt x="4767815" y="2692359"/>
                  </a:cubicBezTo>
                  <a:close/>
                </a:path>
              </a:pathLst>
            </a:custGeom>
            <a:solidFill>
              <a:srgbClr val="A4BAB5"/>
            </a:solidFill>
          </p:spPr>
          <p:txBody>
            <a:bodyPr/>
            <a:lstStyle/>
            <a:p>
              <a:endParaRPr lang="es-MX"/>
            </a:p>
          </p:txBody>
        </p:sp>
      </p:grpSp>
      <p:sp>
        <p:nvSpPr>
          <p:cNvPr id="6" name="AutoShape 6"/>
          <p:cNvSpPr/>
          <p:nvPr/>
        </p:nvSpPr>
        <p:spPr>
          <a:xfrm>
            <a:off x="4819108" y="6086208"/>
            <a:ext cx="9449026" cy="47323"/>
          </a:xfrm>
          <a:prstGeom prst="line">
            <a:avLst/>
          </a:prstGeom>
          <a:ln w="38100" cap="flat">
            <a:solidFill>
              <a:srgbClr val="4B4B4B"/>
            </a:solidFill>
            <a:prstDash val="solid"/>
            <a:headEnd type="none" w="sm" len="sm"/>
            <a:tailEnd type="none" w="sm" len="sm"/>
          </a:ln>
        </p:spPr>
        <p:txBody>
          <a:bodyPr/>
          <a:lstStyle/>
          <a:p>
            <a:endParaRPr lang="es-MX"/>
          </a:p>
        </p:txBody>
      </p:sp>
      <p:sp>
        <p:nvSpPr>
          <p:cNvPr id="8" name="Freeform 8"/>
          <p:cNvSpPr/>
          <p:nvPr/>
        </p:nvSpPr>
        <p:spPr>
          <a:xfrm>
            <a:off x="7252378" y="5604033"/>
            <a:ext cx="1058996" cy="1058996"/>
          </a:xfrm>
          <a:custGeom>
            <a:avLst/>
            <a:gdLst/>
            <a:ahLst/>
            <a:cxnLst/>
            <a:rect l="l" t="t" r="r" b="b"/>
            <a:pathLst>
              <a:path w="1058996" h="1058996">
                <a:moveTo>
                  <a:pt x="0" y="0"/>
                </a:moveTo>
                <a:lnTo>
                  <a:pt x="1058997" y="0"/>
                </a:lnTo>
                <a:lnTo>
                  <a:pt x="1058997" y="1058996"/>
                </a:lnTo>
                <a:lnTo>
                  <a:pt x="0" y="10589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a:p>
        </p:txBody>
      </p:sp>
      <p:sp>
        <p:nvSpPr>
          <p:cNvPr id="9" name="Freeform 9"/>
          <p:cNvSpPr/>
          <p:nvPr/>
        </p:nvSpPr>
        <p:spPr>
          <a:xfrm>
            <a:off x="4289610" y="5604033"/>
            <a:ext cx="1058996" cy="1058996"/>
          </a:xfrm>
          <a:custGeom>
            <a:avLst/>
            <a:gdLst/>
            <a:ahLst/>
            <a:cxnLst/>
            <a:rect l="l" t="t" r="r" b="b"/>
            <a:pathLst>
              <a:path w="1058996" h="1058996">
                <a:moveTo>
                  <a:pt x="0" y="0"/>
                </a:moveTo>
                <a:lnTo>
                  <a:pt x="1058996" y="0"/>
                </a:lnTo>
                <a:lnTo>
                  <a:pt x="1058996" y="1058996"/>
                </a:lnTo>
                <a:lnTo>
                  <a:pt x="0" y="10589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dirty="0"/>
          </a:p>
        </p:txBody>
      </p:sp>
      <p:sp>
        <p:nvSpPr>
          <p:cNvPr id="10" name="AutoShape 10"/>
          <p:cNvSpPr/>
          <p:nvPr/>
        </p:nvSpPr>
        <p:spPr>
          <a:xfrm flipH="1">
            <a:off x="10741644" y="6208009"/>
            <a:ext cx="6002" cy="1151615"/>
          </a:xfrm>
          <a:prstGeom prst="line">
            <a:avLst/>
          </a:prstGeom>
          <a:ln w="180975" cap="flat">
            <a:solidFill>
              <a:srgbClr val="DDEFEE"/>
            </a:solidFill>
            <a:prstDash val="solid"/>
            <a:headEnd type="none" w="sm" len="sm"/>
            <a:tailEnd type="none" w="sm" len="sm"/>
          </a:ln>
        </p:spPr>
        <p:txBody>
          <a:bodyPr/>
          <a:lstStyle/>
          <a:p>
            <a:endParaRPr lang="es-MX"/>
          </a:p>
        </p:txBody>
      </p:sp>
      <p:sp>
        <p:nvSpPr>
          <p:cNvPr id="11" name="Freeform 11"/>
          <p:cNvSpPr/>
          <p:nvPr/>
        </p:nvSpPr>
        <p:spPr>
          <a:xfrm>
            <a:off x="10215147" y="5604033"/>
            <a:ext cx="1058996" cy="1058996"/>
          </a:xfrm>
          <a:custGeom>
            <a:avLst/>
            <a:gdLst/>
            <a:ahLst/>
            <a:cxnLst/>
            <a:rect l="l" t="t" r="r" b="b"/>
            <a:pathLst>
              <a:path w="1058996" h="1058996">
                <a:moveTo>
                  <a:pt x="0" y="0"/>
                </a:moveTo>
                <a:lnTo>
                  <a:pt x="1058996" y="0"/>
                </a:lnTo>
                <a:lnTo>
                  <a:pt x="1058996" y="1058996"/>
                </a:lnTo>
                <a:lnTo>
                  <a:pt x="0" y="10589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a:p>
        </p:txBody>
      </p:sp>
      <p:sp>
        <p:nvSpPr>
          <p:cNvPr id="13" name="Freeform 13"/>
          <p:cNvSpPr/>
          <p:nvPr/>
        </p:nvSpPr>
        <p:spPr>
          <a:xfrm>
            <a:off x="13236589" y="5604033"/>
            <a:ext cx="1058996" cy="1058996"/>
          </a:xfrm>
          <a:custGeom>
            <a:avLst/>
            <a:gdLst/>
            <a:ahLst/>
            <a:cxnLst/>
            <a:rect l="l" t="t" r="r" b="b"/>
            <a:pathLst>
              <a:path w="1058996" h="1058996">
                <a:moveTo>
                  <a:pt x="0" y="0"/>
                </a:moveTo>
                <a:lnTo>
                  <a:pt x="1058996" y="0"/>
                </a:lnTo>
                <a:lnTo>
                  <a:pt x="1058996" y="1058996"/>
                </a:lnTo>
                <a:lnTo>
                  <a:pt x="0" y="105899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a:p>
        </p:txBody>
      </p:sp>
      <p:sp>
        <p:nvSpPr>
          <p:cNvPr id="14" name="TextBox 14"/>
          <p:cNvSpPr txBox="1"/>
          <p:nvPr/>
        </p:nvSpPr>
        <p:spPr>
          <a:xfrm>
            <a:off x="3029389" y="7887406"/>
            <a:ext cx="3773994" cy="491510"/>
          </a:xfrm>
          <a:prstGeom prst="rect">
            <a:avLst/>
          </a:prstGeom>
        </p:spPr>
        <p:txBody>
          <a:bodyPr lIns="0" tIns="0" rIns="0" bIns="0" rtlCol="0" anchor="t">
            <a:spAutoFit/>
          </a:bodyPr>
          <a:lstStyle/>
          <a:p>
            <a:pPr algn="l">
              <a:lnSpc>
                <a:spcPts val="1978"/>
              </a:lnSpc>
            </a:pPr>
            <a:r>
              <a:rPr lang="en-US" sz="1498" spc="62" dirty="0" err="1">
                <a:solidFill>
                  <a:srgbClr val="000000"/>
                </a:solidFill>
                <a:latin typeface="Archivo Narrow"/>
                <a:ea typeface="Archivo Narrow"/>
                <a:cs typeface="Archivo Narrow"/>
                <a:sym typeface="Archivo Narrow"/>
              </a:rPr>
              <a:t>Verifica</a:t>
            </a:r>
            <a:r>
              <a:rPr lang="en-US" sz="1498" spc="62" dirty="0">
                <a:solidFill>
                  <a:srgbClr val="000000"/>
                </a:solidFill>
                <a:latin typeface="Archivo Narrow"/>
                <a:ea typeface="Archivo Narrow"/>
                <a:cs typeface="Archivo Narrow"/>
                <a:sym typeface="Archivo Narrow"/>
              </a:rPr>
              <a:t> </a:t>
            </a:r>
            <a:r>
              <a:rPr lang="en-US" sz="1498" spc="62" dirty="0" err="1">
                <a:solidFill>
                  <a:srgbClr val="000000"/>
                </a:solidFill>
                <a:latin typeface="Archivo Narrow"/>
                <a:ea typeface="Archivo Narrow"/>
                <a:cs typeface="Archivo Narrow"/>
                <a:sym typeface="Archivo Narrow"/>
              </a:rPr>
              <a:t>si</a:t>
            </a:r>
            <a:r>
              <a:rPr lang="en-US" sz="1498" spc="62" dirty="0">
                <a:solidFill>
                  <a:srgbClr val="000000"/>
                </a:solidFill>
                <a:latin typeface="Archivo Narrow"/>
                <a:ea typeface="Archivo Narrow"/>
                <a:cs typeface="Archivo Narrow"/>
                <a:sym typeface="Archivo Narrow"/>
              </a:rPr>
              <a:t> un valor </a:t>
            </a:r>
            <a:r>
              <a:rPr lang="en-US" sz="1498" spc="62" dirty="0" err="1">
                <a:solidFill>
                  <a:srgbClr val="000000"/>
                </a:solidFill>
                <a:latin typeface="Archivo Narrow"/>
                <a:ea typeface="Archivo Narrow"/>
                <a:cs typeface="Archivo Narrow"/>
                <a:sym typeface="Archivo Narrow"/>
              </a:rPr>
              <a:t>específico</a:t>
            </a:r>
            <a:r>
              <a:rPr lang="en-US" sz="1498" spc="62" dirty="0">
                <a:solidFill>
                  <a:srgbClr val="000000"/>
                </a:solidFill>
                <a:latin typeface="Archivo Narrow"/>
                <a:ea typeface="Archivo Narrow"/>
                <a:cs typeface="Archivo Narrow"/>
                <a:sym typeface="Archivo Narrow"/>
              </a:rPr>
              <a:t> </a:t>
            </a:r>
            <a:r>
              <a:rPr lang="en-US" sz="1498" spc="62" dirty="0" err="1">
                <a:solidFill>
                  <a:srgbClr val="000000"/>
                </a:solidFill>
                <a:latin typeface="Archivo Narrow"/>
                <a:ea typeface="Archivo Narrow"/>
                <a:cs typeface="Archivo Narrow"/>
                <a:sym typeface="Archivo Narrow"/>
              </a:rPr>
              <a:t>está</a:t>
            </a:r>
            <a:r>
              <a:rPr lang="en-US" sz="1498" spc="62" dirty="0">
                <a:solidFill>
                  <a:srgbClr val="000000"/>
                </a:solidFill>
                <a:latin typeface="Archivo Narrow"/>
                <a:ea typeface="Archivo Narrow"/>
                <a:cs typeface="Archivo Narrow"/>
                <a:sym typeface="Archivo Narrow"/>
              </a:rPr>
              <a:t> </a:t>
            </a:r>
            <a:r>
              <a:rPr lang="en-US" sz="1498" spc="62" dirty="0" err="1">
                <a:solidFill>
                  <a:srgbClr val="000000"/>
                </a:solidFill>
                <a:latin typeface="Archivo Narrow"/>
                <a:ea typeface="Archivo Narrow"/>
                <a:cs typeface="Archivo Narrow"/>
                <a:sym typeface="Archivo Narrow"/>
              </a:rPr>
              <a:t>dentro</a:t>
            </a:r>
            <a:r>
              <a:rPr lang="en-US" sz="1498" spc="62" dirty="0">
                <a:solidFill>
                  <a:srgbClr val="000000"/>
                </a:solidFill>
                <a:latin typeface="Archivo Narrow"/>
                <a:ea typeface="Archivo Narrow"/>
                <a:cs typeface="Archivo Narrow"/>
                <a:sym typeface="Archivo Narrow"/>
              </a:rPr>
              <a:t> del array.</a:t>
            </a:r>
          </a:p>
        </p:txBody>
      </p:sp>
      <p:sp>
        <p:nvSpPr>
          <p:cNvPr id="15" name="TextBox 15"/>
          <p:cNvSpPr txBox="1"/>
          <p:nvPr/>
        </p:nvSpPr>
        <p:spPr>
          <a:xfrm>
            <a:off x="1025128" y="1264108"/>
            <a:ext cx="16230600" cy="1135875"/>
          </a:xfrm>
          <a:prstGeom prst="rect">
            <a:avLst/>
          </a:prstGeom>
        </p:spPr>
        <p:txBody>
          <a:bodyPr lIns="0" tIns="0" rIns="0" bIns="0" rtlCol="0" anchor="t">
            <a:spAutoFit/>
          </a:bodyPr>
          <a:lstStyle/>
          <a:p>
            <a:pPr algn="ctr">
              <a:lnSpc>
                <a:spcPts val="8780"/>
              </a:lnSpc>
            </a:pPr>
            <a:r>
              <a:rPr lang="en-US" sz="7769" spc="124">
                <a:solidFill>
                  <a:srgbClr val="000000"/>
                </a:solidFill>
                <a:latin typeface="Archivo Narrow"/>
                <a:ea typeface="Archivo Narrow"/>
                <a:cs typeface="Archivo Narrow"/>
                <a:sym typeface="Archivo Narrow"/>
              </a:rPr>
              <a:t>Operaciones</a:t>
            </a:r>
          </a:p>
        </p:txBody>
      </p:sp>
      <p:grpSp>
        <p:nvGrpSpPr>
          <p:cNvPr id="16" name="Group 16"/>
          <p:cNvGrpSpPr/>
          <p:nvPr/>
        </p:nvGrpSpPr>
        <p:grpSpPr>
          <a:xfrm>
            <a:off x="8550665" y="7063968"/>
            <a:ext cx="4381957" cy="2411517"/>
            <a:chOff x="0" y="0"/>
            <a:chExt cx="4892275" cy="2692359"/>
          </a:xfrm>
        </p:grpSpPr>
        <p:sp>
          <p:nvSpPr>
            <p:cNvPr id="17" name="Freeform 17"/>
            <p:cNvSpPr/>
            <p:nvPr/>
          </p:nvSpPr>
          <p:spPr>
            <a:xfrm>
              <a:off x="0" y="0"/>
              <a:ext cx="4892275" cy="2692359"/>
            </a:xfrm>
            <a:custGeom>
              <a:avLst/>
              <a:gdLst/>
              <a:ahLst/>
              <a:cxnLst/>
              <a:rect l="l" t="t" r="r" b="b"/>
              <a:pathLst>
                <a:path w="4892275" h="2692359">
                  <a:moveTo>
                    <a:pt x="4767815" y="2692359"/>
                  </a:moveTo>
                  <a:lnTo>
                    <a:pt x="124460" y="2692359"/>
                  </a:lnTo>
                  <a:cubicBezTo>
                    <a:pt x="55880" y="2692359"/>
                    <a:pt x="0" y="2636479"/>
                    <a:pt x="0" y="2567899"/>
                  </a:cubicBezTo>
                  <a:lnTo>
                    <a:pt x="0" y="124460"/>
                  </a:lnTo>
                  <a:cubicBezTo>
                    <a:pt x="0" y="55880"/>
                    <a:pt x="55880" y="0"/>
                    <a:pt x="124460" y="0"/>
                  </a:cubicBezTo>
                  <a:lnTo>
                    <a:pt x="4767815" y="0"/>
                  </a:lnTo>
                  <a:cubicBezTo>
                    <a:pt x="4836395" y="0"/>
                    <a:pt x="4892275" y="55880"/>
                    <a:pt x="4892275" y="124460"/>
                  </a:cubicBezTo>
                  <a:lnTo>
                    <a:pt x="4892275" y="2567899"/>
                  </a:lnTo>
                  <a:cubicBezTo>
                    <a:pt x="4892275" y="2636479"/>
                    <a:pt x="4836395" y="2692359"/>
                    <a:pt x="4767815" y="2692359"/>
                  </a:cubicBezTo>
                  <a:close/>
                </a:path>
              </a:pathLst>
            </a:custGeom>
            <a:solidFill>
              <a:srgbClr val="A4BAB5"/>
            </a:solidFill>
          </p:spPr>
          <p:txBody>
            <a:bodyPr/>
            <a:lstStyle/>
            <a:p>
              <a:endParaRPr lang="es-MX"/>
            </a:p>
          </p:txBody>
        </p:sp>
      </p:grpSp>
      <p:sp>
        <p:nvSpPr>
          <p:cNvPr id="18" name="TextBox 18"/>
          <p:cNvSpPr txBox="1"/>
          <p:nvPr/>
        </p:nvSpPr>
        <p:spPr>
          <a:xfrm>
            <a:off x="8958563" y="8054782"/>
            <a:ext cx="3773994" cy="739160"/>
          </a:xfrm>
          <a:prstGeom prst="rect">
            <a:avLst/>
          </a:prstGeom>
        </p:spPr>
        <p:txBody>
          <a:bodyPr lIns="0" tIns="0" rIns="0" bIns="0" rtlCol="0" anchor="t">
            <a:spAutoFit/>
          </a:bodyPr>
          <a:lstStyle/>
          <a:p>
            <a:pPr algn="l">
              <a:lnSpc>
                <a:spcPts val="1978"/>
              </a:lnSpc>
            </a:pPr>
            <a:r>
              <a:rPr lang="en-US" sz="1498" spc="62">
                <a:solidFill>
                  <a:srgbClr val="000000"/>
                </a:solidFill>
                <a:latin typeface="Archivo Narrow"/>
                <a:ea typeface="Archivo Narrow"/>
                <a:cs typeface="Archivo Narrow"/>
                <a:sym typeface="Archivo Narrow"/>
              </a:rPr>
              <a:t>Se puede copiar un array a otro, ya sea manualmente o con métodos como Arrays.copyOf().</a:t>
            </a:r>
          </a:p>
        </p:txBody>
      </p:sp>
      <p:grpSp>
        <p:nvGrpSpPr>
          <p:cNvPr id="19" name="Group 19"/>
          <p:cNvGrpSpPr/>
          <p:nvPr/>
        </p:nvGrpSpPr>
        <p:grpSpPr>
          <a:xfrm>
            <a:off x="5689652" y="2792466"/>
            <a:ext cx="4381957" cy="2411517"/>
            <a:chOff x="0" y="0"/>
            <a:chExt cx="4892275" cy="2692359"/>
          </a:xfrm>
        </p:grpSpPr>
        <p:sp>
          <p:nvSpPr>
            <p:cNvPr id="20" name="Freeform 20"/>
            <p:cNvSpPr/>
            <p:nvPr/>
          </p:nvSpPr>
          <p:spPr>
            <a:xfrm>
              <a:off x="0" y="0"/>
              <a:ext cx="4892275" cy="2692359"/>
            </a:xfrm>
            <a:custGeom>
              <a:avLst/>
              <a:gdLst/>
              <a:ahLst/>
              <a:cxnLst/>
              <a:rect l="l" t="t" r="r" b="b"/>
              <a:pathLst>
                <a:path w="4892275" h="2692359">
                  <a:moveTo>
                    <a:pt x="4767815" y="2692359"/>
                  </a:moveTo>
                  <a:lnTo>
                    <a:pt x="124460" y="2692359"/>
                  </a:lnTo>
                  <a:cubicBezTo>
                    <a:pt x="55880" y="2692359"/>
                    <a:pt x="0" y="2636479"/>
                    <a:pt x="0" y="2567899"/>
                  </a:cubicBezTo>
                  <a:lnTo>
                    <a:pt x="0" y="124460"/>
                  </a:lnTo>
                  <a:cubicBezTo>
                    <a:pt x="0" y="55880"/>
                    <a:pt x="55880" y="0"/>
                    <a:pt x="124460" y="0"/>
                  </a:cubicBezTo>
                  <a:lnTo>
                    <a:pt x="4767815" y="0"/>
                  </a:lnTo>
                  <a:cubicBezTo>
                    <a:pt x="4836395" y="0"/>
                    <a:pt x="4892275" y="55880"/>
                    <a:pt x="4892275" y="124460"/>
                  </a:cubicBezTo>
                  <a:lnTo>
                    <a:pt x="4892275" y="2567899"/>
                  </a:lnTo>
                  <a:cubicBezTo>
                    <a:pt x="4892275" y="2636479"/>
                    <a:pt x="4836395" y="2692359"/>
                    <a:pt x="4767815" y="2692359"/>
                  </a:cubicBezTo>
                  <a:close/>
                </a:path>
              </a:pathLst>
            </a:custGeom>
            <a:solidFill>
              <a:srgbClr val="A4BAB5"/>
            </a:solidFill>
          </p:spPr>
          <p:txBody>
            <a:bodyPr/>
            <a:lstStyle/>
            <a:p>
              <a:endParaRPr lang="es-MX"/>
            </a:p>
          </p:txBody>
        </p:sp>
      </p:grpSp>
      <p:sp>
        <p:nvSpPr>
          <p:cNvPr id="21" name="TextBox 21"/>
          <p:cNvSpPr txBox="1"/>
          <p:nvPr/>
        </p:nvSpPr>
        <p:spPr>
          <a:xfrm>
            <a:off x="6097550" y="3783280"/>
            <a:ext cx="3773994" cy="491510"/>
          </a:xfrm>
          <a:prstGeom prst="rect">
            <a:avLst/>
          </a:prstGeom>
        </p:spPr>
        <p:txBody>
          <a:bodyPr lIns="0" tIns="0" rIns="0" bIns="0" rtlCol="0" anchor="t">
            <a:spAutoFit/>
          </a:bodyPr>
          <a:lstStyle/>
          <a:p>
            <a:pPr algn="l">
              <a:lnSpc>
                <a:spcPts val="1978"/>
              </a:lnSpc>
            </a:pPr>
            <a:r>
              <a:rPr lang="en-US" sz="1498" spc="62">
                <a:solidFill>
                  <a:srgbClr val="000000"/>
                </a:solidFill>
                <a:latin typeface="Archivo Narrow"/>
                <a:ea typeface="Archivo Narrow"/>
                <a:cs typeface="Archivo Narrow"/>
                <a:sym typeface="Archivo Narrow"/>
              </a:rPr>
              <a:t>Se reserva memoria para un número específico de elementos.</a:t>
            </a:r>
          </a:p>
        </p:txBody>
      </p:sp>
      <p:grpSp>
        <p:nvGrpSpPr>
          <p:cNvPr id="22" name="Group 22"/>
          <p:cNvGrpSpPr/>
          <p:nvPr/>
        </p:nvGrpSpPr>
        <p:grpSpPr>
          <a:xfrm>
            <a:off x="11612188" y="2792466"/>
            <a:ext cx="4381957" cy="2411517"/>
            <a:chOff x="0" y="0"/>
            <a:chExt cx="4892275" cy="2692359"/>
          </a:xfrm>
        </p:grpSpPr>
        <p:sp>
          <p:nvSpPr>
            <p:cNvPr id="23" name="Freeform 23"/>
            <p:cNvSpPr/>
            <p:nvPr/>
          </p:nvSpPr>
          <p:spPr>
            <a:xfrm>
              <a:off x="0" y="0"/>
              <a:ext cx="4892275" cy="2692359"/>
            </a:xfrm>
            <a:custGeom>
              <a:avLst/>
              <a:gdLst/>
              <a:ahLst/>
              <a:cxnLst/>
              <a:rect l="l" t="t" r="r" b="b"/>
              <a:pathLst>
                <a:path w="4892275" h="2692359">
                  <a:moveTo>
                    <a:pt x="4767815" y="2692359"/>
                  </a:moveTo>
                  <a:lnTo>
                    <a:pt x="124460" y="2692359"/>
                  </a:lnTo>
                  <a:cubicBezTo>
                    <a:pt x="55880" y="2692359"/>
                    <a:pt x="0" y="2636479"/>
                    <a:pt x="0" y="2567899"/>
                  </a:cubicBezTo>
                  <a:lnTo>
                    <a:pt x="0" y="124460"/>
                  </a:lnTo>
                  <a:cubicBezTo>
                    <a:pt x="0" y="55880"/>
                    <a:pt x="55880" y="0"/>
                    <a:pt x="124460" y="0"/>
                  </a:cubicBezTo>
                  <a:lnTo>
                    <a:pt x="4767815" y="0"/>
                  </a:lnTo>
                  <a:cubicBezTo>
                    <a:pt x="4836395" y="0"/>
                    <a:pt x="4892275" y="55880"/>
                    <a:pt x="4892275" y="124460"/>
                  </a:cubicBezTo>
                  <a:lnTo>
                    <a:pt x="4892275" y="2567899"/>
                  </a:lnTo>
                  <a:cubicBezTo>
                    <a:pt x="4892275" y="2636479"/>
                    <a:pt x="4836395" y="2692359"/>
                    <a:pt x="4767815" y="2692359"/>
                  </a:cubicBezTo>
                  <a:close/>
                </a:path>
              </a:pathLst>
            </a:custGeom>
            <a:solidFill>
              <a:srgbClr val="A4BAB5"/>
            </a:solidFill>
          </p:spPr>
          <p:txBody>
            <a:bodyPr/>
            <a:lstStyle/>
            <a:p>
              <a:endParaRPr lang="es-MX"/>
            </a:p>
          </p:txBody>
        </p:sp>
      </p:grpSp>
      <p:sp>
        <p:nvSpPr>
          <p:cNvPr id="24" name="TextBox 24"/>
          <p:cNvSpPr txBox="1"/>
          <p:nvPr/>
        </p:nvSpPr>
        <p:spPr>
          <a:xfrm>
            <a:off x="12020085" y="3783280"/>
            <a:ext cx="3773994" cy="491510"/>
          </a:xfrm>
          <a:prstGeom prst="rect">
            <a:avLst/>
          </a:prstGeom>
        </p:spPr>
        <p:txBody>
          <a:bodyPr lIns="0" tIns="0" rIns="0" bIns="0" rtlCol="0" anchor="t">
            <a:spAutoFit/>
          </a:bodyPr>
          <a:lstStyle/>
          <a:p>
            <a:pPr algn="l">
              <a:lnSpc>
                <a:spcPts val="1978"/>
              </a:lnSpc>
            </a:pPr>
            <a:r>
              <a:rPr lang="en-US" sz="1498" spc="62">
                <a:solidFill>
                  <a:srgbClr val="000000"/>
                </a:solidFill>
                <a:latin typeface="Archivo Narrow"/>
                <a:ea typeface="Archivo Narrow"/>
                <a:cs typeface="Archivo Narrow"/>
                <a:sym typeface="Archivo Narrow"/>
              </a:rPr>
              <a:t>Obtener el valor de una posición mediante su índice.</a:t>
            </a:r>
          </a:p>
        </p:txBody>
      </p:sp>
      <p:sp>
        <p:nvSpPr>
          <p:cNvPr id="25" name="TextBox 25"/>
          <p:cNvSpPr txBox="1"/>
          <p:nvPr/>
        </p:nvSpPr>
        <p:spPr>
          <a:xfrm>
            <a:off x="3029389" y="7387382"/>
            <a:ext cx="4216351" cy="395249"/>
          </a:xfrm>
          <a:prstGeom prst="rect">
            <a:avLst/>
          </a:prstGeom>
        </p:spPr>
        <p:txBody>
          <a:bodyPr lIns="0" tIns="0" rIns="0" bIns="0" rtlCol="0" anchor="t">
            <a:spAutoFit/>
          </a:bodyPr>
          <a:lstStyle/>
          <a:p>
            <a:pPr algn="l">
              <a:lnSpc>
                <a:spcPts val="3021"/>
              </a:lnSpc>
            </a:pPr>
            <a:r>
              <a:rPr lang="en-US" sz="2674" spc="42">
                <a:solidFill>
                  <a:srgbClr val="000000"/>
                </a:solidFill>
                <a:latin typeface="Archivo Narrow"/>
                <a:ea typeface="Archivo Narrow"/>
                <a:cs typeface="Archivo Narrow"/>
                <a:sym typeface="Archivo Narrow"/>
              </a:rPr>
              <a:t>Búsqueda</a:t>
            </a:r>
          </a:p>
        </p:txBody>
      </p:sp>
      <p:sp>
        <p:nvSpPr>
          <p:cNvPr id="26" name="TextBox 26"/>
          <p:cNvSpPr txBox="1"/>
          <p:nvPr/>
        </p:nvSpPr>
        <p:spPr>
          <a:xfrm>
            <a:off x="6121611" y="3237019"/>
            <a:ext cx="4216351" cy="395249"/>
          </a:xfrm>
          <a:prstGeom prst="rect">
            <a:avLst/>
          </a:prstGeom>
        </p:spPr>
        <p:txBody>
          <a:bodyPr lIns="0" tIns="0" rIns="0" bIns="0" rtlCol="0" anchor="t">
            <a:spAutoFit/>
          </a:bodyPr>
          <a:lstStyle/>
          <a:p>
            <a:pPr algn="l">
              <a:lnSpc>
                <a:spcPts val="3021"/>
              </a:lnSpc>
            </a:pPr>
            <a:r>
              <a:rPr lang="en-US" sz="2674" spc="42">
                <a:solidFill>
                  <a:srgbClr val="000000"/>
                </a:solidFill>
                <a:latin typeface="Archivo Narrow"/>
                <a:ea typeface="Archivo Narrow"/>
                <a:cs typeface="Archivo Narrow"/>
                <a:sym typeface="Archivo Narrow"/>
              </a:rPr>
              <a:t>Modificación</a:t>
            </a:r>
          </a:p>
        </p:txBody>
      </p:sp>
      <p:sp>
        <p:nvSpPr>
          <p:cNvPr id="27" name="TextBox 27"/>
          <p:cNvSpPr txBox="1"/>
          <p:nvPr/>
        </p:nvSpPr>
        <p:spPr>
          <a:xfrm>
            <a:off x="8954901" y="7511679"/>
            <a:ext cx="4216351" cy="395249"/>
          </a:xfrm>
          <a:prstGeom prst="rect">
            <a:avLst/>
          </a:prstGeom>
        </p:spPr>
        <p:txBody>
          <a:bodyPr lIns="0" tIns="0" rIns="0" bIns="0" rtlCol="0" anchor="t">
            <a:spAutoFit/>
          </a:bodyPr>
          <a:lstStyle/>
          <a:p>
            <a:pPr algn="l">
              <a:lnSpc>
                <a:spcPts val="3021"/>
              </a:lnSpc>
            </a:pPr>
            <a:r>
              <a:rPr lang="en-US" sz="2674" spc="42">
                <a:solidFill>
                  <a:srgbClr val="000000"/>
                </a:solidFill>
                <a:latin typeface="Archivo Narrow"/>
                <a:ea typeface="Archivo Narrow"/>
                <a:cs typeface="Archivo Narrow"/>
                <a:sym typeface="Archivo Narrow"/>
              </a:rPr>
              <a:t>Copia</a:t>
            </a:r>
          </a:p>
        </p:txBody>
      </p:sp>
      <p:sp>
        <p:nvSpPr>
          <p:cNvPr id="28" name="TextBox 28"/>
          <p:cNvSpPr txBox="1"/>
          <p:nvPr/>
        </p:nvSpPr>
        <p:spPr>
          <a:xfrm>
            <a:off x="12040485" y="3237019"/>
            <a:ext cx="4216351" cy="395249"/>
          </a:xfrm>
          <a:prstGeom prst="rect">
            <a:avLst/>
          </a:prstGeom>
        </p:spPr>
        <p:txBody>
          <a:bodyPr lIns="0" tIns="0" rIns="0" bIns="0" rtlCol="0" anchor="t">
            <a:spAutoFit/>
          </a:bodyPr>
          <a:lstStyle/>
          <a:p>
            <a:pPr algn="l">
              <a:lnSpc>
                <a:spcPts val="3021"/>
              </a:lnSpc>
            </a:pPr>
            <a:r>
              <a:rPr lang="en-US" sz="2674" spc="42">
                <a:solidFill>
                  <a:srgbClr val="000000"/>
                </a:solidFill>
                <a:latin typeface="Archivo Narrow"/>
                <a:ea typeface="Archivo Narrow"/>
                <a:cs typeface="Archivo Narrow"/>
                <a:sym typeface="Archivo Narrow"/>
              </a:rPr>
              <a:t>Lectura</a:t>
            </a:r>
          </a:p>
        </p:txBody>
      </p:sp>
      <p:sp>
        <p:nvSpPr>
          <p:cNvPr id="33" name="TextBox 33"/>
          <p:cNvSpPr txBox="1"/>
          <p:nvPr/>
        </p:nvSpPr>
        <p:spPr>
          <a:xfrm>
            <a:off x="12219343" y="4291200"/>
            <a:ext cx="3067607" cy="674658"/>
          </a:xfrm>
          <a:prstGeom prst="rect">
            <a:avLst/>
          </a:prstGeom>
        </p:spPr>
        <p:txBody>
          <a:bodyPr lIns="0" tIns="0" rIns="0" bIns="0" rtlCol="0" anchor="t">
            <a:spAutoFit/>
          </a:bodyPr>
          <a:lstStyle/>
          <a:p>
            <a:pPr algn="ctr">
              <a:lnSpc>
                <a:spcPts val="2714"/>
              </a:lnSpc>
              <a:spcBef>
                <a:spcPct val="0"/>
              </a:spcBef>
            </a:pPr>
            <a:r>
              <a:rPr lang="en-US" sz="1938">
                <a:solidFill>
                  <a:srgbClr val="000000"/>
                </a:solidFill>
                <a:latin typeface="Archivo Narrow"/>
                <a:ea typeface="Archivo Narrow"/>
                <a:cs typeface="Archivo Narrow"/>
                <a:sym typeface="Archivo Narrow"/>
              </a:rPr>
              <a:t>System.out.println(datos[0]); // Imprime 10</a:t>
            </a:r>
          </a:p>
        </p:txBody>
      </p:sp>
      <p:pic>
        <p:nvPicPr>
          <p:cNvPr id="34" name="Imagen 33" descr="Icono&#10;&#10;El contenido generado por IA puede ser incorrecto.">
            <a:extLst>
              <a:ext uri="{FF2B5EF4-FFF2-40B4-BE49-F238E27FC236}">
                <a16:creationId xmlns:a16="http://schemas.microsoft.com/office/drawing/2014/main" id="{8A291270-9143-4963-F206-B0282C7F79E3}"/>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rot="21315163">
            <a:off x="4324447" y="5656150"/>
            <a:ext cx="949104" cy="926142"/>
          </a:xfrm>
          <a:prstGeom prst="ellipse">
            <a:avLst/>
          </a:prstGeom>
        </p:spPr>
      </p:pic>
      <p:pic>
        <p:nvPicPr>
          <p:cNvPr id="35" name="Imagen 34" descr="Icono&#10;&#10;El contenido generado por IA puede ser incorrecto.">
            <a:extLst>
              <a:ext uri="{FF2B5EF4-FFF2-40B4-BE49-F238E27FC236}">
                <a16:creationId xmlns:a16="http://schemas.microsoft.com/office/drawing/2014/main" id="{B477FF59-43A2-2C10-AA09-3FA34732F525}"/>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rot="21315163">
            <a:off x="7289075" y="5670460"/>
            <a:ext cx="949104" cy="926142"/>
          </a:xfrm>
          <a:prstGeom prst="ellipse">
            <a:avLst/>
          </a:prstGeom>
        </p:spPr>
      </p:pic>
      <p:pic>
        <p:nvPicPr>
          <p:cNvPr id="36" name="Imagen 35" descr="Icono&#10;&#10;El contenido generado por IA puede ser incorrecto.">
            <a:extLst>
              <a:ext uri="{FF2B5EF4-FFF2-40B4-BE49-F238E27FC236}">
                <a16:creationId xmlns:a16="http://schemas.microsoft.com/office/drawing/2014/main" id="{86FD2228-3DFD-C2B7-13F4-C900722261D0}"/>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rot="21315163">
            <a:off x="10274018" y="5670460"/>
            <a:ext cx="949104" cy="926142"/>
          </a:xfrm>
          <a:prstGeom prst="ellipse">
            <a:avLst/>
          </a:prstGeom>
        </p:spPr>
      </p:pic>
      <p:pic>
        <p:nvPicPr>
          <p:cNvPr id="37" name="Imagen 36" descr="Icono&#10;&#10;El contenido generado por IA puede ser incorrecto.">
            <a:extLst>
              <a:ext uri="{FF2B5EF4-FFF2-40B4-BE49-F238E27FC236}">
                <a16:creationId xmlns:a16="http://schemas.microsoft.com/office/drawing/2014/main" id="{CDAF5E63-031B-C7D9-E6A5-AC8665C6806E}"/>
              </a:ext>
            </a:extLst>
          </p:cNvPr>
          <p:cNvPicPr>
            <a:picLocks noChangeAspect="1"/>
          </p:cNvPicPr>
          <p:nvPr/>
        </p:nvPicPr>
        <p:blipFill>
          <a:blip r:embed="rId5" cstate="print">
            <a:extLst>
              <a:ext uri="{28A0092B-C50C-407E-A947-70E740481C1C}">
                <a14:useLocalDpi xmlns:a14="http://schemas.microsoft.com/office/drawing/2010/main" val="0"/>
              </a:ext>
            </a:extLst>
          </a:blip>
          <a:srcRect l="30377" t="16327" r="30874" b="16452"/>
          <a:stretch>
            <a:fillRect/>
          </a:stretch>
        </p:blipFill>
        <p:spPr>
          <a:xfrm rot="21315163">
            <a:off x="13304507" y="5670459"/>
            <a:ext cx="949104" cy="926142"/>
          </a:xfrm>
          <a:prstGeom prst="ellipse">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34"/>
                    </p:tgtEl>
                  </p:cond>
                </p:stCondLst>
                <p:endSync evt="end" delay="0">
                  <p:rtn val="all"/>
                </p:endSync>
                <p:childTnLst>
                  <p:par>
                    <p:cTn id="3" fill="hold">
                      <p:stCondLst>
                        <p:cond delay="0"/>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
                                        </p:tgtEl>
                                        <p:attrNameLst>
                                          <p:attrName>style.visibility</p:attrName>
                                        </p:attrNameLst>
                                      </p:cBhvr>
                                      <p:to>
                                        <p:strVal val="visible"/>
                                      </p:to>
                                    </p:set>
                                    <p:animEffect transition="in" filter="fade">
                                      <p:cBhvr>
                                        <p:cTn id="13" dur="500"/>
                                        <p:tgtEl>
                                          <p:spTgt spid="25"/>
                                        </p:tgtEl>
                                      </p:cBhvr>
                                    </p:animEffect>
                                  </p:childTnLst>
                                </p:cTn>
                              </p:par>
                            </p:childTnLst>
                          </p:cTn>
                        </p:par>
                      </p:childTnLst>
                    </p:cTn>
                  </p:par>
                </p:childTnLst>
              </p:cTn>
              <p:nextCondLst>
                <p:cond evt="onClick" delay="0">
                  <p:tgtEl>
                    <p:spTgt spid="34"/>
                  </p:tgtEl>
                </p:cond>
              </p:nextCondLst>
            </p:seq>
            <p:seq concurrent="1" nextAc="seek">
              <p:cTn id="14" restart="whenNotActive" fill="hold" evtFilter="cancelBubble" nodeType="interactiveSeq">
                <p:stCondLst>
                  <p:cond evt="onClick" delay="0">
                    <p:tgtEl>
                      <p:spTgt spid="35"/>
                    </p:tgtEl>
                  </p:cond>
                </p:stCondLst>
                <p:endSync evt="end" delay="0">
                  <p:rtn val="all"/>
                </p:endSync>
                <p:childTnLst>
                  <p:par>
                    <p:cTn id="15" fill="hold">
                      <p:stCondLst>
                        <p:cond delay="0"/>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500"/>
                                        <p:tgtEl>
                                          <p:spTgt spid="1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500"/>
                                        <p:tgtEl>
                                          <p:spTgt spid="26"/>
                                        </p:tgtEl>
                                      </p:cBhvr>
                                    </p:animEffect>
                                  </p:childTnLst>
                                </p:cTn>
                              </p:par>
                            </p:childTnLst>
                          </p:cTn>
                        </p:par>
                      </p:childTnLst>
                    </p:cTn>
                  </p:par>
                </p:childTnLst>
              </p:cTn>
              <p:nextCondLst>
                <p:cond evt="onClick" delay="0">
                  <p:tgtEl>
                    <p:spTgt spid="35"/>
                  </p:tgtEl>
                </p:cond>
              </p:nextCondLst>
            </p:seq>
            <p:seq concurrent="1" nextAc="seek">
              <p:cTn id="26" restart="whenNotActive" fill="hold" evtFilter="cancelBubble" nodeType="interactiveSeq">
                <p:stCondLst>
                  <p:cond evt="onClick" delay="0">
                    <p:tgtEl>
                      <p:spTgt spid="36"/>
                    </p:tgtEl>
                  </p:cond>
                </p:stCondLst>
                <p:endSync evt="end" delay="0">
                  <p:rtn val="all"/>
                </p:endSync>
                <p:childTnLst>
                  <p:par>
                    <p:cTn id="27" fill="hold">
                      <p:stCondLst>
                        <p:cond delay="0"/>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500"/>
                                        <p:tgtEl>
                                          <p:spTgt spid="1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8"/>
                                        </p:tgtEl>
                                        <p:attrNameLst>
                                          <p:attrName>style.visibility</p:attrName>
                                        </p:attrNameLst>
                                      </p:cBhvr>
                                      <p:to>
                                        <p:strVal val="visible"/>
                                      </p:to>
                                    </p:set>
                                    <p:animEffect transition="in" filter="fade">
                                      <p:cBhvr>
                                        <p:cTn id="34" dur="500"/>
                                        <p:tgtEl>
                                          <p:spTgt spid="18"/>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00"/>
                                        <p:tgtEl>
                                          <p:spTgt spid="27"/>
                                        </p:tgtEl>
                                      </p:cBhvr>
                                    </p:animEffect>
                                  </p:childTnLst>
                                </p:cTn>
                              </p:par>
                            </p:childTnLst>
                          </p:cTn>
                        </p:par>
                      </p:childTnLst>
                    </p:cTn>
                  </p:par>
                </p:childTnLst>
              </p:cTn>
              <p:nextCondLst>
                <p:cond evt="onClick" delay="0">
                  <p:tgtEl>
                    <p:spTgt spid="36"/>
                  </p:tgtEl>
                </p:cond>
              </p:nextCondLst>
            </p:seq>
            <p:seq concurrent="1" nextAc="seek">
              <p:cTn id="38" restart="whenNotActive" fill="hold" evtFilter="cancelBubble" nodeType="interactiveSeq">
                <p:stCondLst>
                  <p:cond evt="onClick" delay="0">
                    <p:tgtEl>
                      <p:spTgt spid="37"/>
                    </p:tgtEl>
                  </p:cond>
                </p:stCondLst>
                <p:endSync evt="end" delay="0">
                  <p:rtn val="all"/>
                </p:endSync>
                <p:childTnLst>
                  <p:par>
                    <p:cTn id="39" fill="hold">
                      <p:stCondLst>
                        <p:cond delay="0"/>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animEffect transition="in" filter="fade">
                                      <p:cBhvr>
                                        <p:cTn id="43" dur="500"/>
                                        <p:tgtEl>
                                          <p:spTgt spid="22"/>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24"/>
                                        </p:tgtEl>
                                        <p:attrNameLst>
                                          <p:attrName>style.visibility</p:attrName>
                                        </p:attrNameLst>
                                      </p:cBhvr>
                                      <p:to>
                                        <p:strVal val="visible"/>
                                      </p:to>
                                    </p:set>
                                    <p:animEffect transition="in" filter="fade">
                                      <p:cBhvr>
                                        <p:cTn id="46" dur="500"/>
                                        <p:tgtEl>
                                          <p:spTgt spid="24"/>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28"/>
                                        </p:tgtEl>
                                        <p:attrNameLst>
                                          <p:attrName>style.visibility</p:attrName>
                                        </p:attrNameLst>
                                      </p:cBhvr>
                                      <p:to>
                                        <p:strVal val="visible"/>
                                      </p:to>
                                    </p:set>
                                    <p:animEffect transition="in" filter="fade">
                                      <p:cBhvr>
                                        <p:cTn id="49" dur="500"/>
                                        <p:tgtEl>
                                          <p:spTgt spid="2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33"/>
                                        </p:tgtEl>
                                        <p:attrNameLst>
                                          <p:attrName>style.visibility</p:attrName>
                                        </p:attrNameLst>
                                      </p:cBhvr>
                                      <p:to>
                                        <p:strVal val="visible"/>
                                      </p:to>
                                    </p:set>
                                    <p:animEffect transition="in" filter="fade">
                                      <p:cBhvr>
                                        <p:cTn id="52" dur="500"/>
                                        <p:tgtEl>
                                          <p:spTgt spid="33"/>
                                        </p:tgtEl>
                                      </p:cBhvr>
                                    </p:animEffect>
                                  </p:childTnLst>
                                </p:cTn>
                              </p:par>
                            </p:childTnLst>
                          </p:cTn>
                        </p:par>
                      </p:childTnLst>
                    </p:cTn>
                  </p:par>
                </p:childTnLst>
              </p:cTn>
              <p:nextCondLst>
                <p:cond evt="onClick" delay="0">
                  <p:tgtEl>
                    <p:spTgt spid="37"/>
                  </p:tgtEl>
                </p:cond>
              </p:nextCondLst>
            </p:seq>
          </p:childTnLst>
        </p:cTn>
      </p:par>
    </p:tnLst>
    <p:bldLst>
      <p:bldP spid="14" grpId="0"/>
      <p:bldP spid="18" grpId="0"/>
      <p:bldP spid="21" grpId="0"/>
      <p:bldP spid="24" grpId="0"/>
      <p:bldP spid="25" grpId="0"/>
      <p:bldP spid="26" grpId="0"/>
      <p:bldP spid="27" grpId="0"/>
      <p:bldP spid="28" grpId="0"/>
      <p:bldP spid="33"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2202287" y="3700510"/>
            <a:ext cx="4587625" cy="2318372"/>
          </a:xfrm>
          <a:custGeom>
            <a:avLst/>
            <a:gdLst/>
            <a:ahLst/>
            <a:cxnLst/>
            <a:rect l="l" t="t" r="r" b="b"/>
            <a:pathLst>
              <a:path w="4587625" h="2318372">
                <a:moveTo>
                  <a:pt x="0" y="0"/>
                </a:moveTo>
                <a:lnTo>
                  <a:pt x="4587625" y="0"/>
                </a:lnTo>
                <a:lnTo>
                  <a:pt x="4587625" y="2318372"/>
                </a:lnTo>
                <a:lnTo>
                  <a:pt x="0" y="2318372"/>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843906" y="1257300"/>
            <a:ext cx="6150439" cy="1830070"/>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Array unidimensional:</a:t>
            </a:r>
          </a:p>
          <a:p>
            <a:pPr algn="ctr">
              <a:lnSpc>
                <a:spcPts val="7279"/>
              </a:lnSpc>
            </a:pPr>
            <a:r>
              <a:rPr lang="en-US" sz="5199" b="1" dirty="0" err="1">
                <a:solidFill>
                  <a:srgbClr val="000000"/>
                </a:solidFill>
                <a:latin typeface="Archivo Narrow Bold"/>
                <a:ea typeface="Archivo Narrow Bold"/>
                <a:cs typeface="Archivo Narrow Bold"/>
                <a:sym typeface="Archivo Narrow Bold"/>
              </a:rPr>
              <a:t>aplicaciones</a:t>
            </a:r>
            <a:endParaRPr lang="en-US" sz="5199" b="1" dirty="0">
              <a:solidFill>
                <a:srgbClr val="000000"/>
              </a:solidFill>
              <a:latin typeface="Archivo Narrow Bold"/>
              <a:ea typeface="Archivo Narrow Bold"/>
              <a:cs typeface="Archivo Narrow Bold"/>
              <a:sym typeface="Archivo Narrow Bold"/>
            </a:endParaRPr>
          </a:p>
        </p:txBody>
      </p:sp>
      <p:sp>
        <p:nvSpPr>
          <p:cNvPr id="5" name="TextBox 5"/>
          <p:cNvSpPr txBox="1"/>
          <p:nvPr/>
        </p:nvSpPr>
        <p:spPr>
          <a:xfrm>
            <a:off x="2146577" y="3261039"/>
            <a:ext cx="9545099" cy="4177711"/>
          </a:xfrm>
          <a:prstGeom prst="rect">
            <a:avLst/>
          </a:prstGeom>
        </p:spPr>
        <p:txBody>
          <a:bodyPr lIns="0" tIns="0" rIns="0" bIns="0" rtlCol="0" anchor="t">
            <a:spAutoFit/>
          </a:bodyPr>
          <a:lstStyle/>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Almacenamiento de datos homogéneos: guardar listas de números, nombres o calificaciones.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Procesamiento de información: realizar sumas, promedios o estadísticas.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Implementación de algoritmos: como ordenamientos (burbuja, selección, inserción) o búsquedas (lineal, binaria).</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Modelado de estructuras simples: vectores matemáticos, registros de ventas, notas de alumnos, temperaturas diarias, etc.</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Uso en programación de juegos: almacenar puntuaciones o posiciones.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Gestión de datos en sistemas: colas, pilas y otras estructuras derivadas.</a:t>
            </a:r>
          </a:p>
          <a:p>
            <a:pPr algn="just">
              <a:lnSpc>
                <a:spcPts val="3357"/>
              </a:lnSpc>
              <a:spcBef>
                <a:spcPct val="0"/>
              </a:spcBef>
            </a:pPr>
            <a:endParaRPr lang="en-US" sz="2398">
              <a:solidFill>
                <a:srgbClr val="000000"/>
              </a:solidFill>
              <a:latin typeface="Archivo Narrow"/>
              <a:ea typeface="Archivo Narrow"/>
              <a:cs typeface="Archivo Narrow"/>
              <a:sym typeface="Archivo Narrow"/>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2803724" y="3802319"/>
            <a:ext cx="11936909" cy="1917687"/>
          </a:xfrm>
          <a:prstGeom prst="rect">
            <a:avLst/>
          </a:prstGeom>
        </p:spPr>
        <p:txBody>
          <a:bodyPr lIns="0" tIns="0" rIns="0" bIns="0" rtlCol="0" anchor="t">
            <a:spAutoFit/>
          </a:bodyPr>
          <a:lstStyle/>
          <a:p>
            <a:pPr algn="ctr">
              <a:lnSpc>
                <a:spcPts val="7700"/>
              </a:lnSpc>
            </a:pPr>
            <a:r>
              <a:rPr lang="en-US" sz="5500" b="1">
                <a:solidFill>
                  <a:srgbClr val="1800AD"/>
                </a:solidFill>
                <a:latin typeface="Archivo Narrow Bold"/>
                <a:ea typeface="Archivo Narrow Bold"/>
                <a:cs typeface="Archivo Narrow Bold"/>
                <a:sym typeface="Archivo Narrow Bold"/>
              </a:rPr>
              <a:t>4.3 Multidimensionales: conceptos básicos,</a:t>
            </a:r>
          </a:p>
          <a:p>
            <a:pPr algn="ctr">
              <a:lnSpc>
                <a:spcPts val="7700"/>
              </a:lnSpc>
            </a:pPr>
            <a:r>
              <a:rPr lang="en-US" sz="5500" b="1">
                <a:solidFill>
                  <a:srgbClr val="1800AD"/>
                </a:solidFill>
                <a:latin typeface="Archivo Narrow Bold"/>
                <a:ea typeface="Archivo Narrow Bold"/>
                <a:cs typeface="Archivo Narrow Bold"/>
                <a:sym typeface="Archivo Narrow Bold"/>
              </a:rPr>
              <a:t>operaciones y aplicaciones.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1164711" y="2628842"/>
            <a:ext cx="5029317" cy="5029317"/>
          </a:xfrm>
          <a:custGeom>
            <a:avLst/>
            <a:gdLst/>
            <a:ahLst/>
            <a:cxnLst/>
            <a:rect l="l" t="t" r="r" b="b"/>
            <a:pathLst>
              <a:path w="5029317" h="5029317">
                <a:moveTo>
                  <a:pt x="0" y="0"/>
                </a:moveTo>
                <a:lnTo>
                  <a:pt x="5029317" y="0"/>
                </a:lnTo>
                <a:lnTo>
                  <a:pt x="5029317" y="5029316"/>
                </a:lnTo>
                <a:lnTo>
                  <a:pt x="0" y="5029316"/>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108664" y="1409700"/>
            <a:ext cx="6018609" cy="906145"/>
          </a:xfrm>
          <a:prstGeom prst="rect">
            <a:avLst/>
          </a:prstGeom>
        </p:spPr>
        <p:txBody>
          <a:bodyPr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Array multidimensional</a:t>
            </a:r>
          </a:p>
        </p:txBody>
      </p:sp>
      <p:sp>
        <p:nvSpPr>
          <p:cNvPr id="5" name="TextBox 5"/>
          <p:cNvSpPr txBox="1"/>
          <p:nvPr/>
        </p:nvSpPr>
        <p:spPr>
          <a:xfrm>
            <a:off x="2146577" y="3261039"/>
            <a:ext cx="8318139" cy="2082211"/>
          </a:xfrm>
          <a:prstGeom prst="rect">
            <a:avLst/>
          </a:prstGeom>
        </p:spPr>
        <p:txBody>
          <a:bodyPr lIns="0" tIns="0" rIns="0" bIns="0" rtlCol="0" anchor="t">
            <a:spAutoFit/>
          </a:bodyPr>
          <a:lstStyle/>
          <a:p>
            <a:pPr algn="just">
              <a:lnSpc>
                <a:spcPts val="3357"/>
              </a:lnSpc>
              <a:spcBef>
                <a:spcPct val="0"/>
              </a:spcBef>
            </a:pPr>
            <a:r>
              <a:rPr lang="en-US" sz="2398">
                <a:solidFill>
                  <a:srgbClr val="000000"/>
                </a:solidFill>
                <a:latin typeface="Archivo Narrow"/>
                <a:ea typeface="Archivo Narrow"/>
                <a:cs typeface="Archivo Narrow"/>
                <a:sym typeface="Archivo Narrow"/>
              </a:rPr>
              <a:t>Un array multidimensional es una estructura de datos que permite almacenar información en varias dimensiones, es decir, en forma de tabla, matriz o cubo, en lugar de una sola línea. Cada elemento se identifica mediante dos o más índices, uno por cada dimensión.</a:t>
            </a:r>
          </a:p>
          <a:p>
            <a:pPr algn="just">
              <a:lnSpc>
                <a:spcPts val="3357"/>
              </a:lnSpc>
              <a:spcBef>
                <a:spcPct val="0"/>
              </a:spcBef>
            </a:pPr>
            <a:endParaRPr lang="en-US" sz="2398">
              <a:solidFill>
                <a:srgbClr val="000000"/>
              </a:solidFill>
              <a:latin typeface="Archivo Narrow"/>
              <a:ea typeface="Archivo Narrow"/>
              <a:cs typeface="Archivo Narrow"/>
              <a:sym typeface="Archivo Narrow"/>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12" name="TextBox 12"/>
          <p:cNvSpPr txBox="1"/>
          <p:nvPr/>
        </p:nvSpPr>
        <p:spPr>
          <a:xfrm>
            <a:off x="6827300" y="4247079"/>
            <a:ext cx="4633401" cy="1004196"/>
          </a:xfrm>
          <a:prstGeom prst="rect">
            <a:avLst/>
          </a:prstGeom>
        </p:spPr>
        <p:txBody>
          <a:bodyPr lIns="0" tIns="0" rIns="0" bIns="0" rtlCol="0" anchor="t">
            <a:spAutoFit/>
          </a:bodyPr>
          <a:lstStyle/>
          <a:p>
            <a:pPr algn="ctr">
              <a:lnSpc>
                <a:spcPts val="7733"/>
              </a:lnSpc>
            </a:pPr>
            <a:r>
              <a:rPr lang="en-US" sz="6784" spc="251">
                <a:solidFill>
                  <a:srgbClr val="303030"/>
                </a:solidFill>
                <a:latin typeface="Archivo Narrow"/>
                <a:ea typeface="Archivo Narrow"/>
                <a:cs typeface="Archivo Narrow"/>
                <a:sym typeface="Archivo Narrow"/>
              </a:rPr>
              <a:t>Operaciones</a:t>
            </a:r>
          </a:p>
        </p:txBody>
      </p:sp>
      <p:sp>
        <p:nvSpPr>
          <p:cNvPr id="18" name="Freeform 18"/>
          <p:cNvSpPr/>
          <p:nvPr/>
        </p:nvSpPr>
        <p:spPr>
          <a:xfrm flipH="1">
            <a:off x="855004" y="7289611"/>
            <a:ext cx="8822396" cy="2866472"/>
          </a:xfrm>
          <a:custGeom>
            <a:avLst/>
            <a:gdLst/>
            <a:ahLst/>
            <a:cxnLst/>
            <a:rect l="l" t="t" r="r" b="b"/>
            <a:pathLst>
              <a:path w="7481548" h="2489315">
                <a:moveTo>
                  <a:pt x="7481548" y="0"/>
                </a:moveTo>
                <a:lnTo>
                  <a:pt x="0" y="0"/>
                </a:lnTo>
                <a:lnTo>
                  <a:pt x="0" y="2489315"/>
                </a:lnTo>
                <a:lnTo>
                  <a:pt x="7481548" y="2489315"/>
                </a:lnTo>
                <a:lnTo>
                  <a:pt x="7481548"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s-MX" dirty="0"/>
          </a:p>
        </p:txBody>
      </p:sp>
      <p:sp>
        <p:nvSpPr>
          <p:cNvPr id="19" name="Freeform 19"/>
          <p:cNvSpPr/>
          <p:nvPr/>
        </p:nvSpPr>
        <p:spPr>
          <a:xfrm flipH="1">
            <a:off x="1029754" y="5202849"/>
            <a:ext cx="5916824" cy="1968689"/>
          </a:xfrm>
          <a:custGeom>
            <a:avLst/>
            <a:gdLst/>
            <a:ahLst/>
            <a:cxnLst/>
            <a:rect l="l" t="t" r="r" b="b"/>
            <a:pathLst>
              <a:path w="5916824" h="1968689">
                <a:moveTo>
                  <a:pt x="5916824" y="0"/>
                </a:moveTo>
                <a:lnTo>
                  <a:pt x="0" y="0"/>
                </a:lnTo>
                <a:lnTo>
                  <a:pt x="0" y="1968688"/>
                </a:lnTo>
                <a:lnTo>
                  <a:pt x="5916824" y="1968688"/>
                </a:lnTo>
                <a:lnTo>
                  <a:pt x="5916824"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s-MX"/>
          </a:p>
        </p:txBody>
      </p:sp>
      <p:sp>
        <p:nvSpPr>
          <p:cNvPr id="20" name="TextBox 20"/>
          <p:cNvSpPr txBox="1"/>
          <p:nvPr/>
        </p:nvSpPr>
        <p:spPr>
          <a:xfrm>
            <a:off x="1458982" y="5791080"/>
            <a:ext cx="4759374" cy="445699"/>
          </a:xfrm>
          <a:prstGeom prst="rect">
            <a:avLst/>
          </a:prstGeom>
        </p:spPr>
        <p:txBody>
          <a:bodyPr lIns="0" tIns="0" rIns="0" bIns="0" rtlCol="0" anchor="t">
            <a:spAutoFit/>
          </a:bodyPr>
          <a:lstStyle/>
          <a:p>
            <a:pPr marL="0" lvl="0" indent="0" algn="ctr">
              <a:lnSpc>
                <a:spcPts val="3274"/>
              </a:lnSpc>
              <a:spcBef>
                <a:spcPct val="0"/>
              </a:spcBef>
            </a:pPr>
            <a:r>
              <a:rPr lang="en-US" sz="3600" dirty="0" err="1">
                <a:solidFill>
                  <a:srgbClr val="303030"/>
                </a:solidFill>
                <a:latin typeface="Archivo Narrow"/>
                <a:ea typeface="Archivo Narrow"/>
                <a:cs typeface="Archivo Narrow"/>
                <a:sym typeface="Archivo Narrow"/>
              </a:rPr>
              <a:t>Inicialización</a:t>
            </a:r>
            <a:endParaRPr lang="en-US" sz="3600" dirty="0">
              <a:solidFill>
                <a:srgbClr val="303030"/>
              </a:solidFill>
              <a:latin typeface="Archivo Narrow"/>
              <a:ea typeface="Archivo Narrow"/>
              <a:cs typeface="Archivo Narrow"/>
              <a:sym typeface="Archivo Narrow"/>
            </a:endParaRPr>
          </a:p>
        </p:txBody>
      </p:sp>
      <p:sp>
        <p:nvSpPr>
          <p:cNvPr id="21" name="TextBox 21"/>
          <p:cNvSpPr txBox="1"/>
          <p:nvPr/>
        </p:nvSpPr>
        <p:spPr>
          <a:xfrm>
            <a:off x="2488656" y="8615237"/>
            <a:ext cx="5555091" cy="474232"/>
          </a:xfrm>
          <a:prstGeom prst="rect">
            <a:avLst/>
          </a:prstGeom>
        </p:spPr>
        <p:txBody>
          <a:bodyPr wrap="square" lIns="0" tIns="0" rIns="0" bIns="0" rtlCol="0" anchor="t">
            <a:spAutoFit/>
          </a:bodyPr>
          <a:lstStyle/>
          <a:p>
            <a:pPr marL="0" lvl="0" indent="0" algn="ctr">
              <a:lnSpc>
                <a:spcPts val="3274"/>
              </a:lnSpc>
              <a:spcBef>
                <a:spcPct val="0"/>
              </a:spcBef>
            </a:pPr>
            <a:r>
              <a:rPr lang="en-US" sz="4400" dirty="0" err="1">
                <a:solidFill>
                  <a:srgbClr val="303030"/>
                </a:solidFill>
                <a:latin typeface="Archivo Narrow"/>
                <a:ea typeface="Archivo Narrow"/>
                <a:cs typeface="Archivo Narrow"/>
                <a:sym typeface="Archivo Narrow"/>
              </a:rPr>
              <a:t>Recorrido</a:t>
            </a:r>
            <a:endParaRPr lang="en-US" sz="4400" dirty="0">
              <a:solidFill>
                <a:srgbClr val="303030"/>
              </a:solidFill>
              <a:latin typeface="Archivo Narrow"/>
              <a:ea typeface="Archivo Narrow"/>
              <a:cs typeface="Archivo Narrow"/>
              <a:sym typeface="Archivo Narrow"/>
            </a:endParaRPr>
          </a:p>
        </p:txBody>
      </p:sp>
      <p:pic>
        <p:nvPicPr>
          <p:cNvPr id="42" name="Imagen 41">
            <a:extLst>
              <a:ext uri="{FF2B5EF4-FFF2-40B4-BE49-F238E27FC236}">
                <a16:creationId xmlns:a16="http://schemas.microsoft.com/office/drawing/2014/main" id="{6C55E795-70D6-B0B2-5DB3-CD5386DB3DA0}"/>
              </a:ext>
            </a:extLst>
          </p:cNvPr>
          <p:cNvPicPr>
            <a:picLocks noChangeAspect="1"/>
          </p:cNvPicPr>
          <p:nvPr/>
        </p:nvPicPr>
        <p:blipFill>
          <a:blip r:embed="rId7"/>
          <a:stretch>
            <a:fillRect/>
          </a:stretch>
        </p:blipFill>
        <p:spPr>
          <a:xfrm>
            <a:off x="11061637" y="1488593"/>
            <a:ext cx="5919729" cy="1969179"/>
          </a:xfrm>
          <a:prstGeom prst="rect">
            <a:avLst/>
          </a:prstGeom>
        </p:spPr>
      </p:pic>
      <p:pic>
        <p:nvPicPr>
          <p:cNvPr id="47" name="Picture 2" descr="Girar - Iconos gratis de flechas">
            <a:extLst>
              <a:ext uri="{FF2B5EF4-FFF2-40B4-BE49-F238E27FC236}">
                <a16:creationId xmlns:a16="http://schemas.microsoft.com/office/drawing/2014/main" id="{E8354DD6-3BA4-54BB-BBEF-F28DF3FBD649}"/>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3845929" y="2643227"/>
            <a:ext cx="696670" cy="696670"/>
          </a:xfrm>
          <a:prstGeom prst="rect">
            <a:avLst/>
          </a:prstGeom>
          <a:noFill/>
          <a:extLst>
            <a:ext uri="{909E8E84-426E-40DD-AFC4-6F175D3DCCD1}">
              <a14:hiddenFill xmlns:a14="http://schemas.microsoft.com/office/drawing/2010/main">
                <a:solidFill>
                  <a:srgbClr val="FFFFFF"/>
                </a:solidFill>
              </a14:hiddenFill>
            </a:ext>
          </a:extLst>
        </p:spPr>
      </p:pic>
      <p:pic>
        <p:nvPicPr>
          <p:cNvPr id="46" name="Imagen 45">
            <a:extLst>
              <a:ext uri="{FF2B5EF4-FFF2-40B4-BE49-F238E27FC236}">
                <a16:creationId xmlns:a16="http://schemas.microsoft.com/office/drawing/2014/main" id="{B24234CB-F9B6-92CB-DB93-89936F6B10BA}"/>
              </a:ext>
            </a:extLst>
          </p:cNvPr>
          <p:cNvPicPr>
            <a:picLocks noChangeAspect="1"/>
          </p:cNvPicPr>
          <p:nvPr/>
        </p:nvPicPr>
        <p:blipFill>
          <a:blip r:embed="rId9"/>
          <a:stretch>
            <a:fillRect/>
          </a:stretch>
        </p:blipFill>
        <p:spPr>
          <a:xfrm>
            <a:off x="11058732" y="1503007"/>
            <a:ext cx="5919729" cy="1969179"/>
          </a:xfrm>
          <a:prstGeom prst="rect">
            <a:avLst/>
          </a:prstGeom>
        </p:spPr>
      </p:pic>
      <p:pic>
        <p:nvPicPr>
          <p:cNvPr id="59" name="Imagen 58">
            <a:extLst>
              <a:ext uri="{FF2B5EF4-FFF2-40B4-BE49-F238E27FC236}">
                <a16:creationId xmlns:a16="http://schemas.microsoft.com/office/drawing/2014/main" id="{0B4AF5B5-1046-D8AC-37B1-DE97D4564689}"/>
              </a:ext>
            </a:extLst>
          </p:cNvPr>
          <p:cNvPicPr>
            <a:picLocks noChangeAspect="1"/>
          </p:cNvPicPr>
          <p:nvPr/>
        </p:nvPicPr>
        <p:blipFill>
          <a:blip r:embed="rId10"/>
          <a:stretch>
            <a:fillRect/>
          </a:stretch>
        </p:blipFill>
        <p:spPr>
          <a:xfrm>
            <a:off x="11341424" y="3699686"/>
            <a:ext cx="5919729" cy="1969179"/>
          </a:xfrm>
          <a:prstGeom prst="rect">
            <a:avLst/>
          </a:prstGeom>
        </p:spPr>
      </p:pic>
      <p:pic>
        <p:nvPicPr>
          <p:cNvPr id="60" name="Picture 2" descr="Girar - Iconos gratis de flechas">
            <a:extLst>
              <a:ext uri="{FF2B5EF4-FFF2-40B4-BE49-F238E27FC236}">
                <a16:creationId xmlns:a16="http://schemas.microsoft.com/office/drawing/2014/main" id="{9984370A-ECAD-FAD5-666F-D33827F208C5}"/>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079964" y="4797524"/>
            <a:ext cx="925270" cy="925270"/>
          </a:xfrm>
          <a:prstGeom prst="rect">
            <a:avLst/>
          </a:prstGeom>
          <a:noFill/>
          <a:extLst>
            <a:ext uri="{909E8E84-426E-40DD-AFC4-6F175D3DCCD1}">
              <a14:hiddenFill xmlns:a14="http://schemas.microsoft.com/office/drawing/2010/main">
                <a:solidFill>
                  <a:srgbClr val="FFFFFF"/>
                </a:solidFill>
              </a14:hiddenFill>
            </a:ext>
          </a:extLst>
        </p:spPr>
      </p:pic>
      <p:pic>
        <p:nvPicPr>
          <p:cNvPr id="64" name="Imagen 63">
            <a:extLst>
              <a:ext uri="{FF2B5EF4-FFF2-40B4-BE49-F238E27FC236}">
                <a16:creationId xmlns:a16="http://schemas.microsoft.com/office/drawing/2014/main" id="{6416FD43-4071-32A4-3D88-F528D886B151}"/>
              </a:ext>
            </a:extLst>
          </p:cNvPr>
          <p:cNvPicPr>
            <a:picLocks noChangeAspect="1"/>
          </p:cNvPicPr>
          <p:nvPr/>
        </p:nvPicPr>
        <p:blipFill>
          <a:blip r:embed="rId11"/>
          <a:stretch>
            <a:fillRect/>
          </a:stretch>
        </p:blipFill>
        <p:spPr>
          <a:xfrm>
            <a:off x="11338517" y="3685272"/>
            <a:ext cx="5919729" cy="1969179"/>
          </a:xfrm>
          <a:prstGeom prst="rect">
            <a:avLst/>
          </a:prstGeom>
        </p:spPr>
      </p:pic>
      <p:pic>
        <p:nvPicPr>
          <p:cNvPr id="76" name="Imagen 75">
            <a:extLst>
              <a:ext uri="{FF2B5EF4-FFF2-40B4-BE49-F238E27FC236}">
                <a16:creationId xmlns:a16="http://schemas.microsoft.com/office/drawing/2014/main" id="{51312D67-E1FC-EDF5-DED9-1C39262268CF}"/>
              </a:ext>
            </a:extLst>
          </p:cNvPr>
          <p:cNvPicPr>
            <a:picLocks noChangeAspect="1"/>
          </p:cNvPicPr>
          <p:nvPr/>
        </p:nvPicPr>
        <p:blipFill>
          <a:blip r:embed="rId12"/>
          <a:stretch>
            <a:fillRect/>
          </a:stretch>
        </p:blipFill>
        <p:spPr>
          <a:xfrm>
            <a:off x="11013146" y="6048077"/>
            <a:ext cx="7144578" cy="2287241"/>
          </a:xfrm>
          <a:prstGeom prst="rect">
            <a:avLst/>
          </a:prstGeom>
        </p:spPr>
      </p:pic>
      <p:pic>
        <p:nvPicPr>
          <p:cNvPr id="77" name="Picture 2" descr="Girar - Iconos gratis de flechas">
            <a:extLst>
              <a:ext uri="{FF2B5EF4-FFF2-40B4-BE49-F238E27FC236}">
                <a16:creationId xmlns:a16="http://schemas.microsoft.com/office/drawing/2014/main" id="{DEEC62DE-D62F-E6C0-EEF1-B86C5BE15AF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4477965" y="7410048"/>
            <a:ext cx="925270" cy="925270"/>
          </a:xfrm>
          <a:prstGeom prst="rect">
            <a:avLst/>
          </a:prstGeom>
          <a:noFill/>
          <a:extLst>
            <a:ext uri="{909E8E84-426E-40DD-AFC4-6F175D3DCCD1}">
              <a14:hiddenFill xmlns:a14="http://schemas.microsoft.com/office/drawing/2010/main">
                <a:solidFill>
                  <a:srgbClr val="FFFFFF"/>
                </a:solidFill>
              </a14:hiddenFill>
            </a:ext>
          </a:extLst>
        </p:spPr>
      </p:pic>
      <p:pic>
        <p:nvPicPr>
          <p:cNvPr id="89" name="Imagen 88">
            <a:extLst>
              <a:ext uri="{FF2B5EF4-FFF2-40B4-BE49-F238E27FC236}">
                <a16:creationId xmlns:a16="http://schemas.microsoft.com/office/drawing/2014/main" id="{BD9BDDA7-34CD-4C0F-0452-6D2250CEDCD8}"/>
              </a:ext>
            </a:extLst>
          </p:cNvPr>
          <p:cNvPicPr>
            <a:picLocks noChangeAspect="1"/>
          </p:cNvPicPr>
          <p:nvPr/>
        </p:nvPicPr>
        <p:blipFill>
          <a:blip r:embed="rId13"/>
          <a:stretch>
            <a:fillRect/>
          </a:stretch>
        </p:blipFill>
        <p:spPr>
          <a:xfrm>
            <a:off x="11030377" y="6013930"/>
            <a:ext cx="7092867" cy="2364289"/>
          </a:xfrm>
          <a:prstGeom prst="rect">
            <a:avLst/>
          </a:prstGeom>
        </p:spPr>
      </p:pic>
      <p:pic>
        <p:nvPicPr>
          <p:cNvPr id="32" name="Imagen 31">
            <a:extLst>
              <a:ext uri="{FF2B5EF4-FFF2-40B4-BE49-F238E27FC236}">
                <a16:creationId xmlns:a16="http://schemas.microsoft.com/office/drawing/2014/main" id="{EE2F8896-8691-031E-2B27-2AB7197B0660}"/>
              </a:ext>
            </a:extLst>
          </p:cNvPr>
          <p:cNvPicPr>
            <a:picLocks noChangeAspect="1"/>
          </p:cNvPicPr>
          <p:nvPr/>
        </p:nvPicPr>
        <p:blipFill>
          <a:blip r:embed="rId14"/>
          <a:stretch>
            <a:fillRect/>
          </a:stretch>
        </p:blipFill>
        <p:spPr>
          <a:xfrm>
            <a:off x="1029754" y="763060"/>
            <a:ext cx="5919729" cy="1963082"/>
          </a:xfrm>
          <a:prstGeom prst="rect">
            <a:avLst/>
          </a:prstGeom>
        </p:spPr>
      </p:pic>
      <p:pic>
        <p:nvPicPr>
          <p:cNvPr id="33" name="Picture 2" descr="Girar - Iconos gratis de flechas">
            <a:extLst>
              <a:ext uri="{FF2B5EF4-FFF2-40B4-BE49-F238E27FC236}">
                <a16:creationId xmlns:a16="http://schemas.microsoft.com/office/drawing/2014/main" id="{AF2661F1-8844-CE68-E42A-84C7F8AB2D8E}"/>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521291" y="1925249"/>
            <a:ext cx="696670" cy="696670"/>
          </a:xfrm>
          <a:prstGeom prst="rect">
            <a:avLst/>
          </a:prstGeom>
          <a:noFill/>
          <a:extLst>
            <a:ext uri="{909E8E84-426E-40DD-AFC4-6F175D3DCCD1}">
              <a14:hiddenFill xmlns:a14="http://schemas.microsoft.com/office/drawing/2010/main">
                <a:solidFill>
                  <a:srgbClr val="FFFFFF"/>
                </a:solidFill>
              </a14:hiddenFill>
            </a:ext>
          </a:extLst>
        </p:spPr>
      </p:pic>
      <p:pic>
        <p:nvPicPr>
          <p:cNvPr id="29" name="Imagen 28">
            <a:extLst>
              <a:ext uri="{FF2B5EF4-FFF2-40B4-BE49-F238E27FC236}">
                <a16:creationId xmlns:a16="http://schemas.microsoft.com/office/drawing/2014/main" id="{DDC74EDC-1CE3-191B-D630-00BE409488D3}"/>
              </a:ext>
            </a:extLst>
          </p:cNvPr>
          <p:cNvPicPr>
            <a:picLocks noChangeAspect="1"/>
          </p:cNvPicPr>
          <p:nvPr/>
        </p:nvPicPr>
        <p:blipFill>
          <a:blip r:embed="rId15"/>
          <a:stretch>
            <a:fillRect/>
          </a:stretch>
        </p:blipFill>
        <p:spPr>
          <a:xfrm>
            <a:off x="1032659" y="793135"/>
            <a:ext cx="5919729" cy="1963082"/>
          </a:xfrm>
          <a:prstGeom prst="rect">
            <a:avLst/>
          </a:prstGeom>
        </p:spPr>
      </p:pic>
      <p:pic>
        <p:nvPicPr>
          <p:cNvPr id="53" name="Imagen 52">
            <a:extLst>
              <a:ext uri="{FF2B5EF4-FFF2-40B4-BE49-F238E27FC236}">
                <a16:creationId xmlns:a16="http://schemas.microsoft.com/office/drawing/2014/main" id="{73834018-BD04-4665-56BE-1B5E88CE41AC}"/>
              </a:ext>
            </a:extLst>
          </p:cNvPr>
          <p:cNvPicPr>
            <a:picLocks noChangeAspect="1"/>
          </p:cNvPicPr>
          <p:nvPr/>
        </p:nvPicPr>
        <p:blipFill>
          <a:blip r:embed="rId16"/>
          <a:stretch>
            <a:fillRect/>
          </a:stretch>
        </p:blipFill>
        <p:spPr>
          <a:xfrm>
            <a:off x="1031349" y="3060218"/>
            <a:ext cx="5913633" cy="1969179"/>
          </a:xfrm>
          <a:prstGeom prst="rect">
            <a:avLst/>
          </a:prstGeom>
        </p:spPr>
      </p:pic>
      <p:pic>
        <p:nvPicPr>
          <p:cNvPr id="54" name="Picture 2" descr="Girar - Iconos gratis de flechas">
            <a:extLst>
              <a:ext uri="{FF2B5EF4-FFF2-40B4-BE49-F238E27FC236}">
                <a16:creationId xmlns:a16="http://schemas.microsoft.com/office/drawing/2014/main" id="{F6C3E975-F8F6-0284-B10F-0E0D81686062}"/>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90334" y="4242602"/>
            <a:ext cx="696670" cy="696670"/>
          </a:xfrm>
          <a:prstGeom prst="rect">
            <a:avLst/>
          </a:prstGeom>
          <a:noFill/>
          <a:extLst>
            <a:ext uri="{909E8E84-426E-40DD-AFC4-6F175D3DCCD1}">
              <a14:hiddenFill xmlns:a14="http://schemas.microsoft.com/office/drawing/2010/main">
                <a:solidFill>
                  <a:srgbClr val="FFFFFF"/>
                </a:solidFill>
              </a14:hiddenFill>
            </a:ext>
          </a:extLst>
        </p:spPr>
      </p:pic>
      <p:pic>
        <p:nvPicPr>
          <p:cNvPr id="50" name="Imagen 49">
            <a:extLst>
              <a:ext uri="{FF2B5EF4-FFF2-40B4-BE49-F238E27FC236}">
                <a16:creationId xmlns:a16="http://schemas.microsoft.com/office/drawing/2014/main" id="{034B3265-AF69-2B12-D182-EEF7166945DD}"/>
              </a:ext>
            </a:extLst>
          </p:cNvPr>
          <p:cNvPicPr>
            <a:picLocks noChangeAspect="1"/>
          </p:cNvPicPr>
          <p:nvPr/>
        </p:nvPicPr>
        <p:blipFill>
          <a:blip r:embed="rId17"/>
          <a:stretch>
            <a:fillRect/>
          </a:stretch>
        </p:blipFill>
        <p:spPr>
          <a:xfrm>
            <a:off x="1026847" y="3044263"/>
            <a:ext cx="5913633" cy="1969179"/>
          </a:xfrm>
          <a:prstGeom prst="rect">
            <a:avLst/>
          </a:prstGeom>
        </p:spPr>
      </p:pic>
      <p:pic>
        <p:nvPicPr>
          <p:cNvPr id="68" name="Picture 2" descr="Girar - Iconos gratis de flechas">
            <a:extLst>
              <a:ext uri="{FF2B5EF4-FFF2-40B4-BE49-F238E27FC236}">
                <a16:creationId xmlns:a16="http://schemas.microsoft.com/office/drawing/2014/main" id="{83C537E9-2A30-BFE9-3E8C-A4F0021B1EB1}"/>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3472683" y="6222485"/>
            <a:ext cx="696670" cy="696670"/>
          </a:xfrm>
          <a:prstGeom prst="rect">
            <a:avLst/>
          </a:prstGeom>
          <a:noFill/>
          <a:extLst>
            <a:ext uri="{909E8E84-426E-40DD-AFC4-6F175D3DCCD1}">
              <a14:hiddenFill xmlns:a14="http://schemas.microsoft.com/office/drawing/2010/main">
                <a:solidFill>
                  <a:srgbClr val="FFFFFF"/>
                </a:solidFill>
              </a14:hiddenFill>
            </a:ext>
          </a:extLst>
        </p:spPr>
      </p:pic>
      <p:pic>
        <p:nvPicPr>
          <p:cNvPr id="67" name="Imagen 66">
            <a:extLst>
              <a:ext uri="{FF2B5EF4-FFF2-40B4-BE49-F238E27FC236}">
                <a16:creationId xmlns:a16="http://schemas.microsoft.com/office/drawing/2014/main" id="{9DEF1F1E-C93B-7A69-460C-5B1A086898B4}"/>
              </a:ext>
            </a:extLst>
          </p:cNvPr>
          <p:cNvPicPr>
            <a:picLocks noChangeAspect="1"/>
          </p:cNvPicPr>
          <p:nvPr/>
        </p:nvPicPr>
        <p:blipFill>
          <a:blip r:embed="rId18"/>
          <a:stretch>
            <a:fillRect/>
          </a:stretch>
        </p:blipFill>
        <p:spPr>
          <a:xfrm>
            <a:off x="1042877" y="5196960"/>
            <a:ext cx="5919729" cy="1969179"/>
          </a:xfrm>
          <a:prstGeom prst="rect">
            <a:avLst/>
          </a:prstGeom>
        </p:spPr>
      </p:pic>
      <p:pic>
        <p:nvPicPr>
          <p:cNvPr id="81" name="Picture 2" descr="Girar - Iconos gratis de flechas">
            <a:extLst>
              <a:ext uri="{FF2B5EF4-FFF2-40B4-BE49-F238E27FC236}">
                <a16:creationId xmlns:a16="http://schemas.microsoft.com/office/drawing/2014/main" id="{A4044F0B-0384-265D-4BF4-308919EBF750}"/>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4917866" y="9119740"/>
            <a:ext cx="696670" cy="696670"/>
          </a:xfrm>
          <a:prstGeom prst="rect">
            <a:avLst/>
          </a:prstGeom>
          <a:noFill/>
          <a:extLst>
            <a:ext uri="{909E8E84-426E-40DD-AFC4-6F175D3DCCD1}">
              <a14:hiddenFill xmlns:a14="http://schemas.microsoft.com/office/drawing/2010/main">
                <a:solidFill>
                  <a:srgbClr val="FFFFFF"/>
                </a:solidFill>
              </a14:hiddenFill>
            </a:ext>
          </a:extLst>
        </p:spPr>
      </p:pic>
      <p:pic>
        <p:nvPicPr>
          <p:cNvPr id="80" name="Imagen 79">
            <a:extLst>
              <a:ext uri="{FF2B5EF4-FFF2-40B4-BE49-F238E27FC236}">
                <a16:creationId xmlns:a16="http://schemas.microsoft.com/office/drawing/2014/main" id="{3B3D80B2-E2DC-171D-ED40-CC4C9B1E719B}"/>
              </a:ext>
            </a:extLst>
          </p:cNvPr>
          <p:cNvPicPr>
            <a:picLocks noChangeAspect="1"/>
          </p:cNvPicPr>
          <p:nvPr/>
        </p:nvPicPr>
        <p:blipFill>
          <a:blip r:embed="rId19"/>
          <a:stretch>
            <a:fillRect/>
          </a:stretch>
        </p:blipFill>
        <p:spPr>
          <a:xfrm>
            <a:off x="850131" y="7300720"/>
            <a:ext cx="8827773" cy="2865368"/>
          </a:xfrm>
          <a:prstGeom prst="rect">
            <a:avLst/>
          </a:prstGeom>
        </p:spPr>
      </p:pic>
    </p:spTree>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7"/>
                    </p:tgtEl>
                  </p:cond>
                </p:stCondLst>
                <p:endSync evt="end" delay="0">
                  <p:rtn val="all"/>
                </p:endSync>
                <p:childTnLst>
                  <p:par>
                    <p:cTn id="3" fill="hold">
                      <p:stCondLst>
                        <p:cond delay="0"/>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randombar(horizontal)">
                                      <p:cBhvr>
                                        <p:cTn id="7" dur="500"/>
                                        <p:tgtEl>
                                          <p:spTgt spid="46"/>
                                        </p:tgtEl>
                                      </p:cBhvr>
                                    </p:animEffect>
                                  </p:childTnLst>
                                </p:cTn>
                              </p:par>
                            </p:childTnLst>
                          </p:cTn>
                        </p:par>
                      </p:childTnLst>
                    </p:cTn>
                  </p:par>
                </p:childTnLst>
              </p:cTn>
              <p:nextCondLst>
                <p:cond evt="onClick" delay="0">
                  <p:tgtEl>
                    <p:spTgt spid="47"/>
                  </p:tgtEl>
                </p:cond>
              </p:nextCondLst>
            </p:seq>
            <p:seq concurrent="1" nextAc="seek">
              <p:cTn id="8" restart="whenNotActive" fill="hold" evtFilter="cancelBubble" nodeType="interactiveSeq">
                <p:stCondLst>
                  <p:cond evt="onClick" delay="0">
                    <p:tgtEl>
                      <p:spTgt spid="60"/>
                    </p:tgtEl>
                  </p:cond>
                </p:stCondLst>
                <p:endSync evt="end" delay="0">
                  <p:rtn val="all"/>
                </p:endSync>
                <p:childTnLst>
                  <p:par>
                    <p:cTn id="9" fill="hold">
                      <p:stCondLst>
                        <p:cond delay="0"/>
                      </p:stCondLst>
                      <p:childTnLst>
                        <p:par>
                          <p:cTn id="10" fill="hold">
                            <p:stCondLst>
                              <p:cond delay="0"/>
                            </p:stCondLst>
                            <p:childTnLst>
                              <p:par>
                                <p:cTn id="11" presetID="14" presetClass="entr" presetSubtype="10" fill="hold" nodeType="clickEffect">
                                  <p:stCondLst>
                                    <p:cond delay="0"/>
                                  </p:stCondLst>
                                  <p:childTnLst>
                                    <p:set>
                                      <p:cBhvr>
                                        <p:cTn id="12" dur="1" fill="hold">
                                          <p:stCondLst>
                                            <p:cond delay="0"/>
                                          </p:stCondLst>
                                        </p:cTn>
                                        <p:tgtEl>
                                          <p:spTgt spid="64"/>
                                        </p:tgtEl>
                                        <p:attrNameLst>
                                          <p:attrName>style.visibility</p:attrName>
                                        </p:attrNameLst>
                                      </p:cBhvr>
                                      <p:to>
                                        <p:strVal val="visible"/>
                                      </p:to>
                                    </p:set>
                                    <p:animEffect transition="in" filter="randombar(horizontal)">
                                      <p:cBhvr>
                                        <p:cTn id="13" dur="500"/>
                                        <p:tgtEl>
                                          <p:spTgt spid="64"/>
                                        </p:tgtEl>
                                      </p:cBhvr>
                                    </p:animEffect>
                                  </p:childTnLst>
                                </p:cTn>
                              </p:par>
                            </p:childTnLst>
                          </p:cTn>
                        </p:par>
                      </p:childTnLst>
                    </p:cTn>
                  </p:par>
                </p:childTnLst>
              </p:cTn>
              <p:nextCondLst>
                <p:cond evt="onClick" delay="0">
                  <p:tgtEl>
                    <p:spTgt spid="60"/>
                  </p:tgtEl>
                </p:cond>
              </p:nextCondLst>
            </p:seq>
            <p:seq concurrent="1" nextAc="seek">
              <p:cTn id="14" restart="whenNotActive" fill="hold" evtFilter="cancelBubble" nodeType="interactiveSeq">
                <p:stCondLst>
                  <p:cond evt="onClick" delay="0">
                    <p:tgtEl>
                      <p:spTgt spid="77"/>
                    </p:tgtEl>
                  </p:cond>
                </p:stCondLst>
                <p:endSync evt="end" delay="0">
                  <p:rtn val="all"/>
                </p:endSync>
                <p:childTnLst>
                  <p:par>
                    <p:cTn id="15" fill="hold">
                      <p:stCondLst>
                        <p:cond delay="0"/>
                      </p:stCondLst>
                      <p:childTnLst>
                        <p:par>
                          <p:cTn id="16" fill="hold">
                            <p:stCondLst>
                              <p:cond delay="0"/>
                            </p:stCondLst>
                            <p:childTnLst>
                              <p:par>
                                <p:cTn id="17" presetID="14" presetClass="entr" presetSubtype="10" fill="hold" nodeType="clickEffect">
                                  <p:stCondLst>
                                    <p:cond delay="0"/>
                                  </p:stCondLst>
                                  <p:childTnLst>
                                    <p:set>
                                      <p:cBhvr>
                                        <p:cTn id="18" dur="1" fill="hold">
                                          <p:stCondLst>
                                            <p:cond delay="0"/>
                                          </p:stCondLst>
                                        </p:cTn>
                                        <p:tgtEl>
                                          <p:spTgt spid="89"/>
                                        </p:tgtEl>
                                        <p:attrNameLst>
                                          <p:attrName>style.visibility</p:attrName>
                                        </p:attrNameLst>
                                      </p:cBhvr>
                                      <p:to>
                                        <p:strVal val="visible"/>
                                      </p:to>
                                    </p:set>
                                    <p:animEffect transition="in" filter="randombar(horizontal)">
                                      <p:cBhvr>
                                        <p:cTn id="19" dur="500"/>
                                        <p:tgtEl>
                                          <p:spTgt spid="89"/>
                                        </p:tgtEl>
                                      </p:cBhvr>
                                    </p:animEffect>
                                  </p:childTnLst>
                                </p:cTn>
                              </p:par>
                            </p:childTnLst>
                          </p:cTn>
                        </p:par>
                      </p:childTnLst>
                    </p:cTn>
                  </p:par>
                </p:childTnLst>
              </p:cTn>
              <p:nextCondLst>
                <p:cond evt="onClick" delay="0">
                  <p:tgtEl>
                    <p:spTgt spid="77"/>
                  </p:tgtEl>
                </p:cond>
              </p:nextCondLst>
            </p:seq>
            <p:seq concurrent="1" nextAc="seek">
              <p:cTn id="20" restart="whenNotActive" fill="hold" evtFilter="cancelBubble" nodeType="interactiveSeq">
                <p:stCondLst>
                  <p:cond evt="onClick" delay="0">
                    <p:tgtEl>
                      <p:spTgt spid="33"/>
                    </p:tgtEl>
                  </p:cond>
                </p:stCondLst>
                <p:endSync evt="end" delay="0">
                  <p:rtn val="all"/>
                </p:endSync>
                <p:childTnLst>
                  <p:par>
                    <p:cTn id="21" fill="hold">
                      <p:stCondLst>
                        <p:cond delay="0"/>
                      </p:stCondLst>
                      <p:childTnLst>
                        <p:par>
                          <p:cTn id="22" fill="hold">
                            <p:stCondLst>
                              <p:cond delay="0"/>
                            </p:stCondLst>
                            <p:childTnLst>
                              <p:par>
                                <p:cTn id="23" presetID="14" presetClass="entr" presetSubtype="10" fill="hold" nodeType="clickEffect">
                                  <p:stCondLst>
                                    <p:cond delay="0"/>
                                  </p:stCondLst>
                                  <p:childTnLst>
                                    <p:set>
                                      <p:cBhvr>
                                        <p:cTn id="24" dur="1" fill="hold">
                                          <p:stCondLst>
                                            <p:cond delay="0"/>
                                          </p:stCondLst>
                                        </p:cTn>
                                        <p:tgtEl>
                                          <p:spTgt spid="29"/>
                                        </p:tgtEl>
                                        <p:attrNameLst>
                                          <p:attrName>style.visibility</p:attrName>
                                        </p:attrNameLst>
                                      </p:cBhvr>
                                      <p:to>
                                        <p:strVal val="visible"/>
                                      </p:to>
                                    </p:set>
                                    <p:animEffect transition="in" filter="randombar(horizontal)">
                                      <p:cBhvr>
                                        <p:cTn id="25" dur="500"/>
                                        <p:tgtEl>
                                          <p:spTgt spid="29"/>
                                        </p:tgtEl>
                                      </p:cBhvr>
                                    </p:animEffect>
                                  </p:childTnLst>
                                </p:cTn>
                              </p:par>
                            </p:childTnLst>
                          </p:cTn>
                        </p:par>
                      </p:childTnLst>
                    </p:cTn>
                  </p:par>
                </p:childTnLst>
              </p:cTn>
              <p:nextCondLst>
                <p:cond evt="onClick" delay="0">
                  <p:tgtEl>
                    <p:spTgt spid="33"/>
                  </p:tgtEl>
                </p:cond>
              </p:nextCondLst>
            </p:seq>
            <p:seq concurrent="1" nextAc="seek">
              <p:cTn id="26" restart="whenNotActive" fill="hold" evtFilter="cancelBubble" nodeType="interactiveSeq">
                <p:stCondLst>
                  <p:cond evt="onClick" delay="0">
                    <p:tgtEl>
                      <p:spTgt spid="54"/>
                    </p:tgtEl>
                  </p:cond>
                </p:stCondLst>
                <p:endSync evt="end" delay="0">
                  <p:rtn val="all"/>
                </p:endSync>
                <p:childTnLst>
                  <p:par>
                    <p:cTn id="27" fill="hold">
                      <p:stCondLst>
                        <p:cond delay="0"/>
                      </p:stCondLst>
                      <p:childTnLst>
                        <p:par>
                          <p:cTn id="28" fill="hold">
                            <p:stCondLst>
                              <p:cond delay="0"/>
                            </p:stCondLst>
                            <p:childTnLst>
                              <p:par>
                                <p:cTn id="29" presetID="14" presetClass="entr" presetSubtype="1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animEffect transition="in" filter="randombar(horizontal)">
                                      <p:cBhvr>
                                        <p:cTn id="31" dur="500"/>
                                        <p:tgtEl>
                                          <p:spTgt spid="50"/>
                                        </p:tgtEl>
                                      </p:cBhvr>
                                    </p:animEffect>
                                  </p:childTnLst>
                                </p:cTn>
                              </p:par>
                            </p:childTnLst>
                          </p:cTn>
                        </p:par>
                      </p:childTnLst>
                    </p:cTn>
                  </p:par>
                </p:childTnLst>
              </p:cTn>
              <p:nextCondLst>
                <p:cond evt="onClick" delay="0">
                  <p:tgtEl>
                    <p:spTgt spid="54"/>
                  </p:tgtEl>
                </p:cond>
              </p:nextCondLst>
            </p:seq>
            <p:seq concurrent="1" nextAc="seek">
              <p:cTn id="32" restart="whenNotActive" fill="hold" evtFilter="cancelBubble" nodeType="interactiveSeq">
                <p:stCondLst>
                  <p:cond evt="onClick" delay="0">
                    <p:tgtEl>
                      <p:spTgt spid="68"/>
                    </p:tgtEl>
                  </p:cond>
                </p:stCondLst>
                <p:endSync evt="end" delay="0">
                  <p:rtn val="all"/>
                </p:endSync>
                <p:childTnLst>
                  <p:par>
                    <p:cTn id="33" fill="hold">
                      <p:stCondLst>
                        <p:cond delay="0"/>
                      </p:stCondLst>
                      <p:childTnLst>
                        <p:par>
                          <p:cTn id="34" fill="hold">
                            <p:stCondLst>
                              <p:cond delay="0"/>
                            </p:stCondLst>
                            <p:childTnLst>
                              <p:par>
                                <p:cTn id="35" presetID="14" presetClass="entr" presetSubtype="10" fill="hold" nodeType="clickEffect">
                                  <p:stCondLst>
                                    <p:cond delay="0"/>
                                  </p:stCondLst>
                                  <p:childTnLst>
                                    <p:set>
                                      <p:cBhvr>
                                        <p:cTn id="36" dur="1" fill="hold">
                                          <p:stCondLst>
                                            <p:cond delay="0"/>
                                          </p:stCondLst>
                                        </p:cTn>
                                        <p:tgtEl>
                                          <p:spTgt spid="67"/>
                                        </p:tgtEl>
                                        <p:attrNameLst>
                                          <p:attrName>style.visibility</p:attrName>
                                        </p:attrNameLst>
                                      </p:cBhvr>
                                      <p:to>
                                        <p:strVal val="visible"/>
                                      </p:to>
                                    </p:set>
                                    <p:animEffect transition="in" filter="randombar(horizontal)">
                                      <p:cBhvr>
                                        <p:cTn id="37" dur="500"/>
                                        <p:tgtEl>
                                          <p:spTgt spid="67"/>
                                        </p:tgtEl>
                                      </p:cBhvr>
                                    </p:animEffect>
                                  </p:childTnLst>
                                </p:cTn>
                              </p:par>
                            </p:childTnLst>
                          </p:cTn>
                        </p:par>
                      </p:childTnLst>
                    </p:cTn>
                  </p:par>
                </p:childTnLst>
              </p:cTn>
              <p:nextCondLst>
                <p:cond evt="onClick" delay="0">
                  <p:tgtEl>
                    <p:spTgt spid="68"/>
                  </p:tgtEl>
                </p:cond>
              </p:nextCondLst>
            </p:seq>
            <p:seq concurrent="1" nextAc="seek">
              <p:cTn id="38" restart="whenNotActive" fill="hold" evtFilter="cancelBubble" nodeType="interactiveSeq">
                <p:stCondLst>
                  <p:cond evt="onClick" delay="0">
                    <p:tgtEl>
                      <p:spTgt spid="81"/>
                    </p:tgtEl>
                  </p:cond>
                </p:stCondLst>
                <p:endSync evt="end" delay="0">
                  <p:rtn val="all"/>
                </p:endSync>
                <p:childTnLst>
                  <p:par>
                    <p:cTn id="39" fill="hold">
                      <p:stCondLst>
                        <p:cond delay="0"/>
                      </p:stCondLst>
                      <p:childTnLst>
                        <p:par>
                          <p:cTn id="40" fill="hold">
                            <p:stCondLst>
                              <p:cond delay="0"/>
                            </p:stCondLst>
                            <p:childTnLst>
                              <p:par>
                                <p:cTn id="41" presetID="14" presetClass="entr" presetSubtype="10" fill="hold" nodeType="clickEffect">
                                  <p:stCondLst>
                                    <p:cond delay="0"/>
                                  </p:stCondLst>
                                  <p:childTnLst>
                                    <p:set>
                                      <p:cBhvr>
                                        <p:cTn id="42" dur="1" fill="hold">
                                          <p:stCondLst>
                                            <p:cond delay="0"/>
                                          </p:stCondLst>
                                        </p:cTn>
                                        <p:tgtEl>
                                          <p:spTgt spid="80"/>
                                        </p:tgtEl>
                                        <p:attrNameLst>
                                          <p:attrName>style.visibility</p:attrName>
                                        </p:attrNameLst>
                                      </p:cBhvr>
                                      <p:to>
                                        <p:strVal val="visible"/>
                                      </p:to>
                                    </p:set>
                                    <p:animEffect transition="in" filter="randombar(horizontal)">
                                      <p:cBhvr>
                                        <p:cTn id="43" dur="500"/>
                                        <p:tgtEl>
                                          <p:spTgt spid="80"/>
                                        </p:tgtEl>
                                      </p:cBhvr>
                                    </p:animEffect>
                                  </p:childTnLst>
                                </p:cTn>
                              </p:par>
                            </p:childTnLst>
                          </p:cTn>
                        </p:par>
                      </p:childTnLst>
                    </p:cTn>
                  </p:par>
                </p:childTnLst>
              </p:cTn>
              <p:nextCondLst>
                <p:cond evt="onClick" delay="0">
                  <p:tgtEl>
                    <p:spTgt spid="81"/>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2115212" y="3359145"/>
            <a:ext cx="5144088" cy="3568711"/>
          </a:xfrm>
          <a:custGeom>
            <a:avLst/>
            <a:gdLst/>
            <a:ahLst/>
            <a:cxnLst/>
            <a:rect l="l" t="t" r="r" b="b"/>
            <a:pathLst>
              <a:path w="5144088" h="3568711">
                <a:moveTo>
                  <a:pt x="0" y="0"/>
                </a:moveTo>
                <a:lnTo>
                  <a:pt x="5144088" y="0"/>
                </a:lnTo>
                <a:lnTo>
                  <a:pt x="5144088" y="3568710"/>
                </a:lnTo>
                <a:lnTo>
                  <a:pt x="0" y="3568710"/>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3744324" y="1280986"/>
            <a:ext cx="6349603" cy="1830070"/>
          </a:xfrm>
          <a:prstGeom prst="rect">
            <a:avLst/>
          </a:prstGeom>
        </p:spPr>
        <p:txBody>
          <a:bodyPr lIns="0" tIns="0" rIns="0" bIns="0" rtlCol="0" anchor="t">
            <a:spAutoFit/>
          </a:bodyPr>
          <a:lstStyle/>
          <a:p>
            <a:pPr algn="ctr">
              <a:lnSpc>
                <a:spcPts val="7279"/>
              </a:lnSpc>
            </a:pPr>
            <a:r>
              <a:rPr lang="en-US" sz="5199" b="1">
                <a:solidFill>
                  <a:srgbClr val="000000"/>
                </a:solidFill>
                <a:latin typeface="Archivo Narrow Bold"/>
                <a:ea typeface="Archivo Narrow Bold"/>
                <a:cs typeface="Archivo Narrow Bold"/>
                <a:sym typeface="Archivo Narrow Bold"/>
              </a:rPr>
              <a:t>Array multidimensional: </a:t>
            </a:r>
          </a:p>
          <a:p>
            <a:pPr algn="ctr">
              <a:lnSpc>
                <a:spcPts val="7279"/>
              </a:lnSpc>
            </a:pPr>
            <a:r>
              <a:rPr lang="en-US" sz="5199" b="1">
                <a:solidFill>
                  <a:srgbClr val="000000"/>
                </a:solidFill>
                <a:latin typeface="Archivo Narrow Bold"/>
                <a:ea typeface="Archivo Narrow Bold"/>
                <a:cs typeface="Archivo Narrow Bold"/>
                <a:sym typeface="Archivo Narrow Bold"/>
              </a:rPr>
              <a:t>aplicaciones</a:t>
            </a:r>
          </a:p>
        </p:txBody>
      </p:sp>
      <p:sp>
        <p:nvSpPr>
          <p:cNvPr id="5" name="TextBox 5"/>
          <p:cNvSpPr txBox="1"/>
          <p:nvPr/>
        </p:nvSpPr>
        <p:spPr>
          <a:xfrm>
            <a:off x="2146577" y="3261039"/>
            <a:ext cx="9545099" cy="3339511"/>
          </a:xfrm>
          <a:prstGeom prst="rect">
            <a:avLst/>
          </a:prstGeom>
        </p:spPr>
        <p:txBody>
          <a:bodyPr lIns="0" tIns="0" rIns="0" bIns="0" rtlCol="0" anchor="t">
            <a:spAutoFit/>
          </a:bodyPr>
          <a:lstStyle/>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Representación de tablas y matrices matemáticas.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Gestión de datos estructurados: como calificaciones de alumnos (filas) en distintas materias (columnas).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Procesamiento de imágenes: cada píxel se representa con coordenadas (x, y).</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Juegos de tablero: como ajedrez, damas o sudoku.</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Simulación de mapas o planos: filas y columnas representan ubicaciones.</a:t>
            </a:r>
          </a:p>
          <a:p>
            <a:pPr marL="517765" lvl="1" indent="-258882" algn="just">
              <a:lnSpc>
                <a:spcPts val="3357"/>
              </a:lnSpc>
              <a:spcBef>
                <a:spcPct val="0"/>
              </a:spcBef>
              <a:buFont typeface="Arial"/>
              <a:buChar char="•"/>
            </a:pPr>
            <a:r>
              <a:rPr lang="en-US" sz="2398">
                <a:solidFill>
                  <a:srgbClr val="000000"/>
                </a:solidFill>
                <a:latin typeface="Archivo Narrow"/>
                <a:ea typeface="Archivo Narrow"/>
                <a:cs typeface="Archivo Narrow"/>
                <a:sym typeface="Archivo Narrow"/>
              </a:rPr>
              <a:t>Sistemas científicos e ingenieriles: almacenamiento de datos tridimensionales (como temperatura, presión, tiempo).</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TextBox 4"/>
          <p:cNvSpPr txBox="1"/>
          <p:nvPr/>
        </p:nvSpPr>
        <p:spPr>
          <a:xfrm>
            <a:off x="5435426" y="4613281"/>
            <a:ext cx="7417147" cy="946137"/>
          </a:xfrm>
          <a:prstGeom prst="rect">
            <a:avLst/>
          </a:prstGeom>
        </p:spPr>
        <p:txBody>
          <a:bodyPr lIns="0" tIns="0" rIns="0" bIns="0" rtlCol="0" anchor="t">
            <a:spAutoFit/>
          </a:bodyPr>
          <a:lstStyle/>
          <a:p>
            <a:pPr algn="ctr">
              <a:lnSpc>
                <a:spcPts val="7700"/>
              </a:lnSpc>
            </a:pPr>
            <a:r>
              <a:rPr lang="en-US" sz="5500" b="1">
                <a:solidFill>
                  <a:srgbClr val="1800AD"/>
                </a:solidFill>
                <a:latin typeface="Archivo Narrow Bold"/>
                <a:ea typeface="Archivo Narrow Bold"/>
                <a:cs typeface="Archivo Narrow Bold"/>
                <a:sym typeface="Archivo Narrow Bold"/>
              </a:rPr>
              <a:t>4.4 Estructuras o registros.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Freeform 3"/>
          <p:cNvSpPr/>
          <p:nvPr/>
        </p:nvSpPr>
        <p:spPr>
          <a:xfrm>
            <a:off x="12336124" y="2771172"/>
            <a:ext cx="2774130" cy="3025396"/>
          </a:xfrm>
          <a:custGeom>
            <a:avLst/>
            <a:gdLst/>
            <a:ahLst/>
            <a:cxnLst/>
            <a:rect l="l" t="t" r="r" b="b"/>
            <a:pathLst>
              <a:path w="2774130" h="3025396">
                <a:moveTo>
                  <a:pt x="0" y="0"/>
                </a:moveTo>
                <a:lnTo>
                  <a:pt x="2774130" y="0"/>
                </a:lnTo>
                <a:lnTo>
                  <a:pt x="2774130" y="3025397"/>
                </a:lnTo>
                <a:lnTo>
                  <a:pt x="0" y="3025397"/>
                </a:lnTo>
                <a:lnTo>
                  <a:pt x="0" y="0"/>
                </a:lnTo>
                <a:close/>
              </a:path>
            </a:pathLst>
          </a:custGeom>
          <a:blipFill>
            <a:blip r:embed="rId3"/>
            <a:stretch>
              <a:fillRect l="-132685" t="-53590" r="-11057" b="-52866"/>
            </a:stretch>
          </a:blipFill>
        </p:spPr>
        <p:txBody>
          <a:bodyPr/>
          <a:lstStyle/>
          <a:p>
            <a:endParaRPr lang="es-MX"/>
          </a:p>
        </p:txBody>
      </p:sp>
      <p:sp>
        <p:nvSpPr>
          <p:cNvPr id="4" name="TextBox 4"/>
          <p:cNvSpPr txBox="1"/>
          <p:nvPr/>
        </p:nvSpPr>
        <p:spPr>
          <a:xfrm>
            <a:off x="2369551" y="2694972"/>
            <a:ext cx="8431094" cy="4190365"/>
          </a:xfrm>
          <a:prstGeom prst="rect">
            <a:avLst/>
          </a:prstGeom>
        </p:spPr>
        <p:txBody>
          <a:bodyPr lIns="0" tIns="0" rIns="0" bIns="0" rtlCol="0" anchor="t">
            <a:spAutoFit/>
          </a:bodyPr>
          <a:lstStyle/>
          <a:p>
            <a:pPr algn="just">
              <a:lnSpc>
                <a:spcPts val="4759"/>
              </a:lnSpc>
            </a:pPr>
            <a:r>
              <a:rPr lang="en-US" sz="3399">
                <a:solidFill>
                  <a:srgbClr val="000000"/>
                </a:solidFill>
                <a:latin typeface="Archivo Narrow"/>
                <a:ea typeface="Archivo Narrow"/>
                <a:cs typeface="Archivo Narrow"/>
                <a:sym typeface="Archivo Narrow"/>
              </a:rPr>
              <a:t>Un registro es un dato estructurado formado por varios elementos llamados campos, que están lógicamente relacionados. Cada campo puede ser del mismo tipo o de tipos distintos, y juntos representan una unidad de información completa. Los campos pueden ser de un tipo estándar o de otro registro previamente definido.</a:t>
            </a:r>
          </a:p>
        </p:txBody>
      </p:sp>
      <p:sp>
        <p:nvSpPr>
          <p:cNvPr id="5" name="TextBox 5"/>
          <p:cNvSpPr txBox="1"/>
          <p:nvPr/>
        </p:nvSpPr>
        <p:spPr>
          <a:xfrm>
            <a:off x="4873416" y="1382599"/>
            <a:ext cx="2365584" cy="906145"/>
          </a:xfrm>
          <a:prstGeom prst="rect">
            <a:avLst/>
          </a:prstGeom>
        </p:spPr>
        <p:txBody>
          <a:bodyPr wrap="square" lIns="0" tIns="0" rIns="0" bIns="0" rtlCol="0" anchor="t">
            <a:spAutoFit/>
          </a:bodyPr>
          <a:lstStyle/>
          <a:p>
            <a:pPr algn="ctr">
              <a:lnSpc>
                <a:spcPts val="7279"/>
              </a:lnSpc>
            </a:pPr>
            <a:r>
              <a:rPr lang="en-US" sz="5199" b="1" dirty="0">
                <a:solidFill>
                  <a:srgbClr val="000000"/>
                </a:solidFill>
                <a:latin typeface="Archivo Narrow Bold"/>
                <a:ea typeface="Archivo Narrow Bold"/>
                <a:cs typeface="Archivo Narrow Bold"/>
                <a:sym typeface="Archivo Narrow Bold"/>
              </a:rPr>
              <a:t>Registro</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163521" y="-21431"/>
            <a:ext cx="18658137" cy="10308431"/>
          </a:xfrm>
          <a:custGeom>
            <a:avLst/>
            <a:gdLst/>
            <a:ahLst/>
            <a:cxnLst/>
            <a:rect l="l" t="t" r="r" b="b"/>
            <a:pathLst>
              <a:path w="18658137" h="10308431">
                <a:moveTo>
                  <a:pt x="0" y="0"/>
                </a:moveTo>
                <a:lnTo>
                  <a:pt x="18658137" y="0"/>
                </a:lnTo>
                <a:lnTo>
                  <a:pt x="18658137" y="10308431"/>
                </a:lnTo>
                <a:lnTo>
                  <a:pt x="0" y="10308431"/>
                </a:lnTo>
                <a:lnTo>
                  <a:pt x="0" y="0"/>
                </a:lnTo>
                <a:close/>
              </a:path>
            </a:pathLst>
          </a:custGeom>
          <a:blipFill>
            <a:blip r:embed="rId2"/>
            <a:stretch>
              <a:fillRect t="-905" b="-905"/>
            </a:stretch>
          </a:blipFill>
        </p:spPr>
        <p:txBody>
          <a:bodyPr/>
          <a:lstStyle/>
          <a:p>
            <a:endParaRPr lang="es-MX"/>
          </a:p>
        </p:txBody>
      </p:sp>
      <p:sp>
        <p:nvSpPr>
          <p:cNvPr id="3" name="TextBox 3"/>
          <p:cNvSpPr txBox="1"/>
          <p:nvPr/>
        </p:nvSpPr>
        <p:spPr>
          <a:xfrm>
            <a:off x="6896499" y="1376236"/>
            <a:ext cx="4000101" cy="906145"/>
          </a:xfrm>
          <a:prstGeom prst="rect">
            <a:avLst/>
          </a:prstGeom>
        </p:spPr>
        <p:txBody>
          <a:bodyPr wrap="square" lIns="0" tIns="0" rIns="0" bIns="0" rtlCol="0" anchor="t">
            <a:spAutoFit/>
          </a:bodyPr>
          <a:lstStyle/>
          <a:p>
            <a:pPr algn="ctr">
              <a:lnSpc>
                <a:spcPts val="7279"/>
              </a:lnSpc>
            </a:pPr>
            <a:r>
              <a:rPr lang="en-US" sz="5199" b="1" dirty="0" err="1">
                <a:solidFill>
                  <a:srgbClr val="000000"/>
                </a:solidFill>
                <a:latin typeface="Archivo Narrow Bold"/>
                <a:ea typeface="Archivo Narrow Bold"/>
                <a:cs typeface="Archivo Narrow Bold"/>
                <a:sym typeface="Archivo Narrow Bold"/>
              </a:rPr>
              <a:t>Características</a:t>
            </a:r>
            <a:endParaRPr lang="en-US" sz="5199" b="1" dirty="0">
              <a:solidFill>
                <a:srgbClr val="000000"/>
              </a:solidFill>
              <a:latin typeface="Archivo Narrow Bold"/>
              <a:ea typeface="Archivo Narrow Bold"/>
              <a:cs typeface="Archivo Narrow Bold"/>
              <a:sym typeface="Archivo Narrow Bold"/>
            </a:endParaRPr>
          </a:p>
        </p:txBody>
      </p:sp>
      <p:sp>
        <p:nvSpPr>
          <p:cNvPr id="4" name="TextBox 4"/>
          <p:cNvSpPr txBox="1"/>
          <p:nvPr/>
        </p:nvSpPr>
        <p:spPr>
          <a:xfrm>
            <a:off x="2622009" y="2662910"/>
            <a:ext cx="13043983" cy="4790440"/>
          </a:xfrm>
          <a:prstGeom prst="rect">
            <a:avLst/>
          </a:prstGeom>
        </p:spPr>
        <p:txBody>
          <a:bodyPr lIns="0" tIns="0" rIns="0" bIns="0" rtlCol="0" anchor="t">
            <a:spAutoFit/>
          </a:bodyPr>
          <a:lstStyle/>
          <a:p>
            <a:pPr marL="734059" lvl="1" indent="-367030" algn="just">
              <a:lnSpc>
                <a:spcPts val="4759"/>
              </a:lnSpc>
              <a:buFont typeface="Arial"/>
              <a:buChar char="•"/>
            </a:pPr>
            <a:r>
              <a:rPr lang="en-US" sz="3399">
                <a:solidFill>
                  <a:srgbClr val="000000"/>
                </a:solidFill>
                <a:latin typeface="Archivo Narrow"/>
                <a:ea typeface="Archivo Narrow"/>
                <a:cs typeface="Archivo Narrow"/>
                <a:sym typeface="Archivo Narrow"/>
              </a:rPr>
              <a:t>Heterogeneidad de datos: Cada campo puede ser de distinto tipo.</a:t>
            </a:r>
          </a:p>
          <a:p>
            <a:pPr marL="734059" lvl="1" indent="-367030" algn="just">
              <a:lnSpc>
                <a:spcPts val="4759"/>
              </a:lnSpc>
              <a:buFont typeface="Arial"/>
              <a:buChar char="•"/>
            </a:pPr>
            <a:r>
              <a:rPr lang="en-US" sz="3399">
                <a:solidFill>
                  <a:srgbClr val="000000"/>
                </a:solidFill>
                <a:latin typeface="Archivo Narrow"/>
                <a:ea typeface="Archivo Narrow"/>
                <a:cs typeface="Archivo Narrow"/>
                <a:sym typeface="Archivo Narrow"/>
              </a:rPr>
              <a:t>Acceso por nombre: Se accede a los campos usando su nombre, no solo índices.</a:t>
            </a:r>
          </a:p>
          <a:p>
            <a:pPr marL="734059" lvl="1" indent="-367030" algn="just">
              <a:lnSpc>
                <a:spcPts val="4759"/>
              </a:lnSpc>
              <a:buFont typeface="Arial"/>
              <a:buChar char="•"/>
            </a:pPr>
            <a:r>
              <a:rPr lang="en-US" sz="3399">
                <a:solidFill>
                  <a:srgbClr val="000000"/>
                </a:solidFill>
                <a:latin typeface="Archivo Narrow"/>
                <a:ea typeface="Archivo Narrow"/>
                <a:cs typeface="Archivo Narrow"/>
                <a:sym typeface="Archivo Narrow"/>
              </a:rPr>
              <a:t>Agrupación lógica: Permite organizar datos relacionados de manera estructurada.</a:t>
            </a:r>
          </a:p>
          <a:p>
            <a:pPr marL="734059" lvl="1" indent="-367030" algn="just">
              <a:lnSpc>
                <a:spcPts val="4759"/>
              </a:lnSpc>
              <a:buFont typeface="Arial"/>
              <a:buChar char="•"/>
            </a:pPr>
            <a:r>
              <a:rPr lang="en-US" sz="3399">
                <a:solidFill>
                  <a:srgbClr val="000000"/>
                </a:solidFill>
                <a:latin typeface="Archivo Narrow"/>
                <a:ea typeface="Archivo Narrow"/>
                <a:cs typeface="Archivo Narrow"/>
                <a:sym typeface="Archivo Narrow"/>
              </a:rPr>
              <a:t>Tamaño fijo o variable: Dependiendo del lenguaje y los tipos de datos que contenga</a:t>
            </a:r>
          </a:p>
          <a:p>
            <a:pPr algn="just">
              <a:lnSpc>
                <a:spcPts val="4759"/>
              </a:lnSpc>
            </a:pPr>
            <a:endParaRPr lang="en-US" sz="3399">
              <a:solidFill>
                <a:srgbClr val="000000"/>
              </a:solidFill>
              <a:latin typeface="Archivo Narrow"/>
              <a:ea typeface="Archivo Narrow"/>
              <a:cs typeface="Archivo Narrow"/>
              <a:sym typeface="Archivo Narrow"/>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D8BBCE"/>
        </a:solidFill>
        <a:effectLst/>
      </p:bgPr>
    </p:bg>
    <p:spTree>
      <p:nvGrpSpPr>
        <p:cNvPr id="1" name=""/>
        <p:cNvGrpSpPr/>
        <p:nvPr/>
      </p:nvGrpSpPr>
      <p:grpSpPr>
        <a:xfrm>
          <a:off x="0" y="0"/>
          <a:ext cx="0" cy="0"/>
          <a:chOff x="0" y="0"/>
          <a:chExt cx="0" cy="0"/>
        </a:xfrm>
      </p:grpSpPr>
      <p:sp>
        <p:nvSpPr>
          <p:cNvPr id="2" name="Freeform 2"/>
          <p:cNvSpPr/>
          <p:nvPr/>
        </p:nvSpPr>
        <p:spPr>
          <a:xfrm>
            <a:off x="9525"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13405" b="-13405"/>
            </a:stretch>
          </a:blipFill>
        </p:spPr>
        <p:txBody>
          <a:bodyPr/>
          <a:lstStyle/>
          <a:p>
            <a:endParaRPr lang="es-MX"/>
          </a:p>
        </p:txBody>
      </p:sp>
      <p:sp>
        <p:nvSpPr>
          <p:cNvPr id="3" name="Freeform 3"/>
          <p:cNvSpPr/>
          <p:nvPr/>
        </p:nvSpPr>
        <p:spPr>
          <a:xfrm>
            <a:off x="4737519" y="260409"/>
            <a:ext cx="8812963" cy="2037998"/>
          </a:xfrm>
          <a:custGeom>
            <a:avLst/>
            <a:gdLst/>
            <a:ahLst/>
            <a:cxnLst/>
            <a:rect l="l" t="t" r="r" b="b"/>
            <a:pathLst>
              <a:path w="8812963" h="2037998">
                <a:moveTo>
                  <a:pt x="0" y="0"/>
                </a:moveTo>
                <a:lnTo>
                  <a:pt x="8812962" y="0"/>
                </a:lnTo>
                <a:lnTo>
                  <a:pt x="8812962" y="2037998"/>
                </a:lnTo>
                <a:lnTo>
                  <a:pt x="0" y="2037998"/>
                </a:lnTo>
                <a:lnTo>
                  <a:pt x="0" y="0"/>
                </a:lnTo>
                <a:close/>
              </a:path>
            </a:pathLst>
          </a:custGeom>
          <a:blipFill>
            <a:blip r:embed="rId3"/>
            <a:stretch>
              <a:fillRect/>
            </a:stretch>
          </a:blipFill>
        </p:spPr>
        <p:txBody>
          <a:bodyPr/>
          <a:lstStyle/>
          <a:p>
            <a:endParaRPr lang="es-MX"/>
          </a:p>
        </p:txBody>
      </p:sp>
      <p:sp>
        <p:nvSpPr>
          <p:cNvPr id="4" name="Freeform 4"/>
          <p:cNvSpPr/>
          <p:nvPr/>
        </p:nvSpPr>
        <p:spPr>
          <a:xfrm>
            <a:off x="6023718" y="3358845"/>
            <a:ext cx="6240564" cy="6240564"/>
          </a:xfrm>
          <a:custGeom>
            <a:avLst/>
            <a:gdLst/>
            <a:ahLst/>
            <a:cxnLst/>
            <a:rect l="l" t="t" r="r" b="b"/>
            <a:pathLst>
              <a:path w="6240564" h="6240564">
                <a:moveTo>
                  <a:pt x="0" y="0"/>
                </a:moveTo>
                <a:lnTo>
                  <a:pt x="6240564" y="0"/>
                </a:lnTo>
                <a:lnTo>
                  <a:pt x="6240564" y="6240565"/>
                </a:lnTo>
                <a:lnTo>
                  <a:pt x="0" y="6240565"/>
                </a:lnTo>
                <a:lnTo>
                  <a:pt x="0" y="0"/>
                </a:lnTo>
                <a:close/>
              </a:path>
            </a:pathLst>
          </a:custGeom>
          <a:blipFill>
            <a:blip r:embed="rId4"/>
            <a:stretch>
              <a:fillRect/>
            </a:stretch>
          </a:blipFill>
        </p:spPr>
        <p:txBody>
          <a:bodyPr/>
          <a:lstStyle/>
          <a:p>
            <a:endParaRPr lang="es-MX"/>
          </a:p>
        </p:txBody>
      </p:sp>
      <p:sp>
        <p:nvSpPr>
          <p:cNvPr id="5" name="TextBox 5"/>
          <p:cNvSpPr txBox="1"/>
          <p:nvPr/>
        </p:nvSpPr>
        <p:spPr>
          <a:xfrm>
            <a:off x="3820026" y="2146007"/>
            <a:ext cx="9966275" cy="1212838"/>
          </a:xfrm>
          <a:prstGeom prst="rect">
            <a:avLst/>
          </a:prstGeom>
        </p:spPr>
        <p:txBody>
          <a:bodyPr lIns="0" tIns="0" rIns="0" bIns="0" rtlCol="0" anchor="t">
            <a:spAutoFit/>
          </a:bodyPr>
          <a:lstStyle/>
          <a:p>
            <a:pPr algn="ctr">
              <a:lnSpc>
                <a:spcPts val="9800"/>
              </a:lnSpc>
            </a:pPr>
            <a:r>
              <a:rPr lang="en-US" sz="7000" b="1">
                <a:solidFill>
                  <a:srgbClr val="1800AD"/>
                </a:solidFill>
                <a:latin typeface="Archivo Narrow Bold"/>
                <a:ea typeface="Archivo Narrow Bold"/>
                <a:cs typeface="Archivo Narrow Bold"/>
                <a:sym typeface="Archivo Narrow Bold"/>
              </a:rPr>
              <a:t>Planteamiento de Problemas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903</Words>
  <Application>Microsoft Office PowerPoint</Application>
  <PresentationFormat>Personalizado</PresentationFormat>
  <Paragraphs>74</Paragraphs>
  <Slides>19</Slides>
  <Notes>2</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19</vt:i4>
      </vt:variant>
    </vt:vector>
  </HeadingPairs>
  <TitlesOfParts>
    <vt:vector size="25" baseType="lpstr">
      <vt:lpstr>Calibri</vt:lpstr>
      <vt:lpstr>Arial</vt:lpstr>
      <vt:lpstr>Aptos</vt:lpstr>
      <vt:lpstr>Archivo Narrow Bold</vt:lpstr>
      <vt:lpstr>Archivo Narrow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Unidad 4 FP</dc:title>
  <cp:lastModifiedBy>a16576</cp:lastModifiedBy>
  <cp:revision>3</cp:revision>
  <dcterms:created xsi:type="dcterms:W3CDTF">2006-08-16T00:00:00Z</dcterms:created>
  <dcterms:modified xsi:type="dcterms:W3CDTF">2025-11-18T19:09:46Z</dcterms:modified>
  <dc:identifier>DAGz3BwJG_Q</dc:identifier>
</cp:coreProperties>
</file>